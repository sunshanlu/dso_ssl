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5"/>
    <p:sldId id="268" r:id="rId16"/>
    <p:sldId id="269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0" userDrawn="1">
          <p15:clr>
            <a:srgbClr val="A4A3A4"/>
          </p15:clr>
        </p15:guide>
        <p15:guide id="2" pos="36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671"/>
    <a:srgbClr val="F9F871"/>
    <a:srgbClr val="D65DB1"/>
    <a:srgbClr val="4D7F76"/>
    <a:srgbClr val="D5CABD"/>
    <a:srgbClr val="4E8397"/>
    <a:srgbClr val="7F1853"/>
    <a:srgbClr val="845EC2"/>
    <a:srgbClr val="B2B2B2"/>
    <a:srgbClr val="202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30"/>
        <p:guide pos="368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1117"/>
            <a:ext cx="7321550" cy="811357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28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36.pn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6.png"/><Relationship Id="rId7" Type="http://schemas.openxmlformats.org/officeDocument/2006/relationships/image" Target="../media/image45.png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/>
          <p:cNvGraphicFramePr/>
          <p:nvPr/>
        </p:nvGraphicFramePr>
        <p:xfrm>
          <a:off x="933768" y="2166938"/>
          <a:ext cx="2520315" cy="2568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45"/>
                <a:gridCol w="360045"/>
                <a:gridCol w="360045"/>
                <a:gridCol w="359910"/>
                <a:gridCol w="359955"/>
              </a:tblGrid>
              <a:tr h="36576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表格 8"/>
          <p:cNvGraphicFramePr/>
          <p:nvPr/>
        </p:nvGraphicFramePr>
        <p:xfrm>
          <a:off x="8528050" y="1982470"/>
          <a:ext cx="2880000" cy="293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/>
                <a:gridCol w="360000"/>
                <a:gridCol w="360000"/>
                <a:gridCol w="360000"/>
                <a:gridCol w="360045"/>
                <a:gridCol w="359955"/>
                <a:gridCol w="360000"/>
                <a:gridCol w="360000"/>
              </a:tblGrid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圆角矩形 9"/>
              <p:cNvSpPr/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0" name="圆角矩形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4650" y="3275648"/>
                <a:ext cx="1562100" cy="714375"/>
              </a:xfrm>
              <a:prstGeom prst="roundRect">
                <a:avLst/>
              </a:prstGeom>
              <a:blipFill rotWithShape="1">
                <a:blip r:embed="rId1"/>
                <a:stretch>
                  <a:fillRect l="-610" t="-1378" r="-610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圆角矩形 10"/>
              <p:cNvSpPr/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𝑜𝑟𝑔</m:t>
                          </m:r>
                        </m:sub>
                      </m:sSub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圆角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8555" y="3275648"/>
                <a:ext cx="1837690" cy="714375"/>
              </a:xfrm>
              <a:prstGeom prst="roundRect">
                <a:avLst/>
              </a:prstGeom>
              <a:blipFill rotWithShape="1">
                <a:blip r:embed="rId2"/>
                <a:stretch>
                  <a:fillRect l="-518" t="-1378" r="-518" b="-1289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接箭头连接符 18"/>
          <p:cNvCxnSpPr>
            <a:stCxn id="7" idx="3"/>
            <a:endCxn id="10" idx="1"/>
          </p:cNvCxnSpPr>
          <p:nvPr/>
        </p:nvCxnSpPr>
        <p:spPr>
          <a:xfrm>
            <a:off x="3454400" y="3450908"/>
            <a:ext cx="730250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0" idx="0"/>
            <a:endCxn id="2" idx="2"/>
          </p:cNvCxnSpPr>
          <p:nvPr/>
        </p:nvCxnSpPr>
        <p:spPr>
          <a:xfrm flipV="1">
            <a:off x="4965700" y="2881630"/>
            <a:ext cx="102552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11" idx="3"/>
            <a:endCxn id="9" idx="1"/>
          </p:cNvCxnSpPr>
          <p:nvPr/>
        </p:nvCxnSpPr>
        <p:spPr>
          <a:xfrm flipV="1">
            <a:off x="8056245" y="3451225"/>
            <a:ext cx="471805" cy="18161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1147763" y="1798955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无畸变像素坐标系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8921433" y="1614170"/>
            <a:ext cx="2092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/>
              <a:t>畸变像素坐标系</a:t>
            </a:r>
            <a:endParaRPr lang="zh-CN" altLang="en-US"/>
          </a:p>
        </p:txBody>
      </p:sp>
      <p:cxnSp>
        <p:nvCxnSpPr>
          <p:cNvPr id="24" name="曲线连接符 23"/>
          <p:cNvCxnSpPr>
            <a:stCxn id="10" idx="2"/>
            <a:endCxn id="11" idx="2"/>
          </p:cNvCxnSpPr>
          <p:nvPr/>
        </p:nvCxnSpPr>
        <p:spPr>
          <a:xfrm rot="5400000" flipV="1">
            <a:off x="6051550" y="2904490"/>
            <a:ext cx="3175" cy="2171700"/>
          </a:xfrm>
          <a:prstGeom prst="curvedConnector3">
            <a:avLst>
              <a:gd name="adj1" fmla="val 25010000"/>
            </a:avLst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和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𝒑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𝒊</m:t>
                        </m:r>
                      </m:sub>
                      <m:sup>
                        <m:r>
                          <a:rPr lang="en-US" altLang="zh-CN" sz="14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𝒅𝒊𝒔</m:t>
                        </m:r>
                      </m:sup>
                    </m:sSubSup>
                  </m:oMath>
                </a14:m>
                <a:r>
                  <a:rPr lang="zh-CN" altLang="en-US" sz="1400" b="1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的映射</a:t>
                </a:r>
                <a:endParaRPr lang="zh-CN" altLang="en-US" sz="1400" b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245" y="4238625"/>
                <a:ext cx="1413510" cy="31940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圆角矩形 1"/>
              <p:cNvSpPr/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  <m:sup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𝑑𝑖𝑠</m:t>
                          </m:r>
                        </m:sup>
                      </m:sSubSup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𝑑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𝑛𝑜𝑟𝑚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,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𝑘</m:t>
                      </m:r>
                      <m:r>
                        <a:rPr lang="en-US" altLang="zh-CN" sz="16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600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" name="圆角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155" y="2167255"/>
                <a:ext cx="2135505" cy="714375"/>
              </a:xfrm>
              <a:prstGeom prst="roundRect">
                <a:avLst/>
              </a:prstGeom>
              <a:blipFill rotWithShape="1">
                <a:blip r:embed="rId4"/>
                <a:stretch>
                  <a:fillRect l="-446" t="-1333" r="-446" b="-1333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/>
          <p:cNvCxnSpPr>
            <a:stCxn id="2" idx="2"/>
            <a:endCxn id="11" idx="0"/>
          </p:cNvCxnSpPr>
          <p:nvPr/>
        </p:nvCxnSpPr>
        <p:spPr>
          <a:xfrm>
            <a:off x="5991225" y="2881630"/>
            <a:ext cx="1146175" cy="394335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7" name="文本框 16"/>
          <p:cNvSpPr txBox="1"/>
          <p:nvPr/>
        </p:nvSpPr>
        <p:spPr>
          <a:xfrm>
            <a:off x="1570355" y="243840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图像分块</a:t>
            </a:r>
            <a:endParaRPr lang="zh-CN" altLang="en-US" sz="1600" b="1"/>
          </a:p>
        </p:txBody>
      </p:sp>
      <p:grpSp>
        <p:nvGrpSpPr>
          <p:cNvPr id="25" name="组合 24"/>
          <p:cNvGrpSpPr/>
          <p:nvPr/>
        </p:nvGrpSpPr>
        <p:grpSpPr>
          <a:xfrm>
            <a:off x="692150" y="2762885"/>
            <a:ext cx="2893060" cy="2063750"/>
            <a:chOff x="1090" y="4351"/>
            <a:chExt cx="4556" cy="3250"/>
          </a:xfrm>
        </p:grpSpPr>
        <p:grpSp>
          <p:nvGrpSpPr>
            <p:cNvPr id="18" name="组合 17"/>
            <p:cNvGrpSpPr/>
            <p:nvPr/>
          </p:nvGrpSpPr>
          <p:grpSpPr>
            <a:xfrm>
              <a:off x="1090" y="4351"/>
              <a:ext cx="4556" cy="3250"/>
              <a:chOff x="1690" y="2617"/>
              <a:chExt cx="6540" cy="5298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1690" y="2617"/>
                <a:ext cx="6540" cy="5298"/>
              </a:xfrm>
              <a:prstGeom prst="rect">
                <a:avLst/>
              </a:prstGeom>
              <a:gradFill>
                <a:gsLst>
                  <a:gs pos="0">
                    <a:srgbClr val="7030A0"/>
                  </a:gs>
                  <a:gs pos="50000">
                    <a:srgbClr val="4E8397"/>
                  </a:gs>
                  <a:gs pos="100000">
                    <a:srgbClr val="D5CABD"/>
                  </a:gs>
                </a:gsLst>
                <a:lin ang="8700000" scaled="0"/>
              </a:gradFill>
              <a:ln w="19050"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690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>
                <a:off x="2824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690" y="375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7096" y="2617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4" name="矩形 13"/>
              <p:cNvSpPr/>
              <p:nvPr/>
            </p:nvSpPr>
            <p:spPr>
              <a:xfrm>
                <a:off x="1690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bg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7096" y="6781"/>
                <a:ext cx="1134" cy="113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19" name="文本框 18"/>
            <p:cNvSpPr txBox="1"/>
            <p:nvPr/>
          </p:nvSpPr>
          <p:spPr>
            <a:xfrm>
              <a:off x="3166" y="4351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0" name="文本框 19"/>
            <p:cNvSpPr txBox="1"/>
            <p:nvPr/>
          </p:nvSpPr>
          <p:spPr>
            <a:xfrm rot="5400000">
              <a:off x="4700" y="5627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1" name="文本框 20"/>
            <p:cNvSpPr txBox="1"/>
            <p:nvPr/>
          </p:nvSpPr>
          <p:spPr>
            <a:xfrm rot="2100000">
              <a:off x="1945" y="5326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3366" y="6905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 rot="5400000">
              <a:off x="841" y="5959"/>
              <a:ext cx="1194" cy="697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lang="en-US" altLang="zh-CN">
                  <a:solidFill>
                    <a:schemeClr val="bg1"/>
                  </a:solidFill>
                  <a:latin typeface="+mj-ea"/>
                  <a:ea typeface="+mj-ea"/>
                </a:rPr>
                <a:t>……</a:t>
              </a:r>
              <a:endParaRPr lang="en-US" altLang="zh-CN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6" name="文本框 25"/>
          <p:cNvSpPr txBox="1"/>
          <p:nvPr/>
        </p:nvSpPr>
        <p:spPr>
          <a:xfrm>
            <a:off x="4617085" y="2683510"/>
            <a:ext cx="11372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zh-CN" altLang="en-US" sz="1600" b="1"/>
              <a:t>梯度统计</a:t>
            </a:r>
            <a:endParaRPr lang="zh-CN" altLang="en-US" sz="1600" b="1"/>
          </a:p>
        </p:txBody>
      </p:sp>
      <p:pic>
        <p:nvPicPr>
          <p:cNvPr id="31" name="图片 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6420" y="3091815"/>
            <a:ext cx="1619250" cy="1405890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32" name="直接箭头连接符 31"/>
          <p:cNvCxnSpPr/>
          <p:nvPr/>
        </p:nvCxnSpPr>
        <p:spPr>
          <a:xfrm flipV="1">
            <a:off x="3594100" y="4502150"/>
            <a:ext cx="2393950" cy="32385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/>
          <p:nvPr/>
        </p:nvCxnSpPr>
        <p:spPr>
          <a:xfrm flipV="1">
            <a:off x="3093085" y="3101340"/>
            <a:ext cx="1280795" cy="130302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本框 34"/>
              <p:cNvSpPr txBox="1"/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块</a:t>
                </a:r>
                <a:r>
                  <a:rPr lang="en-US" altLang="zh-CN" sz="1600" b="1">
                    <a:latin typeface="Cambria Math" panose="02040503050406030204" charset="0"/>
                    <a:cs typeface="Cambria Math" panose="02040503050406030204" charset="0"/>
                  </a:rPr>
                  <a:t>0.5</a:t>
                </a:r>
                <a:r>
                  <a:rPr lang="zh-CN" altLang="en-US" sz="1600" b="1">
                    <a:latin typeface="Cambria Math" panose="02040503050406030204" charset="0"/>
                    <a:cs typeface="Cambria Math" panose="02040503050406030204" charset="0"/>
                  </a:rPr>
                  <a:t>分位数梯度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𝒈</m:t>
                        </m:r>
                      </m:e>
                      <m:sub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</m:sub>
                    </m:sSub>
                  </m:oMath>
                </a14:m>
                <a:endParaRPr lang="en-US" altLang="zh-CN" sz="1600" b="1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5" name="文本框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8535" y="3457575"/>
                <a:ext cx="2199640" cy="33718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接箭头连接符 36"/>
          <p:cNvCxnSpPr>
            <a:stCxn id="31" idx="3"/>
            <a:endCxn id="38" idx="1"/>
          </p:cNvCxnSpPr>
          <p:nvPr/>
        </p:nvCxnSpPr>
        <p:spPr>
          <a:xfrm>
            <a:off x="5995670" y="3794760"/>
            <a:ext cx="2262505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𝟎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.</m:t>
                          </m:r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𝟓</m:t>
                          </m:r>
                        </m:sub>
                      </m:sSub>
                      <m:r>
                        <a:rPr lang="en-US" altLang="zh-CN" b="1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𝒈</m:t>
                          </m:r>
                        </m:e>
                        <m:sub>
                          <m:r>
                            <a:rPr lang="en-US" altLang="zh-CN" b="1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𝒃𝒊𝒂𝒔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8175" y="3465195"/>
                <a:ext cx="1858645" cy="659130"/>
              </a:xfrm>
              <a:prstGeom prst="rect">
                <a:avLst/>
              </a:prstGeom>
              <a:blipFill rotWithShape="1">
                <a:blip r:embed="rId3"/>
                <a:stretch>
                  <a:fillRect l="-512" t="-1445" r="-512" b="-1445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9" name="表格 8"/>
          <p:cNvGraphicFramePr/>
          <p:nvPr/>
        </p:nvGraphicFramePr>
        <p:xfrm>
          <a:off x="2216150" y="1626870"/>
          <a:ext cx="4972050" cy="33046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  <a:gridCol w="552450"/>
              </a:tblGrid>
              <a:tr h="36703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  <a:tr h="3672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9050">
                      <a:solidFill>
                        <a:schemeClr val="tx1"/>
                      </a:solidFill>
                      <a:prstDash val="solid"/>
                    </a:lnL>
                    <a:lnR w="19050">
                      <a:solidFill>
                        <a:schemeClr val="tx1"/>
                      </a:solidFill>
                      <a:prstDash val="solid"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solidFill>
                      <a:srgbClr val="845EC2"/>
                    </a:solidFill>
                  </a:tcPr>
                </a:tc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/>
              <p:cNvSpPr/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4" name="矩形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1100455" cy="736600"/>
              </a:xfrm>
              <a:prstGeom prst="rect">
                <a:avLst/>
              </a:prstGeom>
              <a:blipFill rotWithShape="1">
                <a:blip r:embed="rId1"/>
                <a:stretch>
                  <a:fillRect l="-1327" t="-1983" r="-1269" b="-1897"/>
                </a:stretch>
              </a:blipFill>
              <a:ln w="28575">
                <a:solidFill>
                  <a:srgbClr val="C00000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/>
              <p:cNvSpPr/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noFill/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2216785" cy="1472565"/>
              </a:xfrm>
              <a:prstGeom prst="rect">
                <a:avLst/>
              </a:prstGeom>
              <a:blipFill rotWithShape="1">
                <a:blip r:embed="rId2"/>
                <a:stretch>
                  <a:fillRect l="-659" t="-992" r="-630" b="-949"/>
                </a:stretch>
              </a:blipFill>
              <a:ln w="28575">
                <a:solidFill>
                  <a:srgbClr val="D65DB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/>
              <p:cNvSpPr/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noFill/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∗</m:t>
                      </m:r>
                      <m: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4</m:t>
                      </m:r>
                      <m:r>
                        <m:rPr>
                          <m:sty m:val="p"/>
                        </m:rPr>
                        <a:rPr lang="en-US" altLang="zh-CN">
                          <a:latin typeface="Cambria Math" panose="02040503050406030204" charset="0"/>
                          <a:cs typeface="Cambria Math" panose="02040503050406030204" charset="0"/>
                        </a:rPr>
                        <m:t>pot</m:t>
                      </m:r>
                    </m:oMath>
                  </m:oMathPara>
                </a14:m>
                <a:endParaRPr lang="en-US" altLang="zh-CN"/>
              </a:p>
            </p:txBody>
          </p:sp>
        </mc:Choice>
        <mc:Fallback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6150" y="1626870"/>
                <a:ext cx="4432300" cy="2936240"/>
              </a:xfrm>
              <a:prstGeom prst="rect">
                <a:avLst/>
              </a:prstGeom>
              <a:blipFill rotWithShape="1">
                <a:blip r:embed="rId3"/>
                <a:stretch>
                  <a:fillRect l="-330" t="-497" r="-315" b="-476"/>
                </a:stretch>
              </a:blipFill>
              <a:ln w="28575">
                <a:solidFill>
                  <a:srgbClr val="FF967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" name="组合 5"/>
          <p:cNvGrpSpPr/>
          <p:nvPr/>
        </p:nvGrpSpPr>
        <p:grpSpPr>
          <a:xfrm>
            <a:off x="963930" y="767080"/>
            <a:ext cx="9903460" cy="4582160"/>
            <a:chOff x="1518" y="1208"/>
            <a:chExt cx="15596" cy="7216"/>
          </a:xfrm>
          <a:noFill/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18" y="1208"/>
              <a:ext cx="10884" cy="7216"/>
            </a:xfrm>
            <a:prstGeom prst="rect">
              <a:avLst/>
            </a:prstGeom>
            <a:grpFill/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802" y="2076"/>
              <a:ext cx="4313" cy="5480"/>
            </a:xfrm>
            <a:prstGeom prst="rect">
              <a:avLst/>
            </a:prstGeom>
            <a:grpFill/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1" name="组合 20"/>
          <p:cNvGrpSpPr/>
          <p:nvPr/>
        </p:nvGrpSpPr>
        <p:grpSpPr>
          <a:xfrm>
            <a:off x="2152650" y="1950085"/>
            <a:ext cx="3524250" cy="2701290"/>
            <a:chOff x="3390" y="3071"/>
            <a:chExt cx="5550" cy="4254"/>
          </a:xfrm>
        </p:grpSpPr>
        <p:sp>
          <p:nvSpPr>
            <p:cNvPr id="7" name="任意多边形 6"/>
            <p:cNvSpPr/>
            <p:nvPr/>
          </p:nvSpPr>
          <p:spPr>
            <a:xfrm>
              <a:off x="3390" y="3891"/>
              <a:ext cx="5550" cy="3435"/>
            </a:xfrm>
            <a:custGeom>
              <a:avLst/>
              <a:gdLst>
                <a:gd name="connisteX0" fmla="*/ 1457325 w 3524250"/>
                <a:gd name="connsiteY0" fmla="*/ 0 h 2181225"/>
                <a:gd name="connisteX1" fmla="*/ 0 w 3524250"/>
                <a:gd name="connsiteY1" fmla="*/ 2162175 h 2181225"/>
                <a:gd name="connisteX2" fmla="*/ 3524250 w 3524250"/>
                <a:gd name="connsiteY2" fmla="*/ 2181225 h 2181225"/>
                <a:gd name="connisteX3" fmla="*/ 1457325 w 3524250"/>
                <a:gd name="connsiteY3" fmla="*/ 0 h 218122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3524250" h="2181225">
                  <a:moveTo>
                    <a:pt x="1457325" y="0"/>
                  </a:moveTo>
                  <a:lnTo>
                    <a:pt x="0" y="2162175"/>
                  </a:lnTo>
                  <a:lnTo>
                    <a:pt x="3524250" y="2181225"/>
                  </a:lnTo>
                  <a:lnTo>
                    <a:pt x="1457325" y="0"/>
                  </a:lnTo>
                  <a:close/>
                </a:path>
              </a:pathLst>
            </a:custGeom>
            <a:noFill/>
            <a:ln w="19050"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45EC2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8" name="直接连接符 7"/>
            <p:cNvCxnSpPr>
              <a:stCxn id="7" idx="2"/>
            </p:cNvCxnSpPr>
            <p:nvPr/>
          </p:nvCxnSpPr>
          <p:spPr>
            <a:xfrm flipH="1" flipV="1">
              <a:off x="5380" y="4355"/>
              <a:ext cx="3560" cy="2971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>
              <a:stCxn id="7" idx="2"/>
            </p:cNvCxnSpPr>
            <p:nvPr/>
          </p:nvCxnSpPr>
          <p:spPr>
            <a:xfrm flipH="1" flipV="1">
              <a:off x="5992" y="3403"/>
              <a:ext cx="2948" cy="3923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0" name="直接连接符 9"/>
            <p:cNvCxnSpPr>
              <a:endCxn id="7" idx="1"/>
            </p:cNvCxnSpPr>
            <p:nvPr/>
          </p:nvCxnSpPr>
          <p:spPr>
            <a:xfrm flipH="1">
              <a:off x="3390" y="3071"/>
              <a:ext cx="2843" cy="4225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>
            <a:xfrm>
              <a:off x="3743" y="5948"/>
              <a:ext cx="778" cy="64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 flipV="1">
              <a:off x="7548" y="5920"/>
              <a:ext cx="1023" cy="77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9" name="左大括号 18"/>
            <p:cNvSpPr/>
            <p:nvPr/>
          </p:nvSpPr>
          <p:spPr>
            <a:xfrm rot="2040000">
              <a:off x="5406" y="3228"/>
              <a:ext cx="300" cy="1123"/>
            </a:xfrm>
            <a:prstGeom prst="leftBrace">
              <a:avLst>
                <a:gd name="adj1" fmla="val 146583"/>
                <a:gd name="adj2" fmla="val 50000"/>
              </a:avLst>
            </a:prstGeom>
            <a:ln w="190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7225665" y="1374140"/>
            <a:ext cx="1203325" cy="3258820"/>
            <a:chOff x="11379" y="2164"/>
            <a:chExt cx="1895" cy="5132"/>
          </a:xfrm>
        </p:grpSpPr>
        <p:sp>
          <p:nvSpPr>
            <p:cNvPr id="11" name="任意多边形 10"/>
            <p:cNvSpPr/>
            <p:nvPr/>
          </p:nvSpPr>
          <p:spPr>
            <a:xfrm>
              <a:off x="11657" y="3861"/>
              <a:ext cx="1209" cy="3435"/>
            </a:xfrm>
            <a:custGeom>
              <a:avLst/>
              <a:gdLst>
                <a:gd name="connisteX0" fmla="*/ 1457325 w 3524250"/>
                <a:gd name="connsiteY0" fmla="*/ 0 h 2181225"/>
                <a:gd name="connisteX1" fmla="*/ 0 w 3524250"/>
                <a:gd name="connsiteY1" fmla="*/ 2162175 h 2181225"/>
                <a:gd name="connisteX2" fmla="*/ 3524250 w 3524250"/>
                <a:gd name="connsiteY2" fmla="*/ 2181225 h 2181225"/>
                <a:gd name="connisteX3" fmla="*/ 1457325 w 3524250"/>
                <a:gd name="connsiteY3" fmla="*/ 0 h 2181225"/>
              </a:gdLst>
              <a:ahLst/>
              <a:cxnLst>
                <a:cxn ang="0">
                  <a:pos x="connisteX0" y="connsiteY0"/>
                </a:cxn>
                <a:cxn ang="0">
                  <a:pos x="connisteX1" y="connsiteY1"/>
                </a:cxn>
                <a:cxn ang="0">
                  <a:pos x="connisteX2" y="connsiteY2"/>
                </a:cxn>
                <a:cxn ang="0">
                  <a:pos x="connisteX3" y="connsiteY3"/>
                </a:cxn>
              </a:cxnLst>
              <a:rect l="l" t="t" r="r" b="b"/>
              <a:pathLst>
                <a:path w="3524250" h="2181225">
                  <a:moveTo>
                    <a:pt x="1457325" y="0"/>
                  </a:moveTo>
                  <a:lnTo>
                    <a:pt x="0" y="2162175"/>
                  </a:lnTo>
                  <a:lnTo>
                    <a:pt x="3524250" y="2181225"/>
                  </a:lnTo>
                  <a:lnTo>
                    <a:pt x="1457325" y="0"/>
                  </a:lnTo>
                  <a:close/>
                </a:path>
              </a:pathLst>
            </a:custGeom>
            <a:noFill/>
            <a:ln w="19050"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845EC2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12" name="直接连接符 11"/>
            <p:cNvCxnSpPr/>
            <p:nvPr/>
          </p:nvCxnSpPr>
          <p:spPr>
            <a:xfrm flipH="1" flipV="1">
              <a:off x="12004" y="4890"/>
              <a:ext cx="862" cy="2406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3" name="直接连接符 12"/>
            <p:cNvCxnSpPr/>
            <p:nvPr/>
          </p:nvCxnSpPr>
          <p:spPr>
            <a:xfrm flipH="1" flipV="1">
              <a:off x="12371" y="2364"/>
              <a:ext cx="495" cy="4932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4" name="直接连接符 13"/>
            <p:cNvCxnSpPr>
              <a:endCxn id="11" idx="1"/>
            </p:cNvCxnSpPr>
            <p:nvPr/>
          </p:nvCxnSpPr>
          <p:spPr>
            <a:xfrm flipH="1">
              <a:off x="11657" y="2164"/>
              <a:ext cx="744" cy="5102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>
              <a:off x="11379" y="6084"/>
              <a:ext cx="791" cy="314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V="1">
              <a:off x="12252" y="5620"/>
              <a:ext cx="1023" cy="778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0" name="左大括号 19"/>
            <p:cNvSpPr/>
            <p:nvPr/>
          </p:nvSpPr>
          <p:spPr>
            <a:xfrm rot="480000">
              <a:off x="11898" y="2373"/>
              <a:ext cx="300" cy="2508"/>
            </a:xfrm>
            <a:prstGeom prst="leftBrace">
              <a:avLst>
                <a:gd name="adj1" fmla="val 146583"/>
                <a:gd name="adj2" fmla="val 50000"/>
              </a:avLst>
            </a:prstGeom>
            <a:ln w="19050"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58" name="组合 57"/>
          <p:cNvGrpSpPr/>
          <p:nvPr/>
        </p:nvGrpSpPr>
        <p:grpSpPr>
          <a:xfrm>
            <a:off x="866140" y="788670"/>
            <a:ext cx="9284970" cy="5508625"/>
            <a:chOff x="1364" y="1242"/>
            <a:chExt cx="14622" cy="8675"/>
          </a:xfrm>
        </p:grpSpPr>
        <p:sp>
          <p:nvSpPr>
            <p:cNvPr id="7" name="矩形 6"/>
            <p:cNvSpPr/>
            <p:nvPr/>
          </p:nvSpPr>
          <p:spPr>
            <a:xfrm>
              <a:off x="3303" y="1242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图像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6000" y="1242"/>
              <a:ext cx="3023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图像去畸变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9" name="直接箭头连接符 8"/>
            <p:cNvCxnSpPr>
              <a:stCxn id="7" idx="3"/>
              <a:endCxn id="8" idx="1"/>
            </p:cNvCxnSpPr>
            <p:nvPr/>
          </p:nvCxnSpPr>
          <p:spPr>
            <a:xfrm>
              <a:off x="5442" y="1711"/>
              <a:ext cx="55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" name="菱形 11"/>
            <p:cNvSpPr/>
            <p:nvPr/>
          </p:nvSpPr>
          <p:spPr>
            <a:xfrm>
              <a:off x="6091" y="2612"/>
              <a:ext cx="2846" cy="1182"/>
            </a:xfrm>
            <a:prstGeom prst="diamond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第一帧？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13" name="直接箭头连接符 12"/>
            <p:cNvCxnSpPr>
              <a:stCxn id="8" idx="2"/>
              <a:endCxn id="12" idx="0"/>
            </p:cNvCxnSpPr>
            <p:nvPr/>
          </p:nvCxnSpPr>
          <p:spPr>
            <a:xfrm>
              <a:off x="7512" y="2179"/>
              <a:ext cx="2" cy="43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4" name="矩形 13"/>
            <p:cNvSpPr/>
            <p:nvPr/>
          </p:nvSpPr>
          <p:spPr>
            <a:xfrm>
              <a:off x="8940" y="4255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初始化点选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16" name="肘形连接符 15"/>
            <p:cNvCxnSpPr>
              <a:stCxn id="12" idx="3"/>
              <a:endCxn id="14" idx="0"/>
            </p:cNvCxnSpPr>
            <p:nvPr/>
          </p:nvCxnSpPr>
          <p:spPr>
            <a:xfrm>
              <a:off x="8937" y="3203"/>
              <a:ext cx="1073" cy="105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矩形 16"/>
                <p:cNvSpPr/>
                <p:nvPr/>
              </p:nvSpPr>
              <p:spPr>
                <a:xfrm>
                  <a:off x="4034" y="4255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普通帧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𝑗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矩形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4" y="4255"/>
                  <a:ext cx="2139" cy="937"/>
                </a:xfrm>
                <a:prstGeom prst="rect">
                  <a:avLst/>
                </a:prstGeom>
                <a:blipFill rotWithShape="1">
                  <a:blip r:embed="rId1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肘形连接符 17"/>
            <p:cNvCxnSpPr>
              <a:stCxn id="12" idx="1"/>
              <a:endCxn id="17" idx="0"/>
            </p:cNvCxnSpPr>
            <p:nvPr/>
          </p:nvCxnSpPr>
          <p:spPr>
            <a:xfrm rot="10800000" flipV="1">
              <a:off x="5104" y="3203"/>
              <a:ext cx="987" cy="1052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矩形 18"/>
                <p:cNvSpPr/>
                <p:nvPr/>
              </p:nvSpPr>
              <p:spPr>
                <a:xfrm>
                  <a:off x="8940" y="5877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参考帧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𝑓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矩形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40" y="5877"/>
                  <a:ext cx="2139" cy="937"/>
                </a:xfrm>
                <a:prstGeom prst="rect">
                  <a:avLst/>
                </a:prstGeom>
                <a:blipFill rotWithShape="1">
                  <a:blip r:embed="rId2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菱形 23"/>
                <p:cNvSpPr/>
                <p:nvPr/>
              </p:nvSpPr>
              <p:spPr>
                <a:xfrm>
                  <a:off x="3681" y="5755"/>
                  <a:ext cx="2846" cy="1182"/>
                </a:xfrm>
                <a:prstGeom prst="diamond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足够？</a:t>
                  </a:r>
                  <a:endPara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4" name="菱形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1" y="5755"/>
                  <a:ext cx="2846" cy="1182"/>
                </a:xfrm>
                <a:prstGeom prst="diamond">
                  <a:avLst/>
                </a:prstGeom>
                <a:blipFill rotWithShape="1">
                  <a:blip r:embed="rId3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直接箭头连接符 24"/>
            <p:cNvCxnSpPr>
              <a:stCxn id="17" idx="2"/>
              <a:endCxn id="24" idx="0"/>
            </p:cNvCxnSpPr>
            <p:nvPr/>
          </p:nvCxnSpPr>
          <p:spPr>
            <a:xfrm>
              <a:off x="5104" y="5192"/>
              <a:ext cx="0" cy="5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矩形 26"/>
                <p:cNvSpPr/>
                <p:nvPr/>
              </p:nvSpPr>
              <p:spPr>
                <a:xfrm>
                  <a:off x="6763" y="7179"/>
                  <a:ext cx="3148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构建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  <a:sym typeface="+mn-ea"/>
                    </a:rPr>
                    <a:t>足够优化模型</a:t>
                  </a:r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7" name="矩形 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3" y="7179"/>
                  <a:ext cx="3148" cy="937"/>
                </a:xfrm>
                <a:prstGeom prst="rect">
                  <a:avLst/>
                </a:prstGeom>
                <a:blipFill rotWithShape="1">
                  <a:blip r:embed="rId4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矩形 27"/>
                <p:cNvSpPr/>
                <p:nvPr/>
              </p:nvSpPr>
              <p:spPr>
                <a:xfrm>
                  <a:off x="6763" y="8701"/>
                  <a:ext cx="314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构建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𝑗𝑖</m:t>
                          </m:r>
                        </m:sub>
                      </m:sSub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不</a:t>
                  </a:r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  <a:sym typeface="+mn-ea"/>
                    </a:rPr>
                    <a:t>足优化模型</a:t>
                  </a:r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矩形 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3" y="8701"/>
                  <a:ext cx="3149" cy="937"/>
                </a:xfrm>
                <a:prstGeom prst="rect">
                  <a:avLst/>
                </a:prstGeom>
                <a:blipFill rotWithShape="1">
                  <a:blip r:embed="rId5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肘形连接符 28"/>
            <p:cNvCxnSpPr>
              <a:stCxn id="24" idx="1"/>
              <a:endCxn id="28" idx="1"/>
            </p:cNvCxnSpPr>
            <p:nvPr/>
          </p:nvCxnSpPr>
          <p:spPr>
            <a:xfrm rot="10800000" flipH="1" flipV="1">
              <a:off x="3681" y="6346"/>
              <a:ext cx="3082" cy="2824"/>
            </a:xfrm>
            <a:prstGeom prst="bentConnector3">
              <a:avLst>
                <a:gd name="adj1" fmla="val -12167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" name="肘形连接符 29"/>
            <p:cNvCxnSpPr>
              <a:stCxn id="24" idx="2"/>
              <a:endCxn id="27" idx="1"/>
            </p:cNvCxnSpPr>
            <p:nvPr/>
          </p:nvCxnSpPr>
          <p:spPr>
            <a:xfrm rot="5400000" flipV="1">
              <a:off x="5578" y="6463"/>
              <a:ext cx="711" cy="165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2" name="矩形 31"/>
            <p:cNvSpPr/>
            <p:nvPr/>
          </p:nvSpPr>
          <p:spPr>
            <a:xfrm>
              <a:off x="12407" y="7882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sz="1500">
                  <a:solidFill>
                    <a:schemeClr val="tx1"/>
                  </a:solidFill>
                </a:rPr>
                <a:t>金字塔由高到低优化</a:t>
              </a:r>
              <a:endParaRPr lang="zh-CN" sz="1500">
                <a:solidFill>
                  <a:schemeClr val="tx1"/>
                </a:solidFill>
              </a:endParaRPr>
            </a:p>
          </p:txBody>
        </p:sp>
        <p:cxnSp>
          <p:nvCxnSpPr>
            <p:cNvPr id="33" name="肘形连接符 32"/>
            <p:cNvCxnSpPr>
              <a:stCxn id="27" idx="3"/>
              <a:endCxn id="32" idx="1"/>
            </p:cNvCxnSpPr>
            <p:nvPr/>
          </p:nvCxnSpPr>
          <p:spPr>
            <a:xfrm>
              <a:off x="9911" y="7648"/>
              <a:ext cx="2496" cy="703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肘形连接符 33"/>
            <p:cNvCxnSpPr>
              <a:stCxn id="28" idx="3"/>
              <a:endCxn id="32" idx="1"/>
            </p:cNvCxnSpPr>
            <p:nvPr/>
          </p:nvCxnSpPr>
          <p:spPr>
            <a:xfrm flipV="1">
              <a:off x="9912" y="8351"/>
              <a:ext cx="2495" cy="819"/>
            </a:xfrm>
            <a:prstGeom prst="bentConnector3">
              <a:avLst>
                <a:gd name="adj1" fmla="val 5002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5" name="菱形 34"/>
            <p:cNvSpPr/>
            <p:nvPr/>
          </p:nvSpPr>
          <p:spPr>
            <a:xfrm>
              <a:off x="12036" y="4120"/>
              <a:ext cx="2846" cy="1182"/>
            </a:xfrm>
            <a:prstGeom prst="diamond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solidFill>
                    <a:schemeClr val="tx1"/>
                  </a:solidFill>
                </a:rPr>
                <a:t>达到初始化要求？</a:t>
              </a:r>
              <a:endParaRPr lang="zh-CN" altLang="en-US" sz="1400">
                <a:solidFill>
                  <a:schemeClr val="tx1"/>
                </a:solidFill>
              </a:endParaRPr>
            </a:p>
          </p:txBody>
        </p:sp>
        <p:cxnSp>
          <p:nvCxnSpPr>
            <p:cNvPr id="36" name="直接箭头连接符 35"/>
            <p:cNvCxnSpPr>
              <a:stCxn id="32" idx="0"/>
              <a:endCxn id="49" idx="2"/>
            </p:cNvCxnSpPr>
            <p:nvPr/>
          </p:nvCxnSpPr>
          <p:spPr>
            <a:xfrm flipV="1">
              <a:off x="13477" y="7061"/>
              <a:ext cx="0" cy="8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7" name="矩形 36"/>
            <p:cNvSpPr/>
            <p:nvPr/>
          </p:nvSpPr>
          <p:spPr>
            <a:xfrm>
              <a:off x="1771" y="2429"/>
              <a:ext cx="13433" cy="7488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Dot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39" name="直接箭头连接符 38"/>
            <p:cNvCxnSpPr>
              <a:endCxn id="7" idx="1"/>
            </p:cNvCxnSpPr>
            <p:nvPr/>
          </p:nvCxnSpPr>
          <p:spPr>
            <a:xfrm>
              <a:off x="1770" y="1711"/>
              <a:ext cx="153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4" name="直接箭头连接符 43"/>
            <p:cNvCxnSpPr>
              <a:stCxn id="35" idx="3"/>
            </p:cNvCxnSpPr>
            <p:nvPr/>
          </p:nvCxnSpPr>
          <p:spPr>
            <a:xfrm>
              <a:off x="14882" y="4711"/>
              <a:ext cx="110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6" name="文本框 45"/>
            <p:cNvSpPr txBox="1"/>
            <p:nvPr/>
          </p:nvSpPr>
          <p:spPr>
            <a:xfrm>
              <a:off x="1771" y="2429"/>
              <a:ext cx="869" cy="3600"/>
            </a:xfrm>
            <a:prstGeom prst="rect">
              <a:avLst/>
            </a:prstGeom>
            <a:noFill/>
            <a:ln>
              <a:noFill/>
            </a:ln>
          </p:spPr>
          <p:txBody>
            <a:bodyPr vert="eaVert" wrap="square" rtlCol="0">
              <a:spAutoFit/>
            </a:bodyPr>
            <a:p>
              <a:r>
                <a:rPr lang="zh-CN" altLang="en-US" sz="2400" b="1"/>
                <a:t>初始化器</a:t>
              </a:r>
              <a:endParaRPr lang="zh-CN" altLang="en-US" sz="2400" b="1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 48"/>
                <p:cNvSpPr/>
                <p:nvPr/>
              </p:nvSpPr>
              <p:spPr>
                <a:xfrm>
                  <a:off x="12407" y="6124"/>
                  <a:ext cx="2139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sz="1500" b="1">
                      <a:solidFill>
                        <a:srgbClr val="C00000"/>
                      </a:solidFill>
                    </a:rPr>
                    <a:t>更新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𝑹</m:t>
                          </m:r>
                        </m:e>
                        <m:sub>
                          <m:r>
                            <a:rPr lang="en-US" altLang="zh-CN" sz="1500" b="1" i="1">
                              <a:solidFill>
                                <a:srgbClr val="C0000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𝒇</m:t>
                          </m:r>
                        </m:sub>
                      </m:sSub>
                    </m:oMath>
                  </a14:m>
                  <a:r>
                    <a:rPr lang="zh-CN" altLang="en-US" sz="1500" b="1">
                      <a:solidFill>
                        <a:srgbClr val="C00000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高层金字塔点逆深度</a:t>
                  </a:r>
                  <a:endParaRPr lang="zh-CN" altLang="en-US" sz="1500" b="1">
                    <a:solidFill>
                      <a:srgbClr val="C0000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49" name="矩形 4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" y="6124"/>
                  <a:ext cx="2139" cy="937"/>
                </a:xfrm>
                <a:prstGeom prst="rect">
                  <a:avLst/>
                </a:prstGeom>
                <a:blipFill rotWithShape="1">
                  <a:blip r:embed="rId6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/>
            <p:cNvCxnSpPr>
              <a:stCxn id="49" idx="0"/>
              <a:endCxn id="35" idx="2"/>
            </p:cNvCxnSpPr>
            <p:nvPr/>
          </p:nvCxnSpPr>
          <p:spPr>
            <a:xfrm flipH="1" flipV="1">
              <a:off x="13459" y="5302"/>
              <a:ext cx="18" cy="8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矩形 50"/>
            <p:cNvSpPr/>
            <p:nvPr/>
          </p:nvSpPr>
          <p:spPr>
            <a:xfrm>
              <a:off x="6487" y="4264"/>
              <a:ext cx="2139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 b="1">
                  <a:solidFill>
                    <a:srgbClr val="C00000"/>
                  </a:solidFill>
                </a:rPr>
                <a:t>构建相邻点和上层父点关系</a:t>
              </a:r>
              <a:endParaRPr lang="zh-CN" altLang="en-US" sz="1500" b="1">
                <a:solidFill>
                  <a:srgbClr val="C00000"/>
                </a:solidFill>
              </a:endParaRPr>
            </a:p>
          </p:txBody>
        </p:sp>
        <p:cxnSp>
          <p:nvCxnSpPr>
            <p:cNvPr id="52" name="直接箭头连接符 51"/>
            <p:cNvCxnSpPr>
              <a:stCxn id="14" idx="1"/>
              <a:endCxn id="51" idx="3"/>
            </p:cNvCxnSpPr>
            <p:nvPr/>
          </p:nvCxnSpPr>
          <p:spPr>
            <a:xfrm flipH="1">
              <a:off x="8626" y="4724"/>
              <a:ext cx="314" cy="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3" name="肘形连接符 52"/>
            <p:cNvCxnSpPr>
              <a:stCxn id="51" idx="2"/>
              <a:endCxn id="19" idx="0"/>
            </p:cNvCxnSpPr>
            <p:nvPr/>
          </p:nvCxnSpPr>
          <p:spPr>
            <a:xfrm rot="5400000" flipV="1">
              <a:off x="8445" y="4312"/>
              <a:ext cx="676" cy="2453"/>
            </a:xfrm>
            <a:prstGeom prst="bentConnector3">
              <a:avLst>
                <a:gd name="adj1" fmla="val 49926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4" name="直接箭头连接符 53"/>
            <p:cNvCxnSpPr>
              <a:stCxn id="19" idx="1"/>
              <a:endCxn id="24" idx="3"/>
            </p:cNvCxnSpPr>
            <p:nvPr/>
          </p:nvCxnSpPr>
          <p:spPr>
            <a:xfrm flipH="1">
              <a:off x="6527" y="6346"/>
              <a:ext cx="241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6" name="肘形连接符 55"/>
            <p:cNvCxnSpPr>
              <a:stCxn id="35" idx="0"/>
              <a:endCxn id="57" idx="0"/>
            </p:cNvCxnSpPr>
            <p:nvPr/>
          </p:nvCxnSpPr>
          <p:spPr>
            <a:xfrm rot="16200000" flipV="1">
              <a:off x="6741" y="-2597"/>
              <a:ext cx="2409" cy="11025"/>
            </a:xfrm>
            <a:prstGeom prst="bentConnector3">
              <a:avLst>
                <a:gd name="adj1" fmla="val 140431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7" name="矩形 56"/>
            <p:cNvSpPr/>
            <p:nvPr/>
          </p:nvSpPr>
          <p:spPr>
            <a:xfrm>
              <a:off x="1364" y="1711"/>
              <a:ext cx="2139" cy="937"/>
            </a:xfrm>
            <a:prstGeom prst="rect">
              <a:avLst/>
            </a:prstGeom>
            <a:noFill/>
            <a:ln w="19050"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3" name="肘形连接符 2"/>
          <p:cNvCxnSpPr>
            <a:stCxn id="6" idx="3"/>
            <a:endCxn id="26" idx="1"/>
          </p:cNvCxnSpPr>
          <p:nvPr/>
        </p:nvCxnSpPr>
        <p:spPr>
          <a:xfrm flipV="1">
            <a:off x="2268220" y="1573530"/>
            <a:ext cx="551180" cy="3829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5"/>
              <p:cNvSpPr/>
              <p:nvPr/>
            </p:nvSpPr>
            <p:spPr>
              <a:xfrm>
                <a:off x="1166495" y="1734820"/>
                <a:ext cx="110172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父点</a:t>
                </a:r>
                <a14:m>
                  <m:oMath xmlns:m="http://schemas.openxmlformats.org/officeDocument/2006/math">
                    <m:r>
                      <a:rPr lang="zh-CN" altLang="en-US" sz="1500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  <a:sym typeface="+mn-ea"/>
                </a:endParaRPr>
              </a:p>
            </p:txBody>
          </p:sp>
        </mc:Choice>
        <mc:Fallback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495" y="1734820"/>
                <a:ext cx="1101725" cy="442595"/>
              </a:xfrm>
              <a:prstGeom prst="rect">
                <a:avLst/>
              </a:prstGeom>
              <a:blipFill rotWithShape="1">
                <a:blip r:embed="rId1"/>
                <a:stretch>
                  <a:fillRect l="-865" t="-2152" r="-865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/>
              <p:cNvSpPr/>
              <p:nvPr/>
            </p:nvSpPr>
            <p:spPr>
              <a:xfrm>
                <a:off x="1165860" y="984250"/>
                <a:ext cx="110045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1" name="矩形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860" y="984250"/>
                <a:ext cx="1100455" cy="442595"/>
              </a:xfrm>
              <a:prstGeom prst="rect">
                <a:avLst/>
              </a:prstGeom>
              <a:blipFill rotWithShape="1">
                <a:blip r:embed="rId2"/>
                <a:stretch>
                  <a:fillRect l="-866" t="-2152" r="-866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矩形 25"/>
          <p:cNvSpPr/>
          <p:nvPr/>
        </p:nvSpPr>
        <p:spPr>
          <a:xfrm>
            <a:off x="2819400" y="1275715"/>
            <a:ext cx="1919605" cy="594995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500">
                <a:solidFill>
                  <a:schemeClr val="tx1"/>
                </a:solidFill>
              </a:rPr>
              <a:t>高斯归一化积</a:t>
            </a:r>
            <a:endParaRPr lang="zh-CN" altLang="en-US" sz="1500">
              <a:solidFill>
                <a:schemeClr val="tx1"/>
              </a:solidFill>
            </a:endParaRPr>
          </a:p>
        </p:txBody>
      </p:sp>
      <p:cxnSp>
        <p:nvCxnSpPr>
          <p:cNvPr id="31" name="肘形连接符 30"/>
          <p:cNvCxnSpPr>
            <a:stCxn id="21" idx="3"/>
            <a:endCxn id="26" idx="1"/>
          </p:cNvCxnSpPr>
          <p:nvPr/>
        </p:nvCxnSpPr>
        <p:spPr>
          <a:xfrm>
            <a:off x="2266315" y="1205865"/>
            <a:ext cx="553085" cy="367665"/>
          </a:xfrm>
          <a:prstGeom prst="bentConnector3">
            <a:avLst>
              <a:gd name="adj1" fmla="val 50057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/>
              <p:cNvSpPr/>
              <p:nvPr/>
            </p:nvSpPr>
            <p:spPr>
              <a:xfrm>
                <a:off x="5263515" y="1737360"/>
                <a:ext cx="123253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更新子点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𝑑</m:t>
                        </m:r>
                      </m:e>
                      <m:sub>
                        <m:r>
                          <a:rPr lang="en-US" altLang="zh-CN" sz="1500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𝑝𝑖</m:t>
                        </m:r>
                      </m:sub>
                    </m:sSub>
                  </m:oMath>
                </a14:m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  <a:sym typeface="+mn-ea"/>
                </a:endParaRPr>
              </a:p>
            </p:txBody>
          </p:sp>
        </mc:Choice>
        <mc:Fallback>
          <p:sp>
            <p:nvSpPr>
              <p:cNvPr id="38" name="矩形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515" y="1737360"/>
                <a:ext cx="1232535" cy="442595"/>
              </a:xfrm>
              <a:prstGeom prst="rect">
                <a:avLst/>
              </a:prstGeom>
              <a:blipFill rotWithShape="1">
                <a:blip r:embed="rId3"/>
                <a:stretch>
                  <a:fillRect l="-773" t="-2152" r="-773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矩形 39"/>
              <p:cNvSpPr/>
              <p:nvPr/>
            </p:nvSpPr>
            <p:spPr>
              <a:xfrm>
                <a:off x="5263515" y="984250"/>
                <a:ext cx="123126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更新子点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0" name="矩形 3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3515" y="984250"/>
                <a:ext cx="1231265" cy="442595"/>
              </a:xfrm>
              <a:prstGeom prst="rect">
                <a:avLst/>
              </a:prstGeom>
              <a:blipFill rotWithShape="1">
                <a:blip r:embed="rId4"/>
                <a:stretch>
                  <a:fillRect l="-774" t="-2152" r="-774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肘形连接符 40"/>
          <p:cNvCxnSpPr>
            <a:stCxn id="26" idx="3"/>
            <a:endCxn id="38" idx="1"/>
          </p:cNvCxnSpPr>
          <p:nvPr/>
        </p:nvCxnSpPr>
        <p:spPr>
          <a:xfrm>
            <a:off x="4739005" y="1573530"/>
            <a:ext cx="524510" cy="38544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2" name="肘形连接符 41"/>
          <p:cNvCxnSpPr>
            <a:stCxn id="26" idx="3"/>
            <a:endCxn id="40" idx="1"/>
          </p:cNvCxnSpPr>
          <p:nvPr/>
        </p:nvCxnSpPr>
        <p:spPr>
          <a:xfrm flipV="1">
            <a:off x="4739005" y="1205865"/>
            <a:ext cx="524510" cy="3676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矩形 44"/>
              <p:cNvSpPr/>
              <p:nvPr/>
            </p:nvSpPr>
            <p:spPr>
              <a:xfrm>
                <a:off x="7019290" y="1275715"/>
                <a:ext cx="2100580" cy="5949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</a:rPr>
                  <a:t>考虑相邻点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的连续性</a:t>
                </a:r>
                <a:endParaRPr lang="zh-CN" altLang="en-US" sz="1500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5" name="矩形 4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290" y="1275715"/>
                <a:ext cx="2100580" cy="594995"/>
              </a:xfrm>
              <a:prstGeom prst="rect">
                <a:avLst/>
              </a:prstGeom>
              <a:blipFill rotWithShape="1">
                <a:blip r:embed="rId5"/>
                <a:stretch>
                  <a:fillRect l="-453" t="-1601" r="-453" b="-1601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矩形 46"/>
              <p:cNvSpPr/>
              <p:nvPr/>
            </p:nvSpPr>
            <p:spPr>
              <a:xfrm>
                <a:off x="9491980" y="1351915"/>
                <a:ext cx="1231265" cy="4425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更新子点</a:t>
                </a:r>
                <a14:m>
                  <m:oMath xmlns:m="http://schemas.openxmlformats.org/officeDocument/2006/math">
                    <m:r>
                      <a:rPr lang="en-US" altLang="zh-CN" sz="1500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𝑖𝑅</m:t>
                    </m:r>
                  </m:oMath>
                </a14:m>
                <a:endParaRPr lang="zh-CN" altLang="en-US" sz="150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7" name="矩形 4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1980" y="1351915"/>
                <a:ext cx="1231265" cy="442595"/>
              </a:xfrm>
              <a:prstGeom prst="rect">
                <a:avLst/>
              </a:prstGeom>
              <a:blipFill rotWithShape="1">
                <a:blip r:embed="rId4"/>
                <a:stretch>
                  <a:fillRect l="-774" t="-2152" r="-774" b="-2152"/>
                </a:stretch>
              </a:blipFill>
              <a:ln w="19050"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肘形连接符 47"/>
          <p:cNvCxnSpPr>
            <a:stCxn id="40" idx="3"/>
            <a:endCxn id="45" idx="1"/>
          </p:cNvCxnSpPr>
          <p:nvPr/>
        </p:nvCxnSpPr>
        <p:spPr>
          <a:xfrm>
            <a:off x="6494780" y="1205865"/>
            <a:ext cx="524510" cy="36766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45" idx="3"/>
            <a:endCxn id="47" idx="1"/>
          </p:cNvCxnSpPr>
          <p:nvPr/>
        </p:nvCxnSpPr>
        <p:spPr>
          <a:xfrm>
            <a:off x="9119870" y="1573530"/>
            <a:ext cx="37211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2" name="组合 81"/>
          <p:cNvGrpSpPr/>
          <p:nvPr/>
        </p:nvGrpSpPr>
        <p:grpSpPr>
          <a:xfrm>
            <a:off x="996315" y="3429000"/>
            <a:ext cx="9319895" cy="1800860"/>
            <a:chOff x="1569" y="5400"/>
            <a:chExt cx="14677" cy="283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矩形 59"/>
                <p:cNvSpPr/>
                <p:nvPr/>
              </p:nvSpPr>
              <p:spPr>
                <a:xfrm>
                  <a:off x="1569" y="540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0" name="矩形 5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5400"/>
                  <a:ext cx="1733" cy="697"/>
                </a:xfrm>
                <a:prstGeom prst="rect">
                  <a:avLst/>
                </a:prstGeom>
                <a:blipFill rotWithShape="1">
                  <a:blip r:embed="rId6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矩形 60"/>
                <p:cNvSpPr/>
                <p:nvPr/>
              </p:nvSpPr>
              <p:spPr>
                <a:xfrm>
                  <a:off x="1569" y="647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1" name="矩形 6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6470"/>
                  <a:ext cx="1733" cy="697"/>
                </a:xfrm>
                <a:prstGeom prst="rect">
                  <a:avLst/>
                </a:prstGeom>
                <a:blipFill rotWithShape="1">
                  <a:blip r:embed="rId7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矩形 61"/>
                <p:cNvSpPr/>
                <p:nvPr/>
              </p:nvSpPr>
              <p:spPr>
                <a:xfrm>
                  <a:off x="1569" y="7540"/>
                  <a:ext cx="1733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子点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𝑖𝑅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2" name="矩形 6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9" y="7540"/>
                  <a:ext cx="1733" cy="697"/>
                </a:xfrm>
                <a:prstGeom prst="rect">
                  <a:avLst/>
                </a:prstGeom>
                <a:blipFill rotWithShape="1">
                  <a:blip r:embed="rId8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矩形 63"/>
            <p:cNvSpPr/>
            <p:nvPr/>
          </p:nvSpPr>
          <p:spPr>
            <a:xfrm>
              <a:off x="4550" y="6350"/>
              <a:ext cx="2483" cy="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500">
                  <a:solidFill>
                    <a:schemeClr val="tx1"/>
                  </a:solidFill>
                </a:rPr>
                <a:t>高斯归一化积</a:t>
              </a:r>
              <a:endParaRPr lang="zh-CN" altLang="en-US" sz="1500">
                <a:solidFill>
                  <a:schemeClr val="tx1"/>
                </a:solidFill>
              </a:endParaRPr>
            </a:p>
          </p:txBody>
        </p:sp>
        <p:cxnSp>
          <p:nvCxnSpPr>
            <p:cNvPr id="65" name="肘形连接符 64"/>
            <p:cNvCxnSpPr>
              <a:stCxn id="60" idx="3"/>
              <a:endCxn id="64" idx="1"/>
            </p:cNvCxnSpPr>
            <p:nvPr/>
          </p:nvCxnSpPr>
          <p:spPr>
            <a:xfrm>
              <a:off x="3302" y="5749"/>
              <a:ext cx="1248" cy="1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6" name="肘形连接符 65"/>
            <p:cNvCxnSpPr>
              <a:stCxn id="62" idx="3"/>
              <a:endCxn id="64" idx="1"/>
            </p:cNvCxnSpPr>
            <p:nvPr/>
          </p:nvCxnSpPr>
          <p:spPr>
            <a:xfrm flipV="1">
              <a:off x="3302" y="6819"/>
              <a:ext cx="1248" cy="1070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7" name="直接箭头连接符 66"/>
            <p:cNvCxnSpPr>
              <a:stCxn id="61" idx="3"/>
              <a:endCxn id="64" idx="1"/>
            </p:cNvCxnSpPr>
            <p:nvPr/>
          </p:nvCxnSpPr>
          <p:spPr>
            <a:xfrm>
              <a:off x="3302" y="6819"/>
              <a:ext cx="1248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0" name="矩形 69"/>
                <p:cNvSpPr/>
                <p:nvPr/>
              </p:nvSpPr>
              <p:spPr>
                <a:xfrm>
                  <a:off x="7771" y="7315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sz="1500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𝑝𝑖</m:t>
                          </m:r>
                        </m:sub>
                      </m:sSub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0" name="矩形 6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1" y="7315"/>
                  <a:ext cx="1939" cy="697"/>
                </a:xfrm>
                <a:prstGeom prst="rect">
                  <a:avLst/>
                </a:prstGeom>
                <a:blipFill rotWithShape="1">
                  <a:blip r:embed="rId9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矩形 70"/>
                <p:cNvSpPr/>
                <p:nvPr/>
              </p:nvSpPr>
              <p:spPr>
                <a:xfrm>
                  <a:off x="7771" y="5625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1" name="矩形 7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1" y="5625"/>
                  <a:ext cx="1939" cy="697"/>
                </a:xfrm>
                <a:prstGeom prst="rect">
                  <a:avLst/>
                </a:prstGeom>
                <a:blipFill rotWithShape="1">
                  <a:blip r:embed="rId10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肘形连接符 71"/>
            <p:cNvCxnSpPr>
              <a:stCxn id="64" idx="3"/>
              <a:endCxn id="71" idx="1"/>
            </p:cNvCxnSpPr>
            <p:nvPr/>
          </p:nvCxnSpPr>
          <p:spPr>
            <a:xfrm flipV="1">
              <a:off x="7033" y="5974"/>
              <a:ext cx="738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3" name="肘形连接符 72"/>
            <p:cNvCxnSpPr>
              <a:stCxn id="64" idx="3"/>
              <a:endCxn id="70" idx="1"/>
            </p:cNvCxnSpPr>
            <p:nvPr/>
          </p:nvCxnSpPr>
          <p:spPr>
            <a:xfrm>
              <a:off x="7033" y="6819"/>
              <a:ext cx="738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矩形 75"/>
                <p:cNvSpPr/>
                <p:nvPr/>
              </p:nvSpPr>
              <p:spPr>
                <a:xfrm>
                  <a:off x="10414" y="6350"/>
                  <a:ext cx="3308" cy="93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</a:rPr>
                    <a:t>考虑相邻点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的连续性</a:t>
                  </a:r>
                  <a:endParaRPr lang="zh-CN" altLang="en-US" sz="1500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76" name="矩形 7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14" y="6350"/>
                  <a:ext cx="3308" cy="937"/>
                </a:xfrm>
                <a:prstGeom prst="rect">
                  <a:avLst/>
                </a:prstGeom>
                <a:blipFill rotWithShape="1">
                  <a:blip r:embed="rId5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矩形 76"/>
                <p:cNvSpPr/>
                <p:nvPr/>
              </p:nvSpPr>
              <p:spPr>
                <a:xfrm>
                  <a:off x="14308" y="6470"/>
                  <a:ext cx="1939" cy="69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1500">
                      <a:solidFill>
                        <a:schemeClr val="tx1"/>
                      </a:solidFill>
                      <a:latin typeface="Cambria Math" panose="02040503050406030204" charset="0"/>
                      <a:cs typeface="Cambria Math" panose="02040503050406030204" charset="0"/>
                    </a:rPr>
                    <a:t>更新父点</a:t>
                  </a:r>
                  <a14:m>
                    <m:oMath xmlns:m="http://schemas.openxmlformats.org/officeDocument/2006/math">
                      <m:r>
                        <a:rPr lang="en-US" altLang="zh-CN" sz="1500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𝑖𝑅</m:t>
                      </m:r>
                    </m:oMath>
                  </a14:m>
                  <a:endParaRPr lang="zh-CN" altLang="en-US" sz="150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7" name="矩形 7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08" y="6470"/>
                  <a:ext cx="1939" cy="697"/>
                </a:xfrm>
                <a:prstGeom prst="rect">
                  <a:avLst/>
                </a:prstGeom>
                <a:blipFill rotWithShape="1">
                  <a:blip r:embed="rId10"/>
                </a:blipFill>
                <a:ln w="19050"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肘形连接符 79"/>
            <p:cNvCxnSpPr>
              <a:stCxn id="71" idx="3"/>
              <a:endCxn id="76" idx="1"/>
            </p:cNvCxnSpPr>
            <p:nvPr/>
          </p:nvCxnSpPr>
          <p:spPr>
            <a:xfrm>
              <a:off x="9710" y="5974"/>
              <a:ext cx="704" cy="84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1" name="直接箭头连接符 80"/>
            <p:cNvCxnSpPr>
              <a:stCxn id="76" idx="3"/>
              <a:endCxn id="77" idx="1"/>
            </p:cNvCxnSpPr>
            <p:nvPr/>
          </p:nvCxnSpPr>
          <p:spPr>
            <a:xfrm>
              <a:off x="13722" y="6819"/>
              <a:ext cx="58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" name="组合 12"/>
          <p:cNvGrpSpPr/>
          <p:nvPr/>
        </p:nvGrpSpPr>
        <p:grpSpPr>
          <a:xfrm>
            <a:off x="-199390" y="1941195"/>
            <a:ext cx="14345920" cy="2542540"/>
            <a:chOff x="-5344" y="3398"/>
            <a:chExt cx="22592" cy="4004"/>
          </a:xfrm>
        </p:grpSpPr>
        <p:grpSp>
          <p:nvGrpSpPr>
            <p:cNvPr id="9" name="组合 8"/>
            <p:cNvGrpSpPr/>
            <p:nvPr/>
          </p:nvGrpSpPr>
          <p:grpSpPr>
            <a:xfrm>
              <a:off x="-5344" y="3398"/>
              <a:ext cx="16966" cy="4005"/>
              <a:chOff x="1116" y="3397"/>
              <a:chExt cx="16966" cy="4005"/>
            </a:xfrm>
          </p:grpSpPr>
          <p:pic>
            <p:nvPicPr>
              <p:cNvPr id="4" name="图片 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117" y="3397"/>
                <a:ext cx="16965" cy="4005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矩形 4"/>
                  <p:cNvSpPr/>
                  <p:nvPr/>
                </p:nvSpPr>
                <p:spPr>
                  <a:xfrm>
                    <a:off x="1116" y="3397"/>
                    <a:ext cx="12691" cy="296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0" b="1">
                              <a:gradFill>
                                <a:gsLst>
                                  <a:gs pos="0">
                                    <a:srgbClr val="7B32B2"/>
                                  </a:gs>
                                  <a:gs pos="100000">
                                    <a:srgbClr val="401A5D"/>
                                  </a:gs>
                                </a:gsLst>
                                <a:lin scaled="0"/>
                              </a:gra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𝐔</m:t>
                          </m:r>
                        </m:oMath>
                      </m:oMathPara>
                    </a14:m>
                    <a:endParaRPr lang="en-US" altLang="zh-CN" sz="8000" b="1">
                      <a:gradFill>
                        <a:gsLst>
                          <a:gs pos="0">
                            <a:srgbClr val="7B32B2"/>
                          </a:gs>
                          <a:gs pos="100000">
                            <a:srgbClr val="401A5D"/>
                          </a:gs>
                        </a:gsLst>
                        <a:lin scaled="0"/>
                      </a:gra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" name="矩形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6" y="3397"/>
                    <a:ext cx="12691" cy="296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矩形 5"/>
                  <p:cNvSpPr/>
                  <p:nvPr/>
                </p:nvSpPr>
                <p:spPr>
                  <a:xfrm>
                    <a:off x="13806" y="3397"/>
                    <a:ext cx="4276" cy="296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8000" b="1">
                              <a:solidFill>
                                <a:srgbClr val="7030A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𝐖</m:t>
                          </m:r>
                        </m:oMath>
                      </m:oMathPara>
                    </a14:m>
                    <a:endParaRPr lang="en-US" altLang="zh-CN" sz="80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6" name="矩形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806" y="3397"/>
                    <a:ext cx="4276" cy="296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矩形 6"/>
                  <p:cNvSpPr/>
                  <p:nvPr/>
                </p:nvSpPr>
                <p:spPr>
                  <a:xfrm>
                    <a:off x="1117" y="6360"/>
                    <a:ext cx="12689" cy="104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𝐖</m:t>
                              </m:r>
                            </m:e>
                            <m:sup>
                              <m:r>
                                <a:rPr lang="en-US" altLang="zh-CN" sz="4400" b="1">
                                  <a:solidFill>
                                    <a:srgbClr val="7030A0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𝐓</m:t>
                              </m:r>
                            </m:sup>
                          </m:sSup>
                        </m:oMath>
                      </m:oMathPara>
                    </a14:m>
                    <a:endParaRPr lang="en-US" altLang="zh-CN" sz="44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矩形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17" y="6360"/>
                    <a:ext cx="12689" cy="1043"/>
                  </a:xfrm>
                  <a:prstGeom prst="rect">
                    <a:avLst/>
                  </a:prstGeom>
                  <a:blipFill rotWithShape="1">
                    <a:blip r:embed="rId4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矩形 7"/>
                  <p:cNvSpPr/>
                  <p:nvPr/>
                </p:nvSpPr>
                <p:spPr>
                  <a:xfrm>
                    <a:off x="13805" y="6359"/>
                    <a:ext cx="4277" cy="1043"/>
                  </a:xfrm>
                  <a:prstGeom prst="rect">
                    <a:avLst/>
                  </a:prstGeom>
                  <a:solidFill>
                    <a:srgbClr val="000000">
                      <a:alpha val="0"/>
                    </a:srgbClr>
                  </a:solid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4400" b="1">
                              <a:solidFill>
                                <a:srgbClr val="7030A0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𝐯</m:t>
                          </m:r>
                        </m:oMath>
                      </m:oMathPara>
                    </a14:m>
                    <a:endParaRPr lang="en-US" altLang="zh-CN" sz="4400" b="1">
                      <a:solidFill>
                        <a:srgbClr val="7030A0"/>
                      </a:solidFill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矩形 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805" y="6359"/>
                    <a:ext cx="4277" cy="1043"/>
                  </a:xfrm>
                  <a:prstGeom prst="rect">
                    <a:avLst/>
                  </a:prstGeom>
                  <a:blipFill rotWithShape="1">
                    <a:blip r:embed="rId5"/>
                  </a:blipFill>
                  <a:ln w="19050">
                    <a:solidFill>
                      <a:srgbClr val="7030A0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377" y="3398"/>
              <a:ext cx="4871" cy="4005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矩形 10"/>
                <p:cNvSpPr/>
                <p:nvPr/>
              </p:nvSpPr>
              <p:spPr>
                <a:xfrm>
                  <a:off x="12376" y="6360"/>
                  <a:ext cx="4872" cy="1043"/>
                </a:xfrm>
                <a:prstGeom prst="rect">
                  <a:avLst/>
                </a:prstGeom>
                <a:solidFill>
                  <a:srgbClr val="000000">
                    <a:alpha val="0"/>
                  </a:srgbClr>
                </a:solid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4400" b="1">
                            <a:solidFill>
                              <a:srgbClr val="7030A0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altLang="zh-CN" sz="44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𝐯</m:t>
                            </m:r>
                          </m:sub>
                        </m:sSub>
                      </m:oMath>
                    </m:oMathPara>
                  </a14:m>
                  <a:endParaRPr lang="en-US" altLang="zh-CN" sz="4400" b="1">
                    <a:solidFill>
                      <a:srgbClr val="7030A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" name="矩形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76" y="6360"/>
                  <a:ext cx="4872" cy="1043"/>
                </a:xfrm>
                <a:prstGeom prst="rect">
                  <a:avLst/>
                </a:prstGeom>
                <a:blipFill rotWithShape="1">
                  <a:blip r:embed="rId7"/>
                </a:blip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矩形 11"/>
                <p:cNvSpPr/>
                <p:nvPr/>
              </p:nvSpPr>
              <p:spPr>
                <a:xfrm>
                  <a:off x="12376" y="3398"/>
                  <a:ext cx="4872" cy="2962"/>
                </a:xfrm>
                <a:prstGeom prst="rect">
                  <a:avLst/>
                </a:prstGeom>
                <a:solidFill>
                  <a:srgbClr val="000000">
                    <a:alpha val="0"/>
                  </a:srgbClr>
                </a:solid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8000" b="1">
                            <a:solidFill>
                              <a:srgbClr val="7030A0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𝐛</m:t>
                            </m:r>
                          </m:e>
                          <m:sub>
                            <m:r>
                              <a:rPr lang="en-US" altLang="zh-CN" sz="8000" b="1">
                                <a:solidFill>
                                  <a:srgbClr val="7030A0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𝐔</m:t>
                            </m:r>
                          </m:sub>
                        </m:sSub>
                      </m:oMath>
                    </m:oMathPara>
                  </a14:m>
                  <a:endParaRPr lang="en-US" altLang="zh-CN" sz="8000" b="1">
                    <a:solidFill>
                      <a:srgbClr val="7030A0"/>
                    </a:solidFill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" name="矩形 1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76" y="3398"/>
                  <a:ext cx="4872" cy="2962"/>
                </a:xfrm>
                <a:prstGeom prst="rect">
                  <a:avLst/>
                </a:prstGeom>
                <a:blipFill rotWithShape="1">
                  <a:blip r:embed="rId8"/>
                </a:blipFill>
                <a:ln w="19050">
                  <a:solidFill>
                    <a:srgbClr val="7030A0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6" name="组合 35"/>
          <p:cNvGrpSpPr/>
          <p:nvPr/>
        </p:nvGrpSpPr>
        <p:grpSpPr>
          <a:xfrm>
            <a:off x="2996565" y="1278255"/>
            <a:ext cx="5872480" cy="3414395"/>
            <a:chOff x="4719" y="2013"/>
            <a:chExt cx="9248" cy="5377"/>
          </a:xfrm>
        </p:grpSpPr>
        <p:sp>
          <p:nvSpPr>
            <p:cNvPr id="21" name="矩形 20"/>
            <p:cNvSpPr/>
            <p:nvPr/>
          </p:nvSpPr>
          <p:spPr>
            <a:xfrm>
              <a:off x="5326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8199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11072" y="5964"/>
              <a:ext cx="2086" cy="9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500">
                <a:solidFill>
                  <a:schemeClr val="tx1"/>
                </a:solidFill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296" y="2395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4719" y="5480"/>
              <a:ext cx="9249" cy="1910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6687" y="2013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7792" y="2112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9110" y="2013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" name="椭圆 12"/>
            <p:cNvSpPr/>
            <p:nvPr/>
          </p:nvSpPr>
          <p:spPr>
            <a:xfrm>
              <a:off x="8625" y="250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>
              <a:off x="9766" y="296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" name="椭圆 16"/>
            <p:cNvSpPr/>
            <p:nvPr/>
          </p:nvSpPr>
          <p:spPr>
            <a:xfrm>
              <a:off x="10388" y="2395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/>
          </p:nvSpPr>
          <p:spPr>
            <a:xfrm>
              <a:off x="10938" y="2961"/>
              <a:ext cx="283" cy="283"/>
            </a:xfrm>
            <a:prstGeom prst="ellipse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cxnSp>
          <p:nvCxnSpPr>
            <p:cNvPr id="20" name="直接连接符 19"/>
            <p:cNvCxnSpPr>
              <a:endCxn id="7" idx="4"/>
            </p:cNvCxnSpPr>
            <p:nvPr/>
          </p:nvCxnSpPr>
          <p:spPr>
            <a:xfrm flipV="1">
              <a:off x="5754" y="2678"/>
              <a:ext cx="684" cy="3866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>
              <a:endCxn id="9" idx="4"/>
            </p:cNvCxnSpPr>
            <p:nvPr/>
          </p:nvCxnSpPr>
          <p:spPr>
            <a:xfrm flipV="1">
              <a:off x="6190" y="2296"/>
              <a:ext cx="639" cy="4248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直接连接符 22"/>
            <p:cNvCxnSpPr>
              <a:endCxn id="11" idx="4"/>
            </p:cNvCxnSpPr>
            <p:nvPr/>
          </p:nvCxnSpPr>
          <p:spPr>
            <a:xfrm flipV="1">
              <a:off x="6722" y="2395"/>
              <a:ext cx="1212" cy="4163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 flipV="1">
              <a:off x="8481" y="2784"/>
              <a:ext cx="286" cy="389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>
              <a:endCxn id="12" idx="4"/>
            </p:cNvCxnSpPr>
            <p:nvPr/>
          </p:nvCxnSpPr>
          <p:spPr>
            <a:xfrm flipV="1">
              <a:off x="8836" y="2296"/>
              <a:ext cx="416" cy="435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6" name="直接连接符 25"/>
            <p:cNvCxnSpPr>
              <a:endCxn id="16" idx="4"/>
            </p:cNvCxnSpPr>
            <p:nvPr/>
          </p:nvCxnSpPr>
          <p:spPr>
            <a:xfrm flipV="1">
              <a:off x="9340" y="3244"/>
              <a:ext cx="568" cy="3382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7" name="直接连接符 26"/>
            <p:cNvCxnSpPr>
              <a:endCxn id="17" idx="4"/>
            </p:cNvCxnSpPr>
            <p:nvPr/>
          </p:nvCxnSpPr>
          <p:spPr>
            <a:xfrm flipV="1">
              <a:off x="9722" y="2678"/>
              <a:ext cx="808" cy="390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" name="直接连接符 27"/>
            <p:cNvCxnSpPr>
              <a:endCxn id="19" idx="4"/>
            </p:cNvCxnSpPr>
            <p:nvPr/>
          </p:nvCxnSpPr>
          <p:spPr>
            <a:xfrm flipV="1">
              <a:off x="10614" y="3244"/>
              <a:ext cx="466" cy="3037"/>
            </a:xfrm>
            <a:prstGeom prst="line">
              <a:avLst/>
            </a:prstGeom>
            <a:ln w="19050"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>
              <a:endCxn id="9" idx="5"/>
            </p:cNvCxnSpPr>
            <p:nvPr/>
          </p:nvCxnSpPr>
          <p:spPr>
            <a:xfrm flipH="1" flipV="1">
              <a:off x="6929" y="2255"/>
              <a:ext cx="4566" cy="4371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1" name="直接连接符 30"/>
            <p:cNvCxnSpPr>
              <a:endCxn id="12" idx="5"/>
            </p:cNvCxnSpPr>
            <p:nvPr/>
          </p:nvCxnSpPr>
          <p:spPr>
            <a:xfrm flipH="1" flipV="1">
              <a:off x="9352" y="2255"/>
              <a:ext cx="2443" cy="4057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2" name="直接连接符 31"/>
            <p:cNvCxnSpPr>
              <a:endCxn id="11" idx="4"/>
            </p:cNvCxnSpPr>
            <p:nvPr/>
          </p:nvCxnSpPr>
          <p:spPr>
            <a:xfrm flipH="1" flipV="1">
              <a:off x="7934" y="2395"/>
              <a:ext cx="3779" cy="4217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3" name="直接连接符 32"/>
            <p:cNvCxnSpPr>
              <a:endCxn id="19" idx="5"/>
            </p:cNvCxnSpPr>
            <p:nvPr/>
          </p:nvCxnSpPr>
          <p:spPr>
            <a:xfrm flipH="1" flipV="1">
              <a:off x="11180" y="3203"/>
              <a:ext cx="1310" cy="3259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直接连接符 33"/>
            <p:cNvCxnSpPr>
              <a:endCxn id="17" idx="5"/>
            </p:cNvCxnSpPr>
            <p:nvPr/>
          </p:nvCxnSpPr>
          <p:spPr>
            <a:xfrm flipH="1" flipV="1">
              <a:off x="10630" y="2637"/>
              <a:ext cx="1506" cy="3975"/>
            </a:xfrm>
            <a:prstGeom prst="line">
              <a:avLst/>
            </a:prstGeom>
            <a:ln w="19050">
              <a:solidFill>
                <a:srgbClr val="00206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2418080" y="2078990"/>
          <a:ext cx="8534400" cy="2560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graphicFrame>
        <p:nvGraphicFramePr>
          <p:cNvPr id="5" name="表格 4"/>
          <p:cNvGraphicFramePr/>
          <p:nvPr/>
        </p:nvGraphicFramePr>
        <p:xfrm>
          <a:off x="5951220" y="2079625"/>
          <a:ext cx="2700020" cy="27000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385"/>
                <a:gridCol w="539615"/>
                <a:gridCol w="540000"/>
                <a:gridCol w="540000"/>
              </a:tblGrid>
              <a:tr h="53975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385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graphicFrame>
        <p:nvGraphicFramePr>
          <p:cNvPr id="7" name="表格 6"/>
          <p:cNvGraphicFramePr/>
          <p:nvPr/>
        </p:nvGraphicFramePr>
        <p:xfrm>
          <a:off x="2418080" y="2078990"/>
          <a:ext cx="8534400" cy="270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 w="28575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 w="28575">
                      <a:solidFill>
                        <a:schemeClr val="tx1"/>
                      </a:solidFill>
                      <a:prstDash val="solid"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28575">
                      <a:solidFill>
                        <a:schemeClr val="tx1"/>
                      </a:solidFill>
                      <a:prstDash val="solid"/>
                    </a:lnL>
                    <a:lnR>
                      <a:noFill/>
                    </a:lnR>
                    <a:lnT w="28575">
                      <a:solidFill>
                        <a:schemeClr val="tx1"/>
                      </a:solidFill>
                      <a:prstDash val="solid"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4" name="组合 33"/>
          <p:cNvGrpSpPr/>
          <p:nvPr/>
        </p:nvGrpSpPr>
        <p:grpSpPr>
          <a:xfrm>
            <a:off x="788670" y="347980"/>
            <a:ext cx="7884795" cy="5948045"/>
            <a:chOff x="1242" y="548"/>
            <a:chExt cx="12417" cy="9367"/>
          </a:xfrm>
        </p:grpSpPr>
        <p:sp>
          <p:nvSpPr>
            <p:cNvPr id="4" name="圆角矩形 3"/>
            <p:cNvSpPr/>
            <p:nvPr/>
          </p:nvSpPr>
          <p:spPr>
            <a:xfrm>
              <a:off x="1242" y="3744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5" name="圆角矩形 4"/>
            <p:cNvSpPr/>
            <p:nvPr/>
          </p:nvSpPr>
          <p:spPr>
            <a:xfrm>
              <a:off x="50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6" name="直接箭头连接符 5"/>
            <p:cNvCxnSpPr>
              <a:stCxn id="4" idx="3"/>
              <a:endCxn id="5" idx="1"/>
            </p:cNvCxnSpPr>
            <p:nvPr/>
          </p:nvCxnSpPr>
          <p:spPr>
            <a:xfrm>
              <a:off x="38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" name="圆角矩形 6"/>
            <p:cNvSpPr/>
            <p:nvPr/>
          </p:nvSpPr>
          <p:spPr>
            <a:xfrm>
              <a:off x="15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53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9" name="直接箭头连接符 8"/>
            <p:cNvCxnSpPr>
              <a:stCxn id="7" idx="3"/>
              <a:endCxn id="8" idx="1"/>
            </p:cNvCxnSpPr>
            <p:nvPr/>
          </p:nvCxnSpPr>
          <p:spPr>
            <a:xfrm>
              <a:off x="4141" y="222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1242" y="1273"/>
              <a:ext cx="7255" cy="1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24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圆角矩形 11"/>
            <p:cNvSpPr/>
            <p:nvPr/>
          </p:nvSpPr>
          <p:spPr>
            <a:xfrm>
              <a:off x="88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3" name="直接箭头连接符 12"/>
            <p:cNvCxnSpPr>
              <a:stCxn id="5" idx="3"/>
              <a:endCxn id="12" idx="1"/>
            </p:cNvCxnSpPr>
            <p:nvPr/>
          </p:nvCxnSpPr>
          <p:spPr>
            <a:xfrm>
              <a:off x="76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文本框 13"/>
                <p:cNvSpPr txBox="1"/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4" name="文本框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圆角矩形 14"/>
            <p:cNvSpPr/>
            <p:nvPr/>
          </p:nvSpPr>
          <p:spPr>
            <a:xfrm>
              <a:off x="1242" y="5403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6" name="圆角矩形 15"/>
            <p:cNvSpPr/>
            <p:nvPr/>
          </p:nvSpPr>
          <p:spPr>
            <a:xfrm>
              <a:off x="5042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7" name="直接箭头连接符 16"/>
            <p:cNvCxnSpPr>
              <a:stCxn id="15" idx="3"/>
              <a:endCxn id="16" idx="1"/>
            </p:cNvCxnSpPr>
            <p:nvPr/>
          </p:nvCxnSpPr>
          <p:spPr>
            <a:xfrm>
              <a:off x="3853" y="600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" name="圆角矩形 17"/>
            <p:cNvSpPr/>
            <p:nvPr/>
          </p:nvSpPr>
          <p:spPr>
            <a:xfrm>
              <a:off x="9810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9" name="直接箭头连接符 18"/>
            <p:cNvCxnSpPr>
              <a:stCxn id="16" idx="3"/>
              <a:endCxn id="18" idx="1"/>
            </p:cNvCxnSpPr>
            <p:nvPr/>
          </p:nvCxnSpPr>
          <p:spPr>
            <a:xfrm>
              <a:off x="7653" y="6000"/>
              <a:ext cx="21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r>
                    <a:rPr lang="en-US" altLang="zh-CN" sz="1600" b="1" i="1">
                      <a:latin typeface="Cambria Math" panose="02040503050406030204" charset="0"/>
                      <a:cs typeface="Cambria Math" panose="02040503050406030204" charset="0"/>
                    </a:rPr>
                    <a:t> *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圆角矩形 20"/>
            <p:cNvSpPr/>
            <p:nvPr/>
          </p:nvSpPr>
          <p:spPr>
            <a:xfrm>
              <a:off x="1242" y="7062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22" name="圆角矩形 21"/>
            <p:cNvSpPr/>
            <p:nvPr/>
          </p:nvSpPr>
          <p:spPr>
            <a:xfrm>
              <a:off x="5042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23" name="直接箭头连接符 22"/>
            <p:cNvCxnSpPr>
              <a:stCxn id="21" idx="3"/>
              <a:endCxn id="22" idx="1"/>
            </p:cNvCxnSpPr>
            <p:nvPr/>
          </p:nvCxnSpPr>
          <p:spPr>
            <a:xfrm>
              <a:off x="3853" y="7659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4" name="圆角矩形 23"/>
            <p:cNvSpPr/>
            <p:nvPr/>
          </p:nvSpPr>
          <p:spPr>
            <a:xfrm>
              <a:off x="11049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25" name="直接箭头连接符 24"/>
            <p:cNvCxnSpPr>
              <a:stCxn id="22" idx="3"/>
              <a:endCxn id="24" idx="1"/>
            </p:cNvCxnSpPr>
            <p:nvPr/>
          </p:nvCxnSpPr>
          <p:spPr>
            <a:xfrm>
              <a:off x="7653" y="7659"/>
              <a:ext cx="33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文本框 25"/>
                <p:cNvSpPr txBox="1"/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𝑬𝒙𝒑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𝟓∗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𝒍𝒐𝒈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))</m:t>
                        </m:r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26" name="文本框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圆角矩形 26"/>
            <p:cNvSpPr/>
            <p:nvPr/>
          </p:nvSpPr>
          <p:spPr>
            <a:xfrm>
              <a:off x="1242" y="8721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5042" y="8721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29" name="直接箭头连接符 28"/>
            <p:cNvCxnSpPr>
              <a:stCxn id="27" idx="3"/>
              <a:endCxn id="28" idx="1"/>
            </p:cNvCxnSpPr>
            <p:nvPr/>
          </p:nvCxnSpPr>
          <p:spPr>
            <a:xfrm>
              <a:off x="3853" y="9318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3" name="文本框 32"/>
            <p:cNvSpPr txBox="1"/>
            <p:nvPr/>
          </p:nvSpPr>
          <p:spPr>
            <a:xfrm>
              <a:off x="3853" y="8790"/>
              <a:ext cx="1079" cy="531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l"/>
              <a:r>
                <a:rPr lang="en-US" altLang="zh-CN" sz="1600" b="1" i="1">
                  <a:latin typeface="Cambria Math" panose="02040503050406030204" charset="0"/>
                  <a:cs typeface="Cambria Math" panose="02040503050406030204" charset="0"/>
                </a:rPr>
                <a:t>SE3()</a:t>
              </a:r>
              <a:endParaRPr lang="en-US" altLang="zh-CN" sz="1600" b="1" i="1">
                <a:latin typeface="Cambria Math" panose="02040503050406030204" charset="0"/>
                <a:cs typeface="Cambria Math" panose="02040503050406030204" charset="0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36" name="组合 135"/>
          <p:cNvGrpSpPr/>
          <p:nvPr/>
        </p:nvGrpSpPr>
        <p:grpSpPr>
          <a:xfrm>
            <a:off x="3909695" y="1299845"/>
            <a:ext cx="4180840" cy="2733040"/>
            <a:chOff x="-843" y="4646"/>
            <a:chExt cx="6584" cy="4304"/>
          </a:xfrm>
        </p:grpSpPr>
        <p:grpSp>
          <p:nvGrpSpPr>
            <p:cNvPr id="45" name="组合 44"/>
            <p:cNvGrpSpPr/>
            <p:nvPr/>
          </p:nvGrpSpPr>
          <p:grpSpPr>
            <a:xfrm>
              <a:off x="-175" y="4828"/>
              <a:ext cx="5696" cy="4042"/>
              <a:chOff x="4650" y="2200"/>
              <a:chExt cx="5696" cy="4042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4650" y="2345"/>
                <a:ext cx="3226" cy="3444"/>
                <a:chOff x="4595" y="4131"/>
                <a:chExt cx="3226" cy="3444"/>
              </a:xfrm>
            </p:grpSpPr>
            <p:cxnSp>
              <p:nvCxnSpPr>
                <p:cNvPr id="3" name="直接箭头连接符 2"/>
                <p:cNvCxnSpPr/>
                <p:nvPr/>
              </p:nvCxnSpPr>
              <p:spPr>
                <a:xfrm>
                  <a:off x="6381" y="6135"/>
                  <a:ext cx="1440" cy="144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直接箭头连接符 29"/>
                <p:cNvCxnSpPr/>
                <p:nvPr/>
              </p:nvCxnSpPr>
              <p:spPr>
                <a:xfrm flipV="1">
                  <a:off x="6381" y="4131"/>
                  <a:ext cx="27" cy="2011"/>
                </a:xfrm>
                <a:prstGeom prst="straightConnector1">
                  <a:avLst/>
                </a:prstGeom>
                <a:ln w="28575">
                  <a:solidFill>
                    <a:schemeClr val="accent1">
                      <a:lumMod val="7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直接箭头连接符 30"/>
                <p:cNvCxnSpPr/>
                <p:nvPr/>
              </p:nvCxnSpPr>
              <p:spPr>
                <a:xfrm flipH="1">
                  <a:off x="4595" y="6122"/>
                  <a:ext cx="1800" cy="1050"/>
                </a:xfrm>
                <a:prstGeom prst="straightConnector1">
                  <a:avLst/>
                </a:prstGeom>
                <a:ln w="28575">
                  <a:solidFill>
                    <a:schemeClr val="accent4">
                      <a:lumMod val="50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5" name="下弧形箭头 34"/>
              <p:cNvSpPr/>
              <p:nvPr/>
            </p:nvSpPr>
            <p:spPr>
              <a:xfrm>
                <a:off x="7744" y="5918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下弧形箭头 39"/>
              <p:cNvSpPr/>
              <p:nvPr/>
            </p:nvSpPr>
            <p:spPr>
              <a:xfrm rot="18840000">
                <a:off x="4821" y="5448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下弧形箭头 40"/>
              <p:cNvSpPr/>
              <p:nvPr/>
            </p:nvSpPr>
            <p:spPr>
              <a:xfrm rot="16620000">
                <a:off x="6551" y="2401"/>
                <a:ext cx="226" cy="129"/>
              </a:xfrm>
              <a:prstGeom prst="curvedUpArrow">
                <a:avLst/>
              </a:prstGeom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2" name="文本框 41"/>
                  <p:cNvSpPr txBox="1"/>
                  <p:nvPr/>
                </p:nvSpPr>
                <p:spPr>
                  <a:xfrm>
                    <a:off x="7840" y="5711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2" name="文本框 4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40" y="5711"/>
                    <a:ext cx="2506" cy="531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" name="文本框 42"/>
                  <p:cNvSpPr txBox="1"/>
                  <p:nvPr/>
                </p:nvSpPr>
                <p:spPr>
                  <a:xfrm>
                    <a:off x="6603" y="2200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3" name="文本框 4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03" y="2200"/>
                    <a:ext cx="2506" cy="531"/>
                  </a:xfrm>
                  <a:prstGeom prst="rect">
                    <a:avLst/>
                  </a:prstGeom>
                  <a:blipFill rotWithShape="1">
                    <a:blip r:embed="rId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" name="文本框 43"/>
                  <p:cNvSpPr txBox="1"/>
                  <p:nvPr/>
                </p:nvSpPr>
                <p:spPr>
                  <a:xfrm>
                    <a:off x="4851" y="5232"/>
                    <a:ext cx="2506" cy="531"/>
                  </a:xfrm>
                  <a:prstGeom prst="rect">
                    <a:avLst/>
                  </a:prstGeom>
                  <a:noFill/>
                </p:spPr>
                <p:txBody>
                  <a:bodyPr wrap="none" rtlCol="0" anchor="t">
                    <a:spAutoFit/>
                  </a:bodyPr>
                  <a:p>
                    <a:pPr algn="l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∈[</m:t>
                          </m:r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b="1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𝟎</m:t>
                                </m:r>
                              </m:e>
                              <m:e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altLang="zh-CN" sz="1600" b="1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𝜹</m:t>
                                </m:r>
                              </m:e>
                            </m:mr>
                          </m:m>
                          <m:r>
                            <a:rPr lang="en-US" altLang="zh-CN" sz="1600" b="1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]</m:t>
                          </m:r>
                        </m:oMath>
                      </m:oMathPara>
                    </a14:m>
                    <a:endParaRPr lang="en-US" altLang="zh-CN" sz="1600" b="1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44" name="文本框 4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51" y="5232"/>
                    <a:ext cx="2506" cy="531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9" name="矩形 78"/>
            <p:cNvSpPr/>
            <p:nvPr/>
          </p:nvSpPr>
          <p:spPr>
            <a:xfrm>
              <a:off x="-843" y="4646"/>
              <a:ext cx="6585" cy="430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8" name="组合 107"/>
          <p:cNvGrpSpPr/>
          <p:nvPr/>
        </p:nvGrpSpPr>
        <p:grpSpPr>
          <a:xfrm>
            <a:off x="4150360" y="386080"/>
            <a:ext cx="7884795" cy="5948045"/>
            <a:chOff x="1242" y="548"/>
            <a:chExt cx="12417" cy="9367"/>
          </a:xfrm>
        </p:grpSpPr>
        <p:sp>
          <p:nvSpPr>
            <p:cNvPr id="109" name="圆角矩形 108"/>
            <p:cNvSpPr/>
            <p:nvPr/>
          </p:nvSpPr>
          <p:spPr>
            <a:xfrm>
              <a:off x="1242" y="3744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10" name="圆角矩形 109"/>
            <p:cNvSpPr/>
            <p:nvPr/>
          </p:nvSpPr>
          <p:spPr>
            <a:xfrm>
              <a:off x="50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11" name="直接箭头连接符 110"/>
            <p:cNvCxnSpPr>
              <a:stCxn id="109" idx="3"/>
              <a:endCxn id="110" idx="1"/>
            </p:cNvCxnSpPr>
            <p:nvPr/>
          </p:nvCxnSpPr>
          <p:spPr>
            <a:xfrm>
              <a:off x="38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2" name="圆角矩形 111"/>
            <p:cNvSpPr/>
            <p:nvPr/>
          </p:nvSpPr>
          <p:spPr>
            <a:xfrm>
              <a:off x="15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13" name="圆角矩形 112"/>
            <p:cNvSpPr/>
            <p:nvPr/>
          </p:nvSpPr>
          <p:spPr>
            <a:xfrm>
              <a:off x="5330" y="162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14" name="直接箭头连接符 113"/>
            <p:cNvCxnSpPr>
              <a:stCxn id="112" idx="3"/>
              <a:endCxn id="113" idx="1"/>
            </p:cNvCxnSpPr>
            <p:nvPr/>
          </p:nvCxnSpPr>
          <p:spPr>
            <a:xfrm>
              <a:off x="4141" y="222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5" name="矩形 114"/>
            <p:cNvSpPr/>
            <p:nvPr/>
          </p:nvSpPr>
          <p:spPr>
            <a:xfrm>
              <a:off x="1242" y="1273"/>
              <a:ext cx="7255" cy="193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sys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6" name="文本框 115"/>
                <p:cNvSpPr txBox="1"/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24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24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6" name="文本框 1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2" y="548"/>
                  <a:ext cx="1289" cy="725"/>
                </a:xfrm>
                <a:prstGeom prst="rect">
                  <a:avLst/>
                </a:prstGeom>
                <a:blipFill rotWithShape="1">
                  <a:blip r:embed="rId1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圆角矩形 116"/>
            <p:cNvSpPr/>
            <p:nvPr/>
          </p:nvSpPr>
          <p:spPr>
            <a:xfrm>
              <a:off x="8842" y="3744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18" name="直接箭头连接符 117"/>
            <p:cNvCxnSpPr>
              <a:stCxn id="110" idx="3"/>
              <a:endCxn id="117" idx="1"/>
            </p:cNvCxnSpPr>
            <p:nvPr/>
          </p:nvCxnSpPr>
          <p:spPr>
            <a:xfrm>
              <a:off x="7653" y="4341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文本框 118"/>
                <p:cNvSpPr txBox="1"/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19" name="文本框 1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3810"/>
                  <a:ext cx="1032" cy="531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0" name="圆角矩形 119"/>
            <p:cNvSpPr/>
            <p:nvPr/>
          </p:nvSpPr>
          <p:spPr>
            <a:xfrm>
              <a:off x="1242" y="5403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21" name="圆角矩形 120"/>
            <p:cNvSpPr/>
            <p:nvPr/>
          </p:nvSpPr>
          <p:spPr>
            <a:xfrm>
              <a:off x="5042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22" name="直接箭头连接符 121"/>
            <p:cNvCxnSpPr>
              <a:stCxn id="120" idx="3"/>
              <a:endCxn id="121" idx="1"/>
            </p:cNvCxnSpPr>
            <p:nvPr/>
          </p:nvCxnSpPr>
          <p:spPr>
            <a:xfrm>
              <a:off x="3853" y="6000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3" name="圆角矩形 122"/>
            <p:cNvSpPr/>
            <p:nvPr/>
          </p:nvSpPr>
          <p:spPr>
            <a:xfrm>
              <a:off x="9810" y="5403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24" name="直接箭头连接符 123"/>
            <p:cNvCxnSpPr>
              <a:stCxn id="121" idx="3"/>
              <a:endCxn id="123" idx="1"/>
            </p:cNvCxnSpPr>
            <p:nvPr/>
          </p:nvCxnSpPr>
          <p:spPr>
            <a:xfrm>
              <a:off x="7653" y="6000"/>
              <a:ext cx="215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文本框 124"/>
                <p:cNvSpPr txBox="1"/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r>
                    <a:rPr lang="en-US" altLang="zh-CN" sz="1600" b="1" i="1">
                      <a:latin typeface="Cambria Math" panose="02040503050406030204" charset="0"/>
                      <a:cs typeface="Cambria Math" panose="02040503050406030204" charset="0"/>
                    </a:rPr>
                    <a:t> *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𝑻</m:t>
                          </m:r>
                        </m:e>
                        <m:sub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𝒍𝒍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→</m:t>
                          </m:r>
                          <m:r>
                            <a:rPr lang="en-US" altLang="zh-CN" sz="1600" b="1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𝒍</m:t>
                          </m:r>
                        </m:sub>
                      </m:sSub>
                    </m:oMath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5" name="文本框 1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5469"/>
                  <a:ext cx="1888" cy="531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圆角矩形 125"/>
            <p:cNvSpPr/>
            <p:nvPr/>
          </p:nvSpPr>
          <p:spPr>
            <a:xfrm>
              <a:off x="1242" y="7062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27" name="圆角矩形 126"/>
            <p:cNvSpPr/>
            <p:nvPr/>
          </p:nvSpPr>
          <p:spPr>
            <a:xfrm>
              <a:off x="5042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last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28" name="直接箭头连接符 127"/>
            <p:cNvCxnSpPr>
              <a:stCxn id="126" idx="3"/>
              <a:endCxn id="127" idx="1"/>
            </p:cNvCxnSpPr>
            <p:nvPr/>
          </p:nvCxnSpPr>
          <p:spPr>
            <a:xfrm>
              <a:off x="3853" y="7659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9" name="圆角矩形 128"/>
            <p:cNvSpPr/>
            <p:nvPr/>
          </p:nvSpPr>
          <p:spPr>
            <a:xfrm>
              <a:off x="11049" y="7062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30" name="直接箭头连接符 129"/>
            <p:cNvCxnSpPr>
              <a:stCxn id="127" idx="3"/>
              <a:endCxn id="129" idx="1"/>
            </p:cNvCxnSpPr>
            <p:nvPr/>
          </p:nvCxnSpPr>
          <p:spPr>
            <a:xfrm>
              <a:off x="7653" y="7659"/>
              <a:ext cx="339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1" name="文本框 130"/>
                <p:cNvSpPr txBox="1"/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noFill/>
              </p:spPr>
              <p:txBody>
                <a:bodyPr wrap="none" rtlCol="0" anchor="t">
                  <a:spAutoFit/>
                </a:bodyPr>
                <a:p>
                  <a:pPr algn="l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𝑬𝒙𝒑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𝟎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.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𝟓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∗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𝒍𝒐𝒈</m:t>
                        </m:r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𝑻</m:t>
                            </m:r>
                          </m:e>
                          <m:sub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𝒍𝒍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→</m:t>
                            </m:r>
                            <m:r>
                              <a:rPr lang="en-US" altLang="zh-CN" sz="1600" b="1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𝒍</m:t>
                            </m:r>
                          </m:sub>
                        </m:sSub>
                        <m:r>
                          <a:rPr lang="en-US" altLang="zh-CN" sz="1600" b="1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))</m:t>
                        </m:r>
                      </m:oMath>
                    </m:oMathPara>
                  </a14:m>
                  <a:endParaRPr lang="en-US" altLang="zh-CN" sz="1600" b="1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1" name="文本框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3" y="7128"/>
                  <a:ext cx="3396" cy="531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圆角矩形 131"/>
            <p:cNvSpPr/>
            <p:nvPr/>
          </p:nvSpPr>
          <p:spPr>
            <a:xfrm>
              <a:off x="1242" y="8721"/>
              <a:ext cx="2611" cy="1194"/>
            </a:xfrm>
            <a:prstGeom prst="roundRect">
              <a:avLst/>
            </a:prstGeom>
            <a:gradFill>
              <a:gsLst>
                <a:gs pos="0">
                  <a:srgbClr val="7B32B2"/>
                </a:gs>
                <a:gs pos="100000">
                  <a:srgbClr val="401A5D"/>
                </a:gs>
              </a:gsLst>
              <a:lin scaled="0"/>
            </a:gradFill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bg1"/>
                  </a:solidFill>
                  <a:latin typeface="Monaco" panose="020B0500000000000000" charset="0"/>
                  <a:cs typeface="Monaco" panose="020B0500000000000000" charset="0"/>
                </a:rPr>
                <a:t>ref keyframe</a:t>
              </a:r>
              <a:endParaRPr lang="en-US" altLang="zh-CN" b="1">
                <a:solidFill>
                  <a:schemeClr val="bg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sp>
          <p:nvSpPr>
            <p:cNvPr id="133" name="圆角矩形 132"/>
            <p:cNvSpPr/>
            <p:nvPr/>
          </p:nvSpPr>
          <p:spPr>
            <a:xfrm>
              <a:off x="5042" y="8721"/>
              <a:ext cx="2611" cy="11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gradFill>
                    <a:gsLst>
                      <a:gs pos="0">
                        <a:srgbClr val="7B32B2"/>
                      </a:gs>
                      <a:gs pos="100000">
                        <a:srgbClr val="401A5D"/>
                      </a:gs>
                    </a:gsLst>
                    <a:lin scaled="0"/>
                  </a:gra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b="1">
                  <a:solidFill>
                    <a:schemeClr val="tx1"/>
                  </a:solidFill>
                  <a:latin typeface="Monaco" panose="020B0500000000000000" charset="0"/>
                  <a:cs typeface="Monaco" panose="020B0500000000000000" charset="0"/>
                </a:rPr>
                <a:t>cur frame</a:t>
              </a:r>
              <a:endParaRPr lang="en-US" altLang="zh-CN" b="1">
                <a:solidFill>
                  <a:schemeClr val="tx1"/>
                </a:solidFill>
                <a:latin typeface="Monaco" panose="020B0500000000000000" charset="0"/>
                <a:cs typeface="Monaco" panose="020B0500000000000000" charset="0"/>
              </a:endParaRPr>
            </a:p>
          </p:txBody>
        </p:sp>
        <p:cxnSp>
          <p:nvCxnSpPr>
            <p:cNvPr id="134" name="直接箭头连接符 133"/>
            <p:cNvCxnSpPr>
              <a:stCxn id="132" idx="3"/>
              <a:endCxn id="133" idx="1"/>
            </p:cNvCxnSpPr>
            <p:nvPr/>
          </p:nvCxnSpPr>
          <p:spPr>
            <a:xfrm>
              <a:off x="3853" y="9318"/>
              <a:ext cx="118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35" name="文本框 134"/>
            <p:cNvSpPr txBox="1"/>
            <p:nvPr/>
          </p:nvSpPr>
          <p:spPr>
            <a:xfrm>
              <a:off x="3853" y="8790"/>
              <a:ext cx="1079" cy="531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p>
              <a:pPr algn="l"/>
              <a:r>
                <a:rPr lang="en-US" altLang="zh-CN" sz="1600" b="1" i="1">
                  <a:latin typeface="Cambria Math" panose="02040503050406030204" charset="0"/>
                  <a:cs typeface="Cambria Math" panose="02040503050406030204" charset="0"/>
                </a:rPr>
                <a:t>SE3()</a:t>
              </a:r>
              <a:endParaRPr lang="en-US" altLang="zh-CN" sz="1600" b="1" i="1">
                <a:latin typeface="Cambria Math" panose="02040503050406030204" charset="0"/>
                <a:cs typeface="Cambria Math" panose="02040503050406030204" charset="0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737870" y="761365"/>
            <a:ext cx="2840355" cy="5572760"/>
            <a:chOff x="375" y="1333"/>
            <a:chExt cx="5466" cy="11320"/>
          </a:xfrm>
        </p:grpSpPr>
        <p:pic>
          <p:nvPicPr>
            <p:cNvPr id="150" name="图片 149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1333"/>
              <a:ext cx="5467" cy="3575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5206"/>
              <a:ext cx="5467" cy="3575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5" y="9079"/>
              <a:ext cx="5467" cy="3575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/>
              <p:cNvSpPr txBox="1"/>
              <p:nvPr/>
            </p:nvSpPr>
            <p:spPr>
              <a:xfrm>
                <a:off x="737870" y="92011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𝟎𝟐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43" name="文本框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870" y="920115"/>
                <a:ext cx="1006475" cy="337185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730885" y="283654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𝟑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85" y="2836545"/>
                <a:ext cx="1006475" cy="337185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730885" y="4752975"/>
                <a:ext cx="1006475" cy="3371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𝜹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.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𝟎</m:t>
                      </m:r>
                      <m:r>
                        <a:rPr lang="en-US" altLang="zh-CN" sz="1600" b="1" i="1">
                          <a:latin typeface="Cambria Math" panose="02040503050406030204" charset="0"/>
                          <a:cs typeface="Cambria Math" panose="02040503050406030204" charset="0"/>
                        </a:rPr>
                        <m:t>𝟒</m:t>
                      </m:r>
                    </m:oMath>
                  </m:oMathPara>
                </a14:m>
                <a:endParaRPr lang="en-US" altLang="zh-CN" sz="1600" b="1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885" y="4752975"/>
                <a:ext cx="1006475" cy="337185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1055</Words>
  <Application>WPS 演示</Application>
  <PresentationFormat>宽屏</PresentationFormat>
  <Paragraphs>192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6" baseType="lpstr">
      <vt:lpstr>Arial</vt:lpstr>
      <vt:lpstr>宋体</vt:lpstr>
      <vt:lpstr>Wingdings</vt:lpstr>
      <vt:lpstr>Cambria Math</vt:lpstr>
      <vt:lpstr>Calibri</vt:lpstr>
      <vt:lpstr>微软雅黑</vt:lpstr>
      <vt:lpstr>Arial Unicode MS</vt:lpstr>
      <vt:lpstr>Calibri Light</vt:lpstr>
      <vt:lpstr>Monaco</vt:lpstr>
      <vt:lpstr>MS Mincho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lucky-lu</cp:lastModifiedBy>
  <cp:revision>726</cp:revision>
  <dcterms:created xsi:type="dcterms:W3CDTF">2025-02-18T05:42:38Z</dcterms:created>
  <dcterms:modified xsi:type="dcterms:W3CDTF">2025-02-18T05:42:38Z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2052-12.1.0.17900</vt:lpwstr>
  </property>
  <property fmtid="{D5CDD505-2E9C-101B-9397-08002B2CF9AE}" pid="3" name="ICV">
    <vt:lpwstr>76CF4E3188277A8A9BD2856750BBA0A2_41</vt:lpwstr>
  </property>
</Properties>
</file>