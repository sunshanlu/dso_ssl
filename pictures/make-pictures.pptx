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0" userDrawn="1">
          <p15:clr>
            <a:srgbClr val="A4A3A4"/>
          </p15:clr>
        </p15:guide>
        <p15:guide id="2" pos="37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671"/>
    <a:srgbClr val="F9F871"/>
    <a:srgbClr val="D65DB1"/>
    <a:srgbClr val="4D7F76"/>
    <a:srgbClr val="D5CABD"/>
    <a:srgbClr val="4E8397"/>
    <a:srgbClr val="7F1853"/>
    <a:srgbClr val="845EC2"/>
    <a:srgbClr val="B2B2B2"/>
    <a:srgbClr val="20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050"/>
        <p:guide pos="370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6.png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/>
          <p:nvPr/>
        </p:nvGraphicFramePr>
        <p:xfrm>
          <a:off x="933768" y="2166938"/>
          <a:ext cx="2520315" cy="25687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  <a:gridCol w="360000"/>
                <a:gridCol w="360045"/>
                <a:gridCol w="360045"/>
                <a:gridCol w="360045"/>
                <a:gridCol w="359910"/>
                <a:gridCol w="35995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03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8528050" y="1982470"/>
          <a:ext cx="2880000" cy="293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00"/>
                <a:gridCol w="360000"/>
                <a:gridCol w="360000"/>
                <a:gridCol w="360000"/>
                <a:gridCol w="360045"/>
                <a:gridCol w="359955"/>
                <a:gridCol w="360000"/>
                <a:gridCol w="360000"/>
              </a:tblGrid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圆角矩形 9"/>
              <p:cNvSpPr/>
              <p:nvPr/>
            </p:nvSpPr>
            <p:spPr>
              <a:xfrm>
                <a:off x="4184650" y="3275648"/>
                <a:ext cx="1562100" cy="714375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𝑛𝑜𝑟𝑚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p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sz="1600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圆角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4650" y="3275648"/>
                <a:ext cx="1562100" cy="714375"/>
              </a:xfrm>
              <a:prstGeom prst="roundRect">
                <a:avLst/>
              </a:prstGeom>
              <a:blipFill rotWithShape="1">
                <a:blip r:embed="rId1"/>
                <a:stretch>
                  <a:fillRect l="-610" t="-1378" r="-610" b="-1289"/>
                </a:stretch>
              </a:blipFill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圆角矩形 10"/>
              <p:cNvSpPr/>
              <p:nvPr/>
            </p:nvSpPr>
            <p:spPr>
              <a:xfrm>
                <a:off x="6218555" y="3275648"/>
                <a:ext cx="1837690" cy="714375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𝑑𝑖𝑠</m:t>
                          </m:r>
                        </m:sup>
                      </m:sSubSup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𝑜𝑟𝑔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𝑛𝑜𝑟𝑚</m:t>
                          </m:r>
                        </m:sub>
                      </m:sSub>
                    </m:oMath>
                  </m:oMathPara>
                </a14:m>
                <a:endParaRPr lang="en-US" altLang="zh-CN" sz="1600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圆角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8555" y="3275648"/>
                <a:ext cx="1837690" cy="714375"/>
              </a:xfrm>
              <a:prstGeom prst="roundRect">
                <a:avLst/>
              </a:prstGeom>
              <a:blipFill rotWithShape="1">
                <a:blip r:embed="rId2"/>
                <a:stretch>
                  <a:fillRect l="-518" t="-1378" r="-518" b="-1289"/>
                </a:stretch>
              </a:blipFill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箭头连接符 18"/>
          <p:cNvCxnSpPr>
            <a:stCxn id="7" idx="3"/>
            <a:endCxn id="10" idx="1"/>
          </p:cNvCxnSpPr>
          <p:nvPr/>
        </p:nvCxnSpPr>
        <p:spPr>
          <a:xfrm>
            <a:off x="3454400" y="3450908"/>
            <a:ext cx="730250" cy="18161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0" idx="0"/>
            <a:endCxn id="2" idx="2"/>
          </p:cNvCxnSpPr>
          <p:nvPr/>
        </p:nvCxnSpPr>
        <p:spPr>
          <a:xfrm flipV="1">
            <a:off x="4965700" y="2881630"/>
            <a:ext cx="1025525" cy="39433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1" idx="3"/>
            <a:endCxn id="9" idx="1"/>
          </p:cNvCxnSpPr>
          <p:nvPr/>
        </p:nvCxnSpPr>
        <p:spPr>
          <a:xfrm flipV="1">
            <a:off x="8056245" y="3451225"/>
            <a:ext cx="471805" cy="18161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1147763" y="1798955"/>
            <a:ext cx="2092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无畸变像素坐标系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8921433" y="1614170"/>
            <a:ext cx="2092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畸变像素坐标系</a:t>
            </a:r>
            <a:endParaRPr lang="zh-CN" altLang="en-US"/>
          </a:p>
        </p:txBody>
      </p:sp>
      <p:cxnSp>
        <p:nvCxnSpPr>
          <p:cNvPr id="24" name="曲线连接符 23"/>
          <p:cNvCxnSpPr>
            <a:stCxn id="10" idx="2"/>
            <a:endCxn id="11" idx="2"/>
          </p:cNvCxnSpPr>
          <p:nvPr/>
        </p:nvCxnSpPr>
        <p:spPr>
          <a:xfrm rot="5400000" flipV="1">
            <a:off x="6051550" y="2904490"/>
            <a:ext cx="3175" cy="2171700"/>
          </a:xfrm>
          <a:prstGeom prst="curvedConnector3">
            <a:avLst>
              <a:gd name="adj1" fmla="val 25010000"/>
            </a:avLst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5389245" y="4238625"/>
                <a:ext cx="1413510" cy="319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𝒑</m:t>
                        </m:r>
                      </m:e>
                      <m:sub>
                        <m: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400" b="1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𝒑</m:t>
                        </m:r>
                      </m:e>
                      <m:sub>
                        <m: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𝒊</m:t>
                        </m:r>
                      </m:sub>
                      <m:sup>
                        <m:r>
                          <a:rPr lang="en-US" altLang="zh-CN" sz="14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𝒅𝒊𝒔</m:t>
                        </m:r>
                      </m:sup>
                    </m:sSubSup>
                  </m:oMath>
                </a14:m>
                <a:r>
                  <a:rPr lang="zh-CN" altLang="en-US" sz="1400" b="1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的映射</a:t>
                </a:r>
                <a:endParaRPr lang="zh-CN" altLang="en-US" sz="1400" b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245" y="4238625"/>
                <a:ext cx="1413510" cy="31940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圆角矩形 1"/>
              <p:cNvSpPr/>
              <p:nvPr/>
            </p:nvSpPr>
            <p:spPr>
              <a:xfrm>
                <a:off x="4923155" y="2167255"/>
                <a:ext cx="2135505" cy="714375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𝑛𝑜𝑟𝑚</m:t>
                          </m:r>
                        </m:sub>
                        <m:sup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𝑑𝑖𝑠</m:t>
                          </m:r>
                        </m:sup>
                      </m:sSubSup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𝑑</m:t>
                      </m:r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𝑛𝑜𝑟𝑚</m:t>
                          </m:r>
                        </m:sub>
                      </m:sSub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𝑘</m:t>
                      </m:r>
                      <m:r>
                        <a:rPr lang="en-US" altLang="zh-CN" sz="16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1600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圆角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155" y="2167255"/>
                <a:ext cx="2135505" cy="714375"/>
              </a:xfrm>
              <a:prstGeom prst="roundRect">
                <a:avLst/>
              </a:prstGeom>
              <a:blipFill rotWithShape="1">
                <a:blip r:embed="rId4"/>
                <a:stretch>
                  <a:fillRect l="-446" t="-1333" r="-446" b="-1333"/>
                </a:stretch>
              </a:blipFill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箭头连接符 3"/>
          <p:cNvCxnSpPr>
            <a:stCxn id="2" idx="2"/>
            <a:endCxn id="11" idx="0"/>
          </p:cNvCxnSpPr>
          <p:nvPr/>
        </p:nvCxnSpPr>
        <p:spPr>
          <a:xfrm>
            <a:off x="5991225" y="2881630"/>
            <a:ext cx="1146175" cy="39433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文本框 16"/>
          <p:cNvSpPr txBox="1"/>
          <p:nvPr/>
        </p:nvSpPr>
        <p:spPr>
          <a:xfrm>
            <a:off x="1570355" y="2438400"/>
            <a:ext cx="11372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图像分块</a:t>
            </a:r>
            <a:endParaRPr lang="zh-CN" altLang="en-US" sz="1600" b="1"/>
          </a:p>
        </p:txBody>
      </p:sp>
      <p:grpSp>
        <p:nvGrpSpPr>
          <p:cNvPr id="25" name="组合 24"/>
          <p:cNvGrpSpPr/>
          <p:nvPr/>
        </p:nvGrpSpPr>
        <p:grpSpPr>
          <a:xfrm>
            <a:off x="692150" y="2762885"/>
            <a:ext cx="2893060" cy="2063750"/>
            <a:chOff x="1090" y="4351"/>
            <a:chExt cx="4556" cy="3250"/>
          </a:xfrm>
        </p:grpSpPr>
        <p:grpSp>
          <p:nvGrpSpPr>
            <p:cNvPr id="18" name="组合 17"/>
            <p:cNvGrpSpPr/>
            <p:nvPr/>
          </p:nvGrpSpPr>
          <p:grpSpPr>
            <a:xfrm>
              <a:off x="1090" y="4351"/>
              <a:ext cx="4556" cy="3250"/>
              <a:chOff x="1690" y="2617"/>
              <a:chExt cx="6540" cy="5298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1690" y="2617"/>
                <a:ext cx="6540" cy="5298"/>
              </a:xfrm>
              <a:prstGeom prst="rect">
                <a:avLst/>
              </a:prstGeom>
              <a:gradFill>
                <a:gsLst>
                  <a:gs pos="0">
                    <a:srgbClr val="7030A0"/>
                  </a:gs>
                  <a:gs pos="50000">
                    <a:srgbClr val="4E8397"/>
                  </a:gs>
                  <a:gs pos="100000">
                    <a:srgbClr val="D5CABD"/>
                  </a:gs>
                </a:gsLst>
                <a:lin ang="8700000" scaled="0"/>
              </a:gradFill>
              <a:ln w="19050"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1690" y="2617"/>
                <a:ext cx="1134" cy="1134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2824" y="2617"/>
                <a:ext cx="1134" cy="1134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1690" y="3751"/>
                <a:ext cx="1134" cy="1134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7096" y="2617"/>
                <a:ext cx="1134" cy="1134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1690" y="6781"/>
                <a:ext cx="1134" cy="1134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7096" y="6781"/>
                <a:ext cx="1134" cy="113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9" name="文本框 18"/>
            <p:cNvSpPr txBox="1"/>
            <p:nvPr/>
          </p:nvSpPr>
          <p:spPr>
            <a:xfrm>
              <a:off x="3166" y="4351"/>
              <a:ext cx="1194" cy="6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>
                  <a:solidFill>
                    <a:schemeClr val="bg1"/>
                  </a:solidFill>
                  <a:latin typeface="+mj-ea"/>
                  <a:ea typeface="+mj-ea"/>
                </a:rPr>
                <a:t>……</a:t>
              </a:r>
              <a:endParaRPr lang="en-US" altLang="zh-CN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 rot="5400000">
              <a:off x="4700" y="5627"/>
              <a:ext cx="1194" cy="6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>
                  <a:solidFill>
                    <a:schemeClr val="bg1"/>
                  </a:solidFill>
                  <a:latin typeface="+mj-ea"/>
                  <a:ea typeface="+mj-ea"/>
                </a:rPr>
                <a:t>……</a:t>
              </a:r>
              <a:endParaRPr lang="en-US" altLang="zh-CN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 rot="2100000">
              <a:off x="1945" y="5326"/>
              <a:ext cx="1194" cy="6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>
                  <a:solidFill>
                    <a:schemeClr val="bg1"/>
                  </a:solidFill>
                  <a:latin typeface="+mj-ea"/>
                  <a:ea typeface="+mj-ea"/>
                </a:rPr>
                <a:t>……</a:t>
              </a:r>
              <a:endParaRPr lang="en-US" altLang="zh-CN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366" y="6905"/>
              <a:ext cx="1194" cy="6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>
                  <a:solidFill>
                    <a:schemeClr val="bg1"/>
                  </a:solidFill>
                  <a:latin typeface="+mj-ea"/>
                  <a:ea typeface="+mj-ea"/>
                </a:rPr>
                <a:t>……</a:t>
              </a:r>
              <a:endParaRPr lang="en-US" altLang="zh-CN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 rot="5400000">
              <a:off x="841" y="5959"/>
              <a:ext cx="1194" cy="6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>
                  <a:solidFill>
                    <a:schemeClr val="bg1"/>
                  </a:solidFill>
                  <a:latin typeface="+mj-ea"/>
                  <a:ea typeface="+mj-ea"/>
                </a:rPr>
                <a:t>……</a:t>
              </a:r>
              <a:endParaRPr lang="en-US" altLang="zh-CN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4617085" y="2683510"/>
            <a:ext cx="11372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梯度统计</a:t>
            </a:r>
            <a:endParaRPr lang="zh-CN" altLang="en-US" sz="1600" b="1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6420" y="3091815"/>
            <a:ext cx="1619250" cy="140589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32" name="直接箭头连接符 31"/>
          <p:cNvCxnSpPr/>
          <p:nvPr/>
        </p:nvCxnSpPr>
        <p:spPr>
          <a:xfrm flipV="1">
            <a:off x="3594100" y="4502150"/>
            <a:ext cx="2393950" cy="3238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V="1">
            <a:off x="3093085" y="3101340"/>
            <a:ext cx="1280795" cy="130302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/>
              <p:cNvSpPr txBox="1"/>
              <p:nvPr/>
            </p:nvSpPr>
            <p:spPr>
              <a:xfrm>
                <a:off x="6058535" y="3457575"/>
                <a:ext cx="2199640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600" b="1">
                    <a:latin typeface="Cambria Math" panose="02040503050406030204" charset="0"/>
                    <a:cs typeface="Cambria Math" panose="02040503050406030204" charset="0"/>
                  </a:rPr>
                  <a:t>块</a:t>
                </a:r>
                <a:r>
                  <a:rPr lang="en-US" altLang="zh-CN" sz="1600" b="1">
                    <a:latin typeface="Cambria Math" panose="02040503050406030204" charset="0"/>
                    <a:cs typeface="Cambria Math" panose="02040503050406030204" charset="0"/>
                  </a:rPr>
                  <a:t>0.5</a:t>
                </a:r>
                <a:r>
                  <a:rPr lang="zh-CN" altLang="en-US" sz="1600" b="1">
                    <a:latin typeface="Cambria Math" panose="02040503050406030204" charset="0"/>
                    <a:cs typeface="Cambria Math" panose="02040503050406030204" charset="0"/>
                  </a:rPr>
                  <a:t>分位数梯度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𝒈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𝟎</m:t>
                        </m:r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zh-CN" sz="16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𝟓</m:t>
                        </m:r>
                      </m:sub>
                    </m:sSub>
                  </m:oMath>
                </a14:m>
                <a:endParaRPr lang="en-US" altLang="zh-CN" sz="1600" b="1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8535" y="3457575"/>
                <a:ext cx="2199640" cy="33718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接箭头连接符 36"/>
          <p:cNvCxnSpPr>
            <a:stCxn id="31" idx="3"/>
            <a:endCxn id="38" idx="1"/>
          </p:cNvCxnSpPr>
          <p:nvPr/>
        </p:nvCxnSpPr>
        <p:spPr>
          <a:xfrm>
            <a:off x="5995670" y="3794760"/>
            <a:ext cx="226250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矩形 37"/>
              <p:cNvSpPr/>
              <p:nvPr/>
            </p:nvSpPr>
            <p:spPr>
              <a:xfrm>
                <a:off x="8258175" y="3465195"/>
                <a:ext cx="1858645" cy="65913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𝟓</m:t>
                          </m:r>
                        </m:sub>
                      </m:sSub>
                      <m:r>
                        <a:rPr lang="en-US" altLang="zh-CN" b="1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𝒈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𝒃𝒊𝒂𝒔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8" name="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175" y="3465195"/>
                <a:ext cx="1858645" cy="659130"/>
              </a:xfrm>
              <a:prstGeom prst="rect">
                <a:avLst/>
              </a:prstGeom>
              <a:blipFill rotWithShape="1">
                <a:blip r:embed="rId3"/>
                <a:stretch>
                  <a:fillRect l="-512" t="-1445" r="-512" b="-1445"/>
                </a:stretch>
              </a:blipFill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" name="表格 8"/>
          <p:cNvGraphicFramePr/>
          <p:nvPr/>
        </p:nvGraphicFramePr>
        <p:xfrm>
          <a:off x="2216150" y="1626870"/>
          <a:ext cx="4972050" cy="33046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</a:tblGrid>
              <a:tr h="36703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  <a:tr h="367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>
                      <a:solidFill>
                        <a:schemeClr val="tx1"/>
                      </a:solidFill>
                      <a:prstDash val="solid"/>
                    </a:lnL>
                    <a:lnR w="19050">
                      <a:solidFill>
                        <a:schemeClr val="tx1"/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845EC2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2216150" y="1626870"/>
                <a:ext cx="1100455" cy="736600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charset="0"/>
                          <a:cs typeface="Cambria Math" panose="02040503050406030204" charset="0"/>
                        </a:rPr>
                        <m:t>pot</m:t>
                      </m:r>
                      <m:r>
                        <a:rPr lang="en-US" altLang="zh-CN">
                          <a:latin typeface="Cambria Math" panose="02040503050406030204" charset="0"/>
                          <a:cs typeface="Cambria Math" panose="02040503050406030204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charset="0"/>
                          <a:cs typeface="Cambria Math" panose="02040503050406030204" charset="0"/>
                        </a:rPr>
                        <m:t>pot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150" y="1626870"/>
                <a:ext cx="1100455" cy="736600"/>
              </a:xfrm>
              <a:prstGeom prst="rect">
                <a:avLst/>
              </a:prstGeom>
              <a:blipFill rotWithShape="1">
                <a:blip r:embed="rId1"/>
                <a:stretch>
                  <a:fillRect l="-1327" t="-1983" r="-1269" b="-1897"/>
                </a:stretch>
              </a:blipFill>
              <a:ln w="28575">
                <a:solidFill>
                  <a:srgbClr val="C0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2216150" y="1626870"/>
                <a:ext cx="2216785" cy="1472565"/>
              </a:xfrm>
              <a:prstGeom prst="rect">
                <a:avLst/>
              </a:prstGeom>
              <a:noFill/>
              <a:ln w="28575">
                <a:solidFill>
                  <a:srgbClr val="D65DB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charset="0"/>
                          <a:cs typeface="Cambria Math" panose="02040503050406030204" charset="0"/>
                        </a:rPr>
                        <m:t>pot</m:t>
                      </m:r>
                      <m:r>
                        <a:rPr lang="en-US" altLang="zh-CN">
                          <a:latin typeface="Cambria Math" panose="02040503050406030204" charset="0"/>
                          <a:cs typeface="Cambria Math" panose="02040503050406030204" charset="0"/>
                        </a:rPr>
                        <m:t>∗</m:t>
                      </m:r>
                      <m:r>
                        <a:rPr lang="en-US" altLang="zh-CN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charset="0"/>
                          <a:cs typeface="Cambria Math" panose="02040503050406030204" charset="0"/>
                        </a:rPr>
                        <m:t>pot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150" y="1626870"/>
                <a:ext cx="2216785" cy="1472565"/>
              </a:xfrm>
              <a:prstGeom prst="rect">
                <a:avLst/>
              </a:prstGeom>
              <a:blipFill rotWithShape="1">
                <a:blip r:embed="rId2"/>
                <a:stretch>
                  <a:fillRect l="-659" t="-992" r="-630" b="-949"/>
                </a:stretch>
              </a:blipFill>
              <a:ln w="28575">
                <a:solidFill>
                  <a:srgbClr val="D65DB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2216150" y="1626870"/>
                <a:ext cx="4432300" cy="2936240"/>
              </a:xfrm>
              <a:prstGeom prst="rect">
                <a:avLst/>
              </a:prstGeom>
              <a:noFill/>
              <a:ln w="28575">
                <a:solidFill>
                  <a:srgbClr val="FF967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charset="0"/>
                          <a:cs typeface="Cambria Math" panose="02040503050406030204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charset="0"/>
                          <a:cs typeface="Cambria Math" panose="02040503050406030204" charset="0"/>
                        </a:rPr>
                        <m:t>pot</m:t>
                      </m:r>
                      <m:r>
                        <a:rPr lang="en-US" altLang="zh-CN">
                          <a:latin typeface="Cambria Math" panose="02040503050406030204" charset="0"/>
                          <a:cs typeface="Cambria Math" panose="02040503050406030204" charset="0"/>
                        </a:rPr>
                        <m:t>∗</m:t>
                      </m:r>
                      <m:r>
                        <a:rPr lang="en-US" altLang="zh-CN">
                          <a:latin typeface="Cambria Math" panose="02040503050406030204" charset="0"/>
                          <a:cs typeface="Cambria Math" panose="02040503050406030204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charset="0"/>
                          <a:cs typeface="Cambria Math" panose="02040503050406030204" charset="0"/>
                        </a:rPr>
                        <m:t>pot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150" y="1626870"/>
                <a:ext cx="4432300" cy="2936240"/>
              </a:xfrm>
              <a:prstGeom prst="rect">
                <a:avLst/>
              </a:prstGeom>
              <a:blipFill rotWithShape="1">
                <a:blip r:embed="rId3"/>
                <a:stretch>
                  <a:fillRect l="-330" t="-497" r="-315" b="-476"/>
                </a:stretch>
              </a:blipFill>
              <a:ln w="28575">
                <a:solidFill>
                  <a:srgbClr val="FF967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963930" y="767080"/>
            <a:ext cx="9903460" cy="4582160"/>
            <a:chOff x="1518" y="1208"/>
            <a:chExt cx="15596" cy="7216"/>
          </a:xfrm>
          <a:noFill/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18" y="1208"/>
              <a:ext cx="10884" cy="7216"/>
            </a:xfrm>
            <a:prstGeom prst="rect">
              <a:avLst/>
            </a:prstGeom>
            <a:grpFill/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02" y="2076"/>
              <a:ext cx="4313" cy="5480"/>
            </a:xfrm>
            <a:prstGeom prst="rect">
              <a:avLst/>
            </a:prstGeom>
            <a:grpFill/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2152650" y="1950085"/>
            <a:ext cx="3524250" cy="2701290"/>
            <a:chOff x="3390" y="3071"/>
            <a:chExt cx="5550" cy="4254"/>
          </a:xfrm>
        </p:grpSpPr>
        <p:sp>
          <p:nvSpPr>
            <p:cNvPr id="7" name="任意多边形 6"/>
            <p:cNvSpPr/>
            <p:nvPr/>
          </p:nvSpPr>
          <p:spPr>
            <a:xfrm>
              <a:off x="3390" y="3891"/>
              <a:ext cx="5550" cy="3435"/>
            </a:xfrm>
            <a:custGeom>
              <a:avLst/>
              <a:gdLst>
                <a:gd name="connisteX0" fmla="*/ 1457325 w 3524250"/>
                <a:gd name="connsiteY0" fmla="*/ 0 h 2181225"/>
                <a:gd name="connisteX1" fmla="*/ 0 w 3524250"/>
                <a:gd name="connsiteY1" fmla="*/ 2162175 h 2181225"/>
                <a:gd name="connisteX2" fmla="*/ 3524250 w 3524250"/>
                <a:gd name="connsiteY2" fmla="*/ 2181225 h 2181225"/>
                <a:gd name="connisteX3" fmla="*/ 1457325 w 3524250"/>
                <a:gd name="connsiteY3" fmla="*/ 0 h 21812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3524250" h="2181225">
                  <a:moveTo>
                    <a:pt x="1457325" y="0"/>
                  </a:moveTo>
                  <a:lnTo>
                    <a:pt x="0" y="2162175"/>
                  </a:lnTo>
                  <a:lnTo>
                    <a:pt x="3524250" y="2181225"/>
                  </a:lnTo>
                  <a:lnTo>
                    <a:pt x="1457325" y="0"/>
                  </a:lnTo>
                  <a:close/>
                </a:path>
              </a:pathLst>
            </a:custGeom>
            <a:noFill/>
            <a:ln w="19050">
              <a:solidFill>
                <a:srgbClr val="7030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45EC2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8" name="直接连接符 7"/>
            <p:cNvCxnSpPr>
              <a:stCxn id="7" idx="2"/>
            </p:cNvCxnSpPr>
            <p:nvPr/>
          </p:nvCxnSpPr>
          <p:spPr>
            <a:xfrm flipH="1" flipV="1">
              <a:off x="5380" y="4355"/>
              <a:ext cx="3560" cy="297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>
              <a:stCxn id="7" idx="2"/>
            </p:cNvCxnSpPr>
            <p:nvPr/>
          </p:nvCxnSpPr>
          <p:spPr>
            <a:xfrm flipH="1" flipV="1">
              <a:off x="5992" y="3403"/>
              <a:ext cx="2948" cy="392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>
              <a:endCxn id="7" idx="1"/>
            </p:cNvCxnSpPr>
            <p:nvPr/>
          </p:nvCxnSpPr>
          <p:spPr>
            <a:xfrm flipH="1">
              <a:off x="3390" y="3071"/>
              <a:ext cx="2843" cy="4225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3743" y="5948"/>
              <a:ext cx="778" cy="6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flipV="1">
              <a:off x="7548" y="5920"/>
              <a:ext cx="1023" cy="77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9" name="左大括号 18"/>
            <p:cNvSpPr/>
            <p:nvPr/>
          </p:nvSpPr>
          <p:spPr>
            <a:xfrm rot="2040000">
              <a:off x="5406" y="3228"/>
              <a:ext cx="300" cy="1123"/>
            </a:xfrm>
            <a:prstGeom prst="leftBrace">
              <a:avLst>
                <a:gd name="adj1" fmla="val 146583"/>
                <a:gd name="adj2" fmla="val 50000"/>
              </a:avLst>
            </a:prstGeom>
            <a:ln w="1905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225665" y="1374140"/>
            <a:ext cx="1203325" cy="3258820"/>
            <a:chOff x="11379" y="2164"/>
            <a:chExt cx="1895" cy="5132"/>
          </a:xfrm>
        </p:grpSpPr>
        <p:sp>
          <p:nvSpPr>
            <p:cNvPr id="11" name="任意多边形 10"/>
            <p:cNvSpPr/>
            <p:nvPr/>
          </p:nvSpPr>
          <p:spPr>
            <a:xfrm>
              <a:off x="11657" y="3861"/>
              <a:ext cx="1209" cy="3435"/>
            </a:xfrm>
            <a:custGeom>
              <a:avLst/>
              <a:gdLst>
                <a:gd name="connisteX0" fmla="*/ 1457325 w 3524250"/>
                <a:gd name="connsiteY0" fmla="*/ 0 h 2181225"/>
                <a:gd name="connisteX1" fmla="*/ 0 w 3524250"/>
                <a:gd name="connsiteY1" fmla="*/ 2162175 h 2181225"/>
                <a:gd name="connisteX2" fmla="*/ 3524250 w 3524250"/>
                <a:gd name="connsiteY2" fmla="*/ 2181225 h 2181225"/>
                <a:gd name="connisteX3" fmla="*/ 1457325 w 3524250"/>
                <a:gd name="connsiteY3" fmla="*/ 0 h 21812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3524250" h="2181225">
                  <a:moveTo>
                    <a:pt x="1457325" y="0"/>
                  </a:moveTo>
                  <a:lnTo>
                    <a:pt x="0" y="2162175"/>
                  </a:lnTo>
                  <a:lnTo>
                    <a:pt x="3524250" y="2181225"/>
                  </a:lnTo>
                  <a:lnTo>
                    <a:pt x="1457325" y="0"/>
                  </a:lnTo>
                  <a:close/>
                </a:path>
              </a:pathLst>
            </a:custGeom>
            <a:noFill/>
            <a:ln w="19050">
              <a:solidFill>
                <a:srgbClr val="7030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845EC2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 flipH="1" flipV="1">
              <a:off x="12004" y="4890"/>
              <a:ext cx="862" cy="2406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 flipV="1">
              <a:off x="12371" y="2364"/>
              <a:ext cx="495" cy="4932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endCxn id="11" idx="1"/>
            </p:cNvCxnSpPr>
            <p:nvPr/>
          </p:nvCxnSpPr>
          <p:spPr>
            <a:xfrm flipH="1">
              <a:off x="11657" y="2164"/>
              <a:ext cx="744" cy="5102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11379" y="6084"/>
              <a:ext cx="791" cy="31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V="1">
              <a:off x="12252" y="5620"/>
              <a:ext cx="1023" cy="77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0" name="左大括号 19"/>
            <p:cNvSpPr/>
            <p:nvPr/>
          </p:nvSpPr>
          <p:spPr>
            <a:xfrm rot="480000">
              <a:off x="11898" y="2373"/>
              <a:ext cx="300" cy="2508"/>
            </a:xfrm>
            <a:prstGeom prst="leftBrace">
              <a:avLst>
                <a:gd name="adj1" fmla="val 146583"/>
                <a:gd name="adj2" fmla="val 50000"/>
              </a:avLst>
            </a:prstGeom>
            <a:ln w="1905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8" name="组合 57"/>
          <p:cNvGrpSpPr/>
          <p:nvPr/>
        </p:nvGrpSpPr>
        <p:grpSpPr>
          <a:xfrm>
            <a:off x="866140" y="788670"/>
            <a:ext cx="9284970" cy="5508625"/>
            <a:chOff x="1364" y="1242"/>
            <a:chExt cx="14622" cy="8675"/>
          </a:xfrm>
        </p:grpSpPr>
        <p:sp>
          <p:nvSpPr>
            <p:cNvPr id="7" name="矩形 6"/>
            <p:cNvSpPr/>
            <p:nvPr/>
          </p:nvSpPr>
          <p:spPr>
            <a:xfrm>
              <a:off x="3303" y="1242"/>
              <a:ext cx="2139" cy="93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500">
                  <a:solidFill>
                    <a:schemeClr val="tx1"/>
                  </a:solidFill>
                </a:rPr>
                <a:t>图像</a:t>
              </a:r>
              <a:endParaRPr lang="zh-CN" altLang="en-US" sz="1500">
                <a:solidFill>
                  <a:schemeClr val="tx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6000" y="1242"/>
              <a:ext cx="3023" cy="93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500">
                  <a:solidFill>
                    <a:schemeClr val="tx1"/>
                  </a:solidFill>
                </a:rPr>
                <a:t>图像去畸变</a:t>
              </a:r>
              <a:endParaRPr lang="zh-CN" altLang="en-US" sz="1500">
                <a:solidFill>
                  <a:schemeClr val="tx1"/>
                </a:solidFill>
              </a:endParaRPr>
            </a:p>
          </p:txBody>
        </p:sp>
        <p:cxnSp>
          <p:nvCxnSpPr>
            <p:cNvPr id="9" name="直接箭头连接符 8"/>
            <p:cNvCxnSpPr>
              <a:stCxn id="7" idx="3"/>
              <a:endCxn id="8" idx="1"/>
            </p:cNvCxnSpPr>
            <p:nvPr/>
          </p:nvCxnSpPr>
          <p:spPr>
            <a:xfrm>
              <a:off x="5442" y="1711"/>
              <a:ext cx="55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" name="菱形 11"/>
            <p:cNvSpPr/>
            <p:nvPr/>
          </p:nvSpPr>
          <p:spPr>
            <a:xfrm>
              <a:off x="6091" y="2612"/>
              <a:ext cx="2846" cy="1182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500">
                  <a:solidFill>
                    <a:schemeClr val="tx1"/>
                  </a:solidFill>
                </a:rPr>
                <a:t>第一帧？</a:t>
              </a:r>
              <a:endParaRPr lang="zh-CN" altLang="en-US" sz="1500">
                <a:solidFill>
                  <a:schemeClr val="tx1"/>
                </a:solidFill>
              </a:endParaRPr>
            </a:p>
          </p:txBody>
        </p:sp>
        <p:cxnSp>
          <p:nvCxnSpPr>
            <p:cNvPr id="13" name="直接箭头连接符 12"/>
            <p:cNvCxnSpPr>
              <a:stCxn id="8" idx="2"/>
              <a:endCxn id="12" idx="0"/>
            </p:cNvCxnSpPr>
            <p:nvPr/>
          </p:nvCxnSpPr>
          <p:spPr>
            <a:xfrm>
              <a:off x="7512" y="2179"/>
              <a:ext cx="2" cy="43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8940" y="4255"/>
              <a:ext cx="2139" cy="93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500">
                  <a:solidFill>
                    <a:schemeClr val="tx1"/>
                  </a:solidFill>
                </a:rPr>
                <a:t>初始化点选</a:t>
              </a:r>
              <a:endParaRPr lang="zh-CN" altLang="en-US" sz="1500">
                <a:solidFill>
                  <a:schemeClr val="tx1"/>
                </a:solidFill>
              </a:endParaRPr>
            </a:p>
          </p:txBody>
        </p:sp>
        <p:cxnSp>
          <p:nvCxnSpPr>
            <p:cNvPr id="16" name="肘形连接符 15"/>
            <p:cNvCxnSpPr>
              <a:stCxn id="12" idx="3"/>
              <a:endCxn id="14" idx="0"/>
            </p:cNvCxnSpPr>
            <p:nvPr/>
          </p:nvCxnSpPr>
          <p:spPr>
            <a:xfrm>
              <a:off x="8937" y="3203"/>
              <a:ext cx="1073" cy="1052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矩形 16"/>
                <p:cNvSpPr/>
                <p:nvPr/>
              </p:nvSpPr>
              <p:spPr>
                <a:xfrm>
                  <a:off x="4034" y="4255"/>
                  <a:ext cx="2139" cy="93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500">
                      <a:solidFill>
                        <a:schemeClr val="tx1"/>
                      </a:solidFill>
                    </a:rPr>
                    <a:t>普通帧</a:t>
                  </a:r>
                  <a14:m>
                    <m:oMath xmlns:m="http://schemas.openxmlformats.org/officeDocument/2006/math">
                      <m:r>
                        <a:rPr lang="en-US" altLang="zh-CN" sz="15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𝑗</m:t>
                      </m:r>
                    </m:oMath>
                  </a14:m>
                  <a:endParaRPr lang="zh-CN" altLang="en-US" sz="150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7" name="矩形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4" y="4255"/>
                  <a:ext cx="2139" cy="937"/>
                </a:xfrm>
                <a:prstGeom prst="rect">
                  <a:avLst/>
                </a:prstGeom>
                <a:blipFill rotWithShape="1">
                  <a:blip r:embed="rId1"/>
                </a:blipFill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肘形连接符 17"/>
            <p:cNvCxnSpPr>
              <a:stCxn id="12" idx="1"/>
              <a:endCxn id="17" idx="0"/>
            </p:cNvCxnSpPr>
            <p:nvPr/>
          </p:nvCxnSpPr>
          <p:spPr>
            <a:xfrm rot="10800000" flipV="1">
              <a:off x="5104" y="3203"/>
              <a:ext cx="987" cy="1052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矩形 18"/>
                <p:cNvSpPr/>
                <p:nvPr/>
              </p:nvSpPr>
              <p:spPr>
                <a:xfrm>
                  <a:off x="8940" y="5877"/>
                  <a:ext cx="2139" cy="93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500">
                      <a:solidFill>
                        <a:schemeClr val="tx1"/>
                      </a:solidFill>
                    </a:rPr>
                    <a:t>参考帧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</m:t>
                          </m:r>
                        </m:sub>
                      </m:sSub>
                    </m:oMath>
                  </a14:m>
                  <a:endParaRPr lang="zh-CN" altLang="en-US" sz="150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9" name="矩形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0" y="5877"/>
                  <a:ext cx="2139" cy="937"/>
                </a:xfrm>
                <a:prstGeom prst="rect">
                  <a:avLst/>
                </a:prstGeom>
                <a:blipFill rotWithShape="1">
                  <a:blip r:embed="rId2"/>
                </a:blipFill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菱形 23"/>
                <p:cNvSpPr/>
                <p:nvPr/>
              </p:nvSpPr>
              <p:spPr>
                <a:xfrm>
                  <a:off x="3681" y="5755"/>
                  <a:ext cx="2846" cy="1182"/>
                </a:xfrm>
                <a:prstGeom prst="diamond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𝑗𝑖</m:t>
                          </m:r>
                        </m:sub>
                      </m:sSub>
                    </m:oMath>
                  </a14:m>
                  <a:r>
                    <a:rPr lang="zh-CN" altLang="en-US" sz="1500">
                      <a:solidFill>
                        <a:schemeClr val="tx1"/>
                      </a:solidFill>
                      <a:latin typeface="Cambria Math" panose="02040503050406030204" charset="0"/>
                      <a:cs typeface="Cambria Math" panose="02040503050406030204" charset="0"/>
                    </a:rPr>
                    <a:t>足够？</a:t>
                  </a:r>
                  <a:endParaRPr lang="zh-CN" altLang="en-US" sz="1500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4" name="菱形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1" y="5755"/>
                  <a:ext cx="2846" cy="1182"/>
                </a:xfrm>
                <a:prstGeom prst="diamond">
                  <a:avLst/>
                </a:prstGeom>
                <a:blipFill rotWithShape="1">
                  <a:blip r:embed="rId3"/>
                </a:blipFill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直接箭头连接符 24"/>
            <p:cNvCxnSpPr>
              <a:stCxn id="17" idx="2"/>
              <a:endCxn id="24" idx="0"/>
            </p:cNvCxnSpPr>
            <p:nvPr/>
          </p:nvCxnSpPr>
          <p:spPr>
            <a:xfrm>
              <a:off x="5104" y="5192"/>
              <a:ext cx="0" cy="56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矩形 26"/>
                <p:cNvSpPr/>
                <p:nvPr/>
              </p:nvSpPr>
              <p:spPr>
                <a:xfrm>
                  <a:off x="6763" y="7179"/>
                  <a:ext cx="3148" cy="93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500">
                      <a:solidFill>
                        <a:schemeClr val="tx1"/>
                      </a:solidFill>
                      <a:latin typeface="Cambria Math" panose="02040503050406030204" charset="0"/>
                      <a:cs typeface="Cambria Math" panose="02040503050406030204" charset="0"/>
                    </a:rPr>
                    <a:t>构建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𝑗𝑖</m:t>
                          </m:r>
                        </m:sub>
                      </m:sSub>
                    </m:oMath>
                  </a14:m>
                  <a:r>
                    <a:rPr lang="zh-CN" altLang="en-US" sz="1500">
                      <a:solidFill>
                        <a:schemeClr val="tx1"/>
                      </a:solidFill>
                      <a:latin typeface="Cambria Math" panose="02040503050406030204" charset="0"/>
                      <a:cs typeface="Cambria Math" panose="02040503050406030204" charset="0"/>
                      <a:sym typeface="+mn-ea"/>
                    </a:rPr>
                    <a:t>足够优化模型</a:t>
                  </a:r>
                  <a:endParaRPr lang="zh-CN" altLang="en-US" sz="150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7" name="矩形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3" y="7179"/>
                  <a:ext cx="3148" cy="937"/>
                </a:xfrm>
                <a:prstGeom prst="rect">
                  <a:avLst/>
                </a:prstGeom>
                <a:blipFill rotWithShape="1">
                  <a:blip r:embed="rId4"/>
                </a:blipFill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矩形 27"/>
                <p:cNvSpPr/>
                <p:nvPr/>
              </p:nvSpPr>
              <p:spPr>
                <a:xfrm>
                  <a:off x="6763" y="8701"/>
                  <a:ext cx="3149" cy="93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500">
                      <a:solidFill>
                        <a:schemeClr val="tx1"/>
                      </a:solidFill>
                      <a:latin typeface="Cambria Math" panose="02040503050406030204" charset="0"/>
                      <a:cs typeface="Cambria Math" panose="02040503050406030204" charset="0"/>
                    </a:rPr>
                    <a:t>构建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𝑗𝑖</m:t>
                          </m:r>
                        </m:sub>
                      </m:sSub>
                    </m:oMath>
                  </a14:m>
                  <a:r>
                    <a:rPr lang="zh-CN" altLang="en-US" sz="1500">
                      <a:solidFill>
                        <a:schemeClr val="tx1"/>
                      </a:solidFill>
                      <a:latin typeface="Cambria Math" panose="02040503050406030204" charset="0"/>
                      <a:cs typeface="Cambria Math" panose="02040503050406030204" charset="0"/>
                    </a:rPr>
                    <a:t>不</a:t>
                  </a:r>
                  <a:r>
                    <a:rPr lang="zh-CN" altLang="en-US" sz="1500">
                      <a:solidFill>
                        <a:schemeClr val="tx1"/>
                      </a:solidFill>
                      <a:latin typeface="Cambria Math" panose="02040503050406030204" charset="0"/>
                      <a:cs typeface="Cambria Math" panose="02040503050406030204" charset="0"/>
                      <a:sym typeface="+mn-ea"/>
                    </a:rPr>
                    <a:t>足优化模型</a:t>
                  </a:r>
                  <a:endParaRPr lang="zh-CN" altLang="en-US" sz="150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8" name="矩形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3" y="8701"/>
                  <a:ext cx="3149" cy="937"/>
                </a:xfrm>
                <a:prstGeom prst="rect">
                  <a:avLst/>
                </a:prstGeom>
                <a:blipFill rotWithShape="1">
                  <a:blip r:embed="rId5"/>
                </a:blipFill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肘形连接符 28"/>
            <p:cNvCxnSpPr>
              <a:stCxn id="24" idx="1"/>
              <a:endCxn id="28" idx="1"/>
            </p:cNvCxnSpPr>
            <p:nvPr/>
          </p:nvCxnSpPr>
          <p:spPr>
            <a:xfrm rot="10800000" flipH="1" flipV="1">
              <a:off x="3681" y="6346"/>
              <a:ext cx="3082" cy="2824"/>
            </a:xfrm>
            <a:prstGeom prst="bentConnector3">
              <a:avLst>
                <a:gd name="adj1" fmla="val -12167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" name="肘形连接符 29"/>
            <p:cNvCxnSpPr>
              <a:stCxn id="24" idx="2"/>
              <a:endCxn id="27" idx="1"/>
            </p:cNvCxnSpPr>
            <p:nvPr/>
          </p:nvCxnSpPr>
          <p:spPr>
            <a:xfrm rot="5400000" flipV="1">
              <a:off x="5578" y="6463"/>
              <a:ext cx="711" cy="1659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2" name="矩形 31"/>
            <p:cNvSpPr/>
            <p:nvPr/>
          </p:nvSpPr>
          <p:spPr>
            <a:xfrm>
              <a:off x="12407" y="7882"/>
              <a:ext cx="2139" cy="93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500">
                  <a:solidFill>
                    <a:schemeClr val="tx1"/>
                  </a:solidFill>
                </a:rPr>
                <a:t>金字塔由高到低优化</a:t>
              </a:r>
              <a:endParaRPr lang="zh-CN" sz="1500">
                <a:solidFill>
                  <a:schemeClr val="tx1"/>
                </a:solidFill>
              </a:endParaRPr>
            </a:p>
          </p:txBody>
        </p:sp>
        <p:cxnSp>
          <p:nvCxnSpPr>
            <p:cNvPr id="33" name="肘形连接符 32"/>
            <p:cNvCxnSpPr>
              <a:stCxn id="27" idx="3"/>
              <a:endCxn id="32" idx="1"/>
            </p:cNvCxnSpPr>
            <p:nvPr/>
          </p:nvCxnSpPr>
          <p:spPr>
            <a:xfrm>
              <a:off x="9911" y="7648"/>
              <a:ext cx="2496" cy="703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" name="肘形连接符 33"/>
            <p:cNvCxnSpPr>
              <a:stCxn id="28" idx="3"/>
              <a:endCxn id="32" idx="1"/>
            </p:cNvCxnSpPr>
            <p:nvPr/>
          </p:nvCxnSpPr>
          <p:spPr>
            <a:xfrm flipV="1">
              <a:off x="9912" y="8351"/>
              <a:ext cx="2495" cy="819"/>
            </a:xfrm>
            <a:prstGeom prst="bentConnector3">
              <a:avLst>
                <a:gd name="adj1" fmla="val 50020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5" name="菱形 34"/>
            <p:cNvSpPr/>
            <p:nvPr/>
          </p:nvSpPr>
          <p:spPr>
            <a:xfrm>
              <a:off x="12036" y="4120"/>
              <a:ext cx="2846" cy="1182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</a:rPr>
                <a:t>达到初始化要求？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cxnSp>
          <p:nvCxnSpPr>
            <p:cNvPr id="36" name="直接箭头连接符 35"/>
            <p:cNvCxnSpPr>
              <a:stCxn id="32" idx="0"/>
              <a:endCxn id="49" idx="2"/>
            </p:cNvCxnSpPr>
            <p:nvPr/>
          </p:nvCxnSpPr>
          <p:spPr>
            <a:xfrm flipV="1">
              <a:off x="13477" y="7061"/>
              <a:ext cx="0" cy="82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7" name="矩形 36"/>
            <p:cNvSpPr/>
            <p:nvPr/>
          </p:nvSpPr>
          <p:spPr>
            <a:xfrm>
              <a:off x="1771" y="2429"/>
              <a:ext cx="13433" cy="74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39" name="直接箭头连接符 38"/>
            <p:cNvCxnSpPr>
              <a:endCxn id="7" idx="1"/>
            </p:cNvCxnSpPr>
            <p:nvPr/>
          </p:nvCxnSpPr>
          <p:spPr>
            <a:xfrm>
              <a:off x="1770" y="1711"/>
              <a:ext cx="153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>
              <a:stCxn id="35" idx="3"/>
            </p:cNvCxnSpPr>
            <p:nvPr/>
          </p:nvCxnSpPr>
          <p:spPr>
            <a:xfrm>
              <a:off x="14882" y="4711"/>
              <a:ext cx="110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1771" y="2429"/>
              <a:ext cx="869" cy="3600"/>
            </a:xfrm>
            <a:prstGeom prst="rect">
              <a:avLst/>
            </a:prstGeom>
            <a:noFill/>
            <a:ln>
              <a:noFill/>
            </a:ln>
          </p:spPr>
          <p:txBody>
            <a:bodyPr vert="eaVert" wrap="square" rtlCol="0">
              <a:spAutoFit/>
            </a:bodyPr>
            <a:p>
              <a:r>
                <a:rPr lang="zh-CN" altLang="en-US" sz="2400" b="1"/>
                <a:t>初始化器</a:t>
              </a:r>
              <a:endParaRPr lang="zh-CN" altLang="en-US" sz="2400" b="1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矩形 48"/>
                <p:cNvSpPr/>
                <p:nvPr/>
              </p:nvSpPr>
              <p:spPr>
                <a:xfrm>
                  <a:off x="12407" y="6124"/>
                  <a:ext cx="2139" cy="93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sz="1500" b="1">
                      <a:solidFill>
                        <a:srgbClr val="C00000"/>
                      </a:solidFill>
                    </a:rPr>
                    <a:t>更新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500" b="1" i="1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500" b="1" i="1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500" b="1" i="1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𝒇</m:t>
                          </m:r>
                        </m:sub>
                      </m:sSub>
                    </m:oMath>
                  </a14:m>
                  <a:r>
                    <a:rPr lang="zh-CN" altLang="en-US" sz="1500" b="1">
                      <a:solidFill>
                        <a:srgbClr val="C00000"/>
                      </a:solidFill>
                      <a:latin typeface="Cambria Math" panose="02040503050406030204" charset="0"/>
                      <a:cs typeface="Cambria Math" panose="02040503050406030204" charset="0"/>
                    </a:rPr>
                    <a:t>高层金字塔点逆深度</a:t>
                  </a:r>
                  <a:endParaRPr lang="zh-CN" altLang="en-US" sz="1500" b="1">
                    <a:solidFill>
                      <a:srgbClr val="C00000"/>
                    </a:soli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49" name="矩形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07" y="6124"/>
                  <a:ext cx="2139" cy="937"/>
                </a:xfrm>
                <a:prstGeom prst="rect">
                  <a:avLst/>
                </a:prstGeom>
                <a:blipFill rotWithShape="1">
                  <a:blip r:embed="rId6"/>
                </a:blipFill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直接箭头连接符 49"/>
            <p:cNvCxnSpPr>
              <a:stCxn id="49" idx="0"/>
              <a:endCxn id="35" idx="2"/>
            </p:cNvCxnSpPr>
            <p:nvPr/>
          </p:nvCxnSpPr>
          <p:spPr>
            <a:xfrm flipH="1" flipV="1">
              <a:off x="13459" y="5302"/>
              <a:ext cx="18" cy="82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1" name="矩形 50"/>
            <p:cNvSpPr/>
            <p:nvPr/>
          </p:nvSpPr>
          <p:spPr>
            <a:xfrm>
              <a:off x="6487" y="4264"/>
              <a:ext cx="2139" cy="93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500" b="1">
                  <a:solidFill>
                    <a:srgbClr val="C00000"/>
                  </a:solidFill>
                </a:rPr>
                <a:t>构建相邻点和上层父点关系</a:t>
              </a:r>
              <a:endParaRPr lang="zh-CN" altLang="en-US" sz="1500" b="1">
                <a:solidFill>
                  <a:srgbClr val="C00000"/>
                </a:solidFill>
              </a:endParaRPr>
            </a:p>
          </p:txBody>
        </p:sp>
        <p:cxnSp>
          <p:nvCxnSpPr>
            <p:cNvPr id="52" name="直接箭头连接符 51"/>
            <p:cNvCxnSpPr>
              <a:stCxn id="14" idx="1"/>
              <a:endCxn id="51" idx="3"/>
            </p:cNvCxnSpPr>
            <p:nvPr/>
          </p:nvCxnSpPr>
          <p:spPr>
            <a:xfrm flipH="1">
              <a:off x="8626" y="4724"/>
              <a:ext cx="314" cy="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肘形连接符 52"/>
            <p:cNvCxnSpPr>
              <a:stCxn id="51" idx="2"/>
              <a:endCxn id="19" idx="0"/>
            </p:cNvCxnSpPr>
            <p:nvPr/>
          </p:nvCxnSpPr>
          <p:spPr>
            <a:xfrm rot="5400000" flipV="1">
              <a:off x="8445" y="4312"/>
              <a:ext cx="676" cy="2453"/>
            </a:xfrm>
            <a:prstGeom prst="bentConnector3">
              <a:avLst>
                <a:gd name="adj1" fmla="val 49926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>
              <a:stCxn id="19" idx="1"/>
              <a:endCxn id="24" idx="3"/>
            </p:cNvCxnSpPr>
            <p:nvPr/>
          </p:nvCxnSpPr>
          <p:spPr>
            <a:xfrm flipH="1">
              <a:off x="6527" y="6346"/>
              <a:ext cx="241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肘形连接符 55"/>
            <p:cNvCxnSpPr>
              <a:stCxn id="35" idx="0"/>
              <a:endCxn id="57" idx="0"/>
            </p:cNvCxnSpPr>
            <p:nvPr/>
          </p:nvCxnSpPr>
          <p:spPr>
            <a:xfrm rot="16200000" flipV="1">
              <a:off x="6741" y="-2597"/>
              <a:ext cx="2409" cy="11025"/>
            </a:xfrm>
            <a:prstGeom prst="bentConnector3">
              <a:avLst>
                <a:gd name="adj1" fmla="val 140431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7" name="矩形 56"/>
            <p:cNvSpPr/>
            <p:nvPr/>
          </p:nvSpPr>
          <p:spPr>
            <a:xfrm>
              <a:off x="1364" y="1711"/>
              <a:ext cx="2139" cy="937"/>
            </a:xfrm>
            <a:prstGeom prst="rect">
              <a:avLst/>
            </a:prstGeom>
            <a:noFill/>
            <a:ln w="1905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5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3" name="肘形连接符 2"/>
          <p:cNvCxnSpPr>
            <a:stCxn id="6" idx="3"/>
            <a:endCxn id="26" idx="1"/>
          </p:cNvCxnSpPr>
          <p:nvPr/>
        </p:nvCxnSpPr>
        <p:spPr>
          <a:xfrm flipV="1">
            <a:off x="2268220" y="1573530"/>
            <a:ext cx="551180" cy="38290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1166495" y="1734820"/>
                <a:ext cx="1101725" cy="44259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zh-CN" altLang="en-US" sz="1500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父点</a:t>
                </a:r>
                <a14:m>
                  <m:oMath xmlns:m="http://schemas.openxmlformats.org/officeDocument/2006/math">
                    <m:r>
                      <a:rPr lang="zh-CN" altLang="en-US" sz="1500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𝑖𝑅</m:t>
                    </m:r>
                  </m:oMath>
                </a14:m>
                <a:endParaRPr lang="zh-CN" altLang="en-US" sz="1500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495" y="1734820"/>
                <a:ext cx="1101725" cy="442595"/>
              </a:xfrm>
              <a:prstGeom prst="rect">
                <a:avLst/>
              </a:prstGeom>
              <a:blipFill rotWithShape="1">
                <a:blip r:embed="rId1"/>
                <a:stretch>
                  <a:fillRect l="-865" t="-2152" r="-865" b="-2152"/>
                </a:stretch>
              </a:blipFill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矩形 20"/>
              <p:cNvSpPr/>
              <p:nvPr/>
            </p:nvSpPr>
            <p:spPr>
              <a:xfrm>
                <a:off x="1165860" y="984250"/>
                <a:ext cx="1100455" cy="44259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500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子点</a:t>
                </a:r>
                <a14:m>
                  <m:oMath xmlns:m="http://schemas.openxmlformats.org/officeDocument/2006/math">
                    <m:r>
                      <a:rPr lang="en-US" altLang="zh-CN" sz="15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𝑖𝑅</m:t>
                    </m:r>
                  </m:oMath>
                </a14:m>
                <a:endParaRPr lang="zh-CN" altLang="en-US" sz="15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860" y="984250"/>
                <a:ext cx="1100455" cy="442595"/>
              </a:xfrm>
              <a:prstGeom prst="rect">
                <a:avLst/>
              </a:prstGeom>
              <a:blipFill rotWithShape="1">
                <a:blip r:embed="rId2"/>
                <a:stretch>
                  <a:fillRect l="-866" t="-2152" r="-866" b="-2152"/>
                </a:stretch>
              </a:blipFill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/>
          <p:cNvSpPr/>
          <p:nvPr/>
        </p:nvSpPr>
        <p:spPr>
          <a:xfrm>
            <a:off x="2819400" y="1275715"/>
            <a:ext cx="1919605" cy="59499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500">
                <a:solidFill>
                  <a:schemeClr val="tx1"/>
                </a:solidFill>
              </a:rPr>
              <a:t>高斯归一化积</a:t>
            </a:r>
            <a:endParaRPr lang="zh-CN" altLang="en-US" sz="1500">
              <a:solidFill>
                <a:schemeClr val="tx1"/>
              </a:solidFill>
            </a:endParaRPr>
          </a:p>
        </p:txBody>
      </p:sp>
      <p:cxnSp>
        <p:nvCxnSpPr>
          <p:cNvPr id="31" name="肘形连接符 30"/>
          <p:cNvCxnSpPr>
            <a:stCxn id="21" idx="3"/>
            <a:endCxn id="26" idx="1"/>
          </p:cNvCxnSpPr>
          <p:nvPr/>
        </p:nvCxnSpPr>
        <p:spPr>
          <a:xfrm>
            <a:off x="2266315" y="1205865"/>
            <a:ext cx="553085" cy="367665"/>
          </a:xfrm>
          <a:prstGeom prst="bentConnector3">
            <a:avLst>
              <a:gd name="adj1" fmla="val 50057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矩形 37"/>
              <p:cNvSpPr/>
              <p:nvPr/>
            </p:nvSpPr>
            <p:spPr>
              <a:xfrm>
                <a:off x="5263515" y="1737360"/>
                <a:ext cx="1232535" cy="44259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algn="ctr"/>
                <a:r>
                  <a:rPr lang="zh-CN" altLang="en-US" sz="1500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更新子点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5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e>
                      <m:sub>
                        <m:r>
                          <a:rPr lang="en-US" altLang="zh-CN" sz="15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𝑝𝑖</m:t>
                        </m:r>
                      </m:sub>
                    </m:sSub>
                  </m:oMath>
                </a14:m>
                <a:endParaRPr lang="zh-CN" altLang="en-US" sz="1500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38" name="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515" y="1737360"/>
                <a:ext cx="1232535" cy="442595"/>
              </a:xfrm>
              <a:prstGeom prst="rect">
                <a:avLst/>
              </a:prstGeom>
              <a:blipFill rotWithShape="1">
                <a:blip r:embed="rId3"/>
                <a:stretch>
                  <a:fillRect l="-773" t="-2152" r="-773" b="-2152"/>
                </a:stretch>
              </a:blipFill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矩形 39"/>
              <p:cNvSpPr/>
              <p:nvPr/>
            </p:nvSpPr>
            <p:spPr>
              <a:xfrm>
                <a:off x="5263515" y="984250"/>
                <a:ext cx="1231265" cy="44259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500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更新子点</a:t>
                </a:r>
                <a14:m>
                  <m:oMath xmlns:m="http://schemas.openxmlformats.org/officeDocument/2006/math">
                    <m:r>
                      <a:rPr lang="en-US" altLang="zh-CN" sz="15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𝑖𝑅</m:t>
                    </m:r>
                  </m:oMath>
                </a14:m>
                <a:endParaRPr lang="zh-CN" altLang="en-US" sz="15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0" name="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515" y="984250"/>
                <a:ext cx="1231265" cy="442595"/>
              </a:xfrm>
              <a:prstGeom prst="rect">
                <a:avLst/>
              </a:prstGeom>
              <a:blipFill rotWithShape="1">
                <a:blip r:embed="rId4"/>
                <a:stretch>
                  <a:fillRect l="-774" t="-2152" r="-774" b="-2152"/>
                </a:stretch>
              </a:blipFill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肘形连接符 40"/>
          <p:cNvCxnSpPr>
            <a:stCxn id="26" idx="3"/>
            <a:endCxn id="38" idx="1"/>
          </p:cNvCxnSpPr>
          <p:nvPr/>
        </p:nvCxnSpPr>
        <p:spPr>
          <a:xfrm>
            <a:off x="4739005" y="1573530"/>
            <a:ext cx="524510" cy="38544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stCxn id="26" idx="3"/>
            <a:endCxn id="40" idx="1"/>
          </p:cNvCxnSpPr>
          <p:nvPr/>
        </p:nvCxnSpPr>
        <p:spPr>
          <a:xfrm flipV="1">
            <a:off x="4739005" y="1205865"/>
            <a:ext cx="524510" cy="3676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矩形 44"/>
              <p:cNvSpPr/>
              <p:nvPr/>
            </p:nvSpPr>
            <p:spPr>
              <a:xfrm>
                <a:off x="7019290" y="1275715"/>
                <a:ext cx="2100580" cy="59499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500">
                    <a:solidFill>
                      <a:schemeClr val="tx1"/>
                    </a:solidFill>
                  </a:rPr>
                  <a:t>考虑相邻点</a:t>
                </a:r>
                <a14:m>
                  <m:oMath xmlns:m="http://schemas.openxmlformats.org/officeDocument/2006/math">
                    <m:r>
                      <a:rPr lang="en-US" altLang="zh-CN" sz="15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𝑖𝑅</m:t>
                    </m:r>
                  </m:oMath>
                </a14:m>
                <a:r>
                  <a:rPr lang="zh-CN" altLang="en-US" sz="1500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的连续性</a:t>
                </a:r>
                <a:endParaRPr lang="zh-CN" altLang="en-US" sz="1500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5" name="矩形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290" y="1275715"/>
                <a:ext cx="2100580" cy="594995"/>
              </a:xfrm>
              <a:prstGeom prst="rect">
                <a:avLst/>
              </a:prstGeom>
              <a:blipFill rotWithShape="1">
                <a:blip r:embed="rId5"/>
                <a:stretch>
                  <a:fillRect l="-453" t="-1601" r="-453" b="-1601"/>
                </a:stretch>
              </a:blipFill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矩形 46"/>
              <p:cNvSpPr/>
              <p:nvPr/>
            </p:nvSpPr>
            <p:spPr>
              <a:xfrm>
                <a:off x="9491980" y="1351915"/>
                <a:ext cx="1231265" cy="44259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500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更新子点</a:t>
                </a:r>
                <a14:m>
                  <m:oMath xmlns:m="http://schemas.openxmlformats.org/officeDocument/2006/math">
                    <m:r>
                      <a:rPr lang="en-US" altLang="zh-CN" sz="15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𝑖𝑅</m:t>
                    </m:r>
                  </m:oMath>
                </a14:m>
                <a:endParaRPr lang="zh-CN" altLang="en-US" sz="15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1980" y="1351915"/>
                <a:ext cx="1231265" cy="442595"/>
              </a:xfrm>
              <a:prstGeom prst="rect">
                <a:avLst/>
              </a:prstGeom>
              <a:blipFill rotWithShape="1">
                <a:blip r:embed="rId4"/>
                <a:stretch>
                  <a:fillRect l="-774" t="-2152" r="-774" b="-2152"/>
                </a:stretch>
              </a:blipFill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肘形连接符 47"/>
          <p:cNvCxnSpPr>
            <a:stCxn id="40" idx="3"/>
            <a:endCxn id="45" idx="1"/>
          </p:cNvCxnSpPr>
          <p:nvPr/>
        </p:nvCxnSpPr>
        <p:spPr>
          <a:xfrm>
            <a:off x="6494780" y="1205865"/>
            <a:ext cx="524510" cy="3676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45" idx="3"/>
            <a:endCxn id="47" idx="1"/>
          </p:cNvCxnSpPr>
          <p:nvPr/>
        </p:nvCxnSpPr>
        <p:spPr>
          <a:xfrm>
            <a:off x="9119870" y="1573530"/>
            <a:ext cx="37211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82" name="组合 81"/>
          <p:cNvGrpSpPr/>
          <p:nvPr/>
        </p:nvGrpSpPr>
        <p:grpSpPr>
          <a:xfrm>
            <a:off x="996315" y="3429000"/>
            <a:ext cx="9319895" cy="1800860"/>
            <a:chOff x="1569" y="5400"/>
            <a:chExt cx="14677" cy="283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矩形 59"/>
                <p:cNvSpPr/>
                <p:nvPr/>
              </p:nvSpPr>
              <p:spPr>
                <a:xfrm>
                  <a:off x="1569" y="5400"/>
                  <a:ext cx="1733" cy="69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500">
                      <a:solidFill>
                        <a:schemeClr val="tx1"/>
                      </a:solidFill>
                      <a:latin typeface="Cambria Math" panose="02040503050406030204" charset="0"/>
                      <a:cs typeface="Cambria Math" panose="02040503050406030204" charset="0"/>
                    </a:rPr>
                    <a:t>子点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𝑖𝑅</m:t>
                          </m:r>
                        </m:e>
                        <m:sub>
                          <m: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zh-CN" altLang="en-US" sz="150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0" name="矩形 5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9" y="5400"/>
                  <a:ext cx="1733" cy="697"/>
                </a:xfrm>
                <a:prstGeom prst="rect">
                  <a:avLst/>
                </a:prstGeom>
                <a:blipFill rotWithShape="1">
                  <a:blip r:embed="rId6"/>
                </a:blipFill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矩形 60"/>
                <p:cNvSpPr/>
                <p:nvPr/>
              </p:nvSpPr>
              <p:spPr>
                <a:xfrm>
                  <a:off x="1569" y="6470"/>
                  <a:ext cx="1733" cy="69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500">
                      <a:solidFill>
                        <a:schemeClr val="tx1"/>
                      </a:solidFill>
                      <a:latin typeface="Cambria Math" panose="02040503050406030204" charset="0"/>
                      <a:cs typeface="Cambria Math" panose="02040503050406030204" charset="0"/>
                    </a:rPr>
                    <a:t>子点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𝑖𝑅</m:t>
                          </m:r>
                        </m:e>
                        <m:sub>
                          <m: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zh-CN" altLang="en-US" sz="150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1" name="矩形 6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9" y="6470"/>
                  <a:ext cx="1733" cy="697"/>
                </a:xfrm>
                <a:prstGeom prst="rect">
                  <a:avLst/>
                </a:prstGeom>
                <a:blipFill rotWithShape="1">
                  <a:blip r:embed="rId7"/>
                </a:blipFill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矩形 61"/>
                <p:cNvSpPr/>
                <p:nvPr/>
              </p:nvSpPr>
              <p:spPr>
                <a:xfrm>
                  <a:off x="1569" y="7540"/>
                  <a:ext cx="1733" cy="69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500">
                      <a:solidFill>
                        <a:schemeClr val="tx1"/>
                      </a:solidFill>
                      <a:latin typeface="Cambria Math" panose="02040503050406030204" charset="0"/>
                      <a:cs typeface="Cambria Math" panose="02040503050406030204" charset="0"/>
                    </a:rPr>
                    <a:t>子点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𝑖𝑅</m:t>
                          </m:r>
                        </m:e>
                        <m:sub>
                          <m: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</m:oMath>
                  </a14:m>
                  <a:endParaRPr lang="zh-CN" altLang="en-US" sz="150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2" name="矩形 6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9" y="7540"/>
                  <a:ext cx="1733" cy="697"/>
                </a:xfrm>
                <a:prstGeom prst="rect">
                  <a:avLst/>
                </a:prstGeom>
                <a:blipFill rotWithShape="1">
                  <a:blip r:embed="rId8"/>
                </a:blipFill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矩形 63"/>
            <p:cNvSpPr/>
            <p:nvPr/>
          </p:nvSpPr>
          <p:spPr>
            <a:xfrm>
              <a:off x="4550" y="6350"/>
              <a:ext cx="2483" cy="93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500">
                  <a:solidFill>
                    <a:schemeClr val="tx1"/>
                  </a:solidFill>
                </a:rPr>
                <a:t>高斯归一化积</a:t>
              </a:r>
              <a:endParaRPr lang="zh-CN" altLang="en-US" sz="1500">
                <a:solidFill>
                  <a:schemeClr val="tx1"/>
                </a:solidFill>
              </a:endParaRPr>
            </a:p>
          </p:txBody>
        </p:sp>
        <p:cxnSp>
          <p:nvCxnSpPr>
            <p:cNvPr id="65" name="肘形连接符 64"/>
            <p:cNvCxnSpPr>
              <a:stCxn id="60" idx="3"/>
              <a:endCxn id="64" idx="1"/>
            </p:cNvCxnSpPr>
            <p:nvPr/>
          </p:nvCxnSpPr>
          <p:spPr>
            <a:xfrm>
              <a:off x="3302" y="5749"/>
              <a:ext cx="1248" cy="1070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6" name="肘形连接符 65"/>
            <p:cNvCxnSpPr>
              <a:stCxn id="62" idx="3"/>
              <a:endCxn id="64" idx="1"/>
            </p:cNvCxnSpPr>
            <p:nvPr/>
          </p:nvCxnSpPr>
          <p:spPr>
            <a:xfrm flipV="1">
              <a:off x="3302" y="6819"/>
              <a:ext cx="1248" cy="1070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7" name="直接箭头连接符 66"/>
            <p:cNvCxnSpPr>
              <a:stCxn id="61" idx="3"/>
              <a:endCxn id="64" idx="1"/>
            </p:cNvCxnSpPr>
            <p:nvPr/>
          </p:nvCxnSpPr>
          <p:spPr>
            <a:xfrm>
              <a:off x="3302" y="6819"/>
              <a:ext cx="124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矩形 69"/>
                <p:cNvSpPr/>
                <p:nvPr/>
              </p:nvSpPr>
              <p:spPr>
                <a:xfrm>
                  <a:off x="7771" y="7315"/>
                  <a:ext cx="1939" cy="69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500">
                      <a:solidFill>
                        <a:schemeClr val="tx1"/>
                      </a:solidFill>
                      <a:latin typeface="Cambria Math" panose="02040503050406030204" charset="0"/>
                      <a:cs typeface="Cambria Math" panose="02040503050406030204" charset="0"/>
                    </a:rPr>
                    <a:t>更新父点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5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𝑝𝑖</m:t>
                          </m:r>
                        </m:sub>
                      </m:sSub>
                    </m:oMath>
                  </a14:m>
                  <a:endParaRPr lang="zh-CN" altLang="en-US" sz="150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0" name="矩形 6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1" y="7315"/>
                  <a:ext cx="1939" cy="697"/>
                </a:xfrm>
                <a:prstGeom prst="rect">
                  <a:avLst/>
                </a:prstGeom>
                <a:blipFill rotWithShape="1">
                  <a:blip r:embed="rId9"/>
                </a:blipFill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矩形 70"/>
                <p:cNvSpPr/>
                <p:nvPr/>
              </p:nvSpPr>
              <p:spPr>
                <a:xfrm>
                  <a:off x="7771" y="5625"/>
                  <a:ext cx="1939" cy="69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500">
                      <a:solidFill>
                        <a:schemeClr val="tx1"/>
                      </a:solidFill>
                      <a:latin typeface="Cambria Math" panose="02040503050406030204" charset="0"/>
                      <a:cs typeface="Cambria Math" panose="02040503050406030204" charset="0"/>
                    </a:rPr>
                    <a:t>更新父点</a:t>
                  </a:r>
                  <a14:m>
                    <m:oMath xmlns:m="http://schemas.openxmlformats.org/officeDocument/2006/math">
                      <m:r>
                        <a:rPr lang="en-US" altLang="zh-CN" sz="15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𝑖𝑅</m:t>
                      </m:r>
                    </m:oMath>
                  </a14:m>
                  <a:endParaRPr lang="zh-CN" altLang="en-US" sz="150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1" name="矩形 7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1" y="5625"/>
                  <a:ext cx="1939" cy="697"/>
                </a:xfrm>
                <a:prstGeom prst="rect">
                  <a:avLst/>
                </a:prstGeom>
                <a:blipFill rotWithShape="1">
                  <a:blip r:embed="rId10"/>
                </a:blipFill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肘形连接符 71"/>
            <p:cNvCxnSpPr>
              <a:stCxn id="64" idx="3"/>
              <a:endCxn id="71" idx="1"/>
            </p:cNvCxnSpPr>
            <p:nvPr/>
          </p:nvCxnSpPr>
          <p:spPr>
            <a:xfrm flipV="1">
              <a:off x="7033" y="5974"/>
              <a:ext cx="738" cy="845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3" name="肘形连接符 72"/>
            <p:cNvCxnSpPr>
              <a:stCxn id="64" idx="3"/>
              <a:endCxn id="70" idx="1"/>
            </p:cNvCxnSpPr>
            <p:nvPr/>
          </p:nvCxnSpPr>
          <p:spPr>
            <a:xfrm>
              <a:off x="7033" y="6819"/>
              <a:ext cx="738" cy="845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矩形 75"/>
                <p:cNvSpPr/>
                <p:nvPr/>
              </p:nvSpPr>
              <p:spPr>
                <a:xfrm>
                  <a:off x="10414" y="6350"/>
                  <a:ext cx="3308" cy="93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500">
                      <a:solidFill>
                        <a:schemeClr val="tx1"/>
                      </a:solidFill>
                    </a:rPr>
                    <a:t>考虑相邻点</a:t>
                  </a:r>
                  <a14:m>
                    <m:oMath xmlns:m="http://schemas.openxmlformats.org/officeDocument/2006/math">
                      <m:r>
                        <a:rPr lang="en-US" altLang="zh-CN" sz="15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𝑖𝑅</m:t>
                      </m:r>
                    </m:oMath>
                  </a14:m>
                  <a:r>
                    <a:rPr lang="zh-CN" altLang="en-US" sz="1500">
                      <a:solidFill>
                        <a:schemeClr val="tx1"/>
                      </a:solidFill>
                      <a:latin typeface="Cambria Math" panose="02040503050406030204" charset="0"/>
                      <a:cs typeface="Cambria Math" panose="02040503050406030204" charset="0"/>
                    </a:rPr>
                    <a:t>的连续性</a:t>
                  </a:r>
                  <a:endParaRPr lang="zh-CN" altLang="en-US" sz="1500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76" name="矩形 7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4" y="6350"/>
                  <a:ext cx="3308" cy="937"/>
                </a:xfrm>
                <a:prstGeom prst="rect">
                  <a:avLst/>
                </a:prstGeom>
                <a:blipFill rotWithShape="1">
                  <a:blip r:embed="rId5"/>
                </a:blipFill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矩形 76"/>
                <p:cNvSpPr/>
                <p:nvPr/>
              </p:nvSpPr>
              <p:spPr>
                <a:xfrm>
                  <a:off x="14308" y="6470"/>
                  <a:ext cx="1939" cy="697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500">
                      <a:solidFill>
                        <a:schemeClr val="tx1"/>
                      </a:solidFill>
                      <a:latin typeface="Cambria Math" panose="02040503050406030204" charset="0"/>
                      <a:cs typeface="Cambria Math" panose="02040503050406030204" charset="0"/>
                    </a:rPr>
                    <a:t>更新父点</a:t>
                  </a:r>
                  <a14:m>
                    <m:oMath xmlns:m="http://schemas.openxmlformats.org/officeDocument/2006/math">
                      <m:r>
                        <a:rPr lang="en-US" altLang="zh-CN" sz="1500" i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𝑖𝑅</m:t>
                      </m:r>
                    </m:oMath>
                  </a14:m>
                  <a:endParaRPr lang="zh-CN" altLang="en-US" sz="150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7" name="矩形 7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08" y="6470"/>
                  <a:ext cx="1939" cy="697"/>
                </a:xfrm>
                <a:prstGeom prst="rect">
                  <a:avLst/>
                </a:prstGeom>
                <a:blipFill rotWithShape="1">
                  <a:blip r:embed="rId10"/>
                </a:blipFill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肘形连接符 79"/>
            <p:cNvCxnSpPr>
              <a:stCxn id="71" idx="3"/>
              <a:endCxn id="76" idx="1"/>
            </p:cNvCxnSpPr>
            <p:nvPr/>
          </p:nvCxnSpPr>
          <p:spPr>
            <a:xfrm>
              <a:off x="9710" y="5974"/>
              <a:ext cx="704" cy="845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1" name="直接箭头连接符 80"/>
            <p:cNvCxnSpPr>
              <a:stCxn id="76" idx="3"/>
              <a:endCxn id="77" idx="1"/>
            </p:cNvCxnSpPr>
            <p:nvPr/>
          </p:nvCxnSpPr>
          <p:spPr>
            <a:xfrm>
              <a:off x="13722" y="6819"/>
              <a:ext cx="58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3" name="组合 12"/>
          <p:cNvGrpSpPr/>
          <p:nvPr/>
        </p:nvGrpSpPr>
        <p:grpSpPr>
          <a:xfrm>
            <a:off x="-199390" y="1941195"/>
            <a:ext cx="14345920" cy="2542540"/>
            <a:chOff x="-5344" y="3398"/>
            <a:chExt cx="22592" cy="4004"/>
          </a:xfrm>
        </p:grpSpPr>
        <p:grpSp>
          <p:nvGrpSpPr>
            <p:cNvPr id="9" name="组合 8"/>
            <p:cNvGrpSpPr/>
            <p:nvPr/>
          </p:nvGrpSpPr>
          <p:grpSpPr>
            <a:xfrm>
              <a:off x="-5344" y="3398"/>
              <a:ext cx="16966" cy="4005"/>
              <a:chOff x="1116" y="3397"/>
              <a:chExt cx="16966" cy="4005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17" y="3397"/>
                <a:ext cx="16965" cy="4005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" name="矩形 4"/>
                  <p:cNvSpPr/>
                  <p:nvPr/>
                </p:nvSpPr>
                <p:spPr>
                  <a:xfrm>
                    <a:off x="1116" y="3397"/>
                    <a:ext cx="12691" cy="2963"/>
                  </a:xfrm>
                  <a:prstGeom prst="rect">
                    <a:avLst/>
                  </a:prstGeom>
                  <a:solidFill>
                    <a:srgbClr val="000000">
                      <a:alpha val="0"/>
                    </a:srgbClr>
                  </a:solidFill>
                  <a:ln w="19050"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8000" b="1">
                              <a:gradFill>
                                <a:gsLst>
                                  <a:gs pos="0">
                                    <a:srgbClr val="7B32B2"/>
                                  </a:gs>
                                  <a:gs pos="100000">
                                    <a:srgbClr val="401A5D"/>
                                  </a:gs>
                                </a:gsLst>
                                <a:lin scaled="0"/>
                              </a:gra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𝐔</m:t>
                          </m:r>
                        </m:oMath>
                      </m:oMathPara>
                    </a14:m>
                    <a:endParaRPr lang="en-US" altLang="zh-CN" sz="8000" b="1">
                      <a:gradFill>
                        <a:gsLst>
                          <a:gs pos="0">
                            <a:srgbClr val="7B32B2"/>
                          </a:gs>
                          <a:gs pos="100000">
                            <a:srgbClr val="401A5D"/>
                          </a:gs>
                        </a:gsLst>
                        <a:lin scaled="0"/>
                      </a:gradFill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5" name="矩形 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6" y="3397"/>
                    <a:ext cx="12691" cy="2963"/>
                  </a:xfrm>
                  <a:prstGeom prst="rect">
                    <a:avLst/>
                  </a:prstGeom>
                  <a:blipFill rotWithShape="1">
                    <a:blip r:embed="rId2"/>
                  </a:blipFill>
                  <a:ln w="19050"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矩形 5"/>
                  <p:cNvSpPr/>
                  <p:nvPr/>
                </p:nvSpPr>
                <p:spPr>
                  <a:xfrm>
                    <a:off x="13806" y="3397"/>
                    <a:ext cx="4276" cy="2963"/>
                  </a:xfrm>
                  <a:prstGeom prst="rect">
                    <a:avLst/>
                  </a:prstGeom>
                  <a:solidFill>
                    <a:srgbClr val="000000">
                      <a:alpha val="0"/>
                    </a:srgbClr>
                  </a:solidFill>
                  <a:ln w="19050"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8000" b="1">
                              <a:solidFill>
                                <a:srgbClr val="7030A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𝐖</m:t>
                          </m:r>
                        </m:oMath>
                      </m:oMathPara>
                    </a14:m>
                    <a:endParaRPr lang="en-US" altLang="zh-CN" sz="8000" b="1">
                      <a:solidFill>
                        <a:srgbClr val="7030A0"/>
                      </a:solidFill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6" name="矩形 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06" y="3397"/>
                    <a:ext cx="4276" cy="2963"/>
                  </a:xfrm>
                  <a:prstGeom prst="rect">
                    <a:avLst/>
                  </a:prstGeom>
                  <a:blipFill rotWithShape="1">
                    <a:blip r:embed="rId3"/>
                  </a:blipFill>
                  <a:ln w="19050"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" name="矩形 6"/>
                  <p:cNvSpPr/>
                  <p:nvPr/>
                </p:nvSpPr>
                <p:spPr>
                  <a:xfrm>
                    <a:off x="1117" y="6360"/>
                    <a:ext cx="12689" cy="1043"/>
                  </a:xfrm>
                  <a:prstGeom prst="rect">
                    <a:avLst/>
                  </a:prstGeom>
                  <a:solidFill>
                    <a:srgbClr val="000000">
                      <a:alpha val="0"/>
                    </a:srgbClr>
                  </a:solidFill>
                  <a:ln w="19050"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4400" b="1">
                                  <a:solidFill>
                                    <a:srgbClr val="7030A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4400" b="1">
                                  <a:solidFill>
                                    <a:srgbClr val="7030A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𝐖</m:t>
                              </m:r>
                            </m:e>
                            <m:sup>
                              <m:r>
                                <a:rPr lang="en-US" altLang="zh-CN" sz="4400" b="1">
                                  <a:solidFill>
                                    <a:srgbClr val="7030A0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𝐓</m:t>
                              </m:r>
                            </m:sup>
                          </m:sSup>
                        </m:oMath>
                      </m:oMathPara>
                    </a14:m>
                    <a:endParaRPr lang="en-US" altLang="zh-CN" sz="4400" b="1">
                      <a:solidFill>
                        <a:srgbClr val="7030A0"/>
                      </a:solidFill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7" name="矩形 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7" y="6360"/>
                    <a:ext cx="12689" cy="1043"/>
                  </a:xfrm>
                  <a:prstGeom prst="rect">
                    <a:avLst/>
                  </a:prstGeom>
                  <a:blipFill rotWithShape="1">
                    <a:blip r:embed="rId4"/>
                  </a:blipFill>
                  <a:ln w="19050"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矩形 7"/>
                  <p:cNvSpPr/>
                  <p:nvPr/>
                </p:nvSpPr>
                <p:spPr>
                  <a:xfrm>
                    <a:off x="13805" y="6359"/>
                    <a:ext cx="4277" cy="1043"/>
                  </a:xfrm>
                  <a:prstGeom prst="rect">
                    <a:avLst/>
                  </a:prstGeom>
                  <a:solidFill>
                    <a:srgbClr val="000000">
                      <a:alpha val="0"/>
                    </a:srgbClr>
                  </a:solidFill>
                  <a:ln w="19050"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4400" b="1">
                              <a:solidFill>
                                <a:srgbClr val="7030A0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𝐯</m:t>
                          </m:r>
                        </m:oMath>
                      </m:oMathPara>
                    </a14:m>
                    <a:endParaRPr lang="en-US" altLang="zh-CN" sz="4400" b="1">
                      <a:solidFill>
                        <a:srgbClr val="7030A0"/>
                      </a:solidFill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8" name="矩形 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05" y="6359"/>
                    <a:ext cx="4277" cy="1043"/>
                  </a:xfrm>
                  <a:prstGeom prst="rect">
                    <a:avLst/>
                  </a:prstGeom>
                  <a:blipFill rotWithShape="1">
                    <a:blip r:embed="rId5"/>
                  </a:blipFill>
                  <a:ln w="19050"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377" y="3398"/>
              <a:ext cx="4871" cy="4005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矩形 10"/>
                <p:cNvSpPr/>
                <p:nvPr/>
              </p:nvSpPr>
              <p:spPr>
                <a:xfrm>
                  <a:off x="12376" y="6360"/>
                  <a:ext cx="4872" cy="1043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 w="190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4400" b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4400" b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4400" b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𝐛</m:t>
                            </m:r>
                          </m:e>
                          <m:sub>
                            <m:r>
                              <a:rPr lang="en-US" altLang="zh-CN" sz="4400" b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𝐯</m:t>
                            </m:r>
                          </m:sub>
                        </m:sSub>
                      </m:oMath>
                    </m:oMathPara>
                  </a14:m>
                  <a:endParaRPr lang="en-US" altLang="zh-CN" sz="4400" b="1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1" name="矩形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76" y="6360"/>
                  <a:ext cx="4872" cy="1043"/>
                </a:xfrm>
                <a:prstGeom prst="rect">
                  <a:avLst/>
                </a:prstGeom>
                <a:blipFill rotWithShape="1">
                  <a:blip r:embed="rId7"/>
                </a:blipFill>
                <a:ln w="190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矩形 11"/>
                <p:cNvSpPr/>
                <p:nvPr/>
              </p:nvSpPr>
              <p:spPr>
                <a:xfrm>
                  <a:off x="12376" y="3398"/>
                  <a:ext cx="4872" cy="2962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 w="190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0" b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8000" b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8000" b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𝐛</m:t>
                            </m:r>
                          </m:e>
                          <m:sub>
                            <m:r>
                              <a:rPr lang="en-US" altLang="zh-CN" sz="8000" b="1">
                                <a:solidFill>
                                  <a:srgbClr val="7030A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𝐔</m:t>
                            </m:r>
                          </m:sub>
                        </m:sSub>
                      </m:oMath>
                    </m:oMathPara>
                  </a14:m>
                  <a:endParaRPr lang="en-US" altLang="zh-CN" sz="8000" b="1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2" name="矩形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76" y="3398"/>
                  <a:ext cx="4872" cy="2962"/>
                </a:xfrm>
                <a:prstGeom prst="rect">
                  <a:avLst/>
                </a:prstGeom>
                <a:blipFill rotWithShape="1">
                  <a:blip r:embed="rId8"/>
                </a:blipFill>
                <a:ln w="190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</Words>
  <Application>WPS 演示</Application>
  <PresentationFormat>宽屏</PresentationFormat>
  <Paragraphs>106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Cambria Math</vt:lpstr>
      <vt:lpstr>Calibri</vt:lpstr>
      <vt:lpstr>微软雅黑</vt:lpstr>
      <vt:lpstr>Arial Unicode MS</vt:lpstr>
      <vt:lpstr>Calibri Light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lucky-lu</cp:lastModifiedBy>
  <cp:revision>450</cp:revision>
  <dcterms:created xsi:type="dcterms:W3CDTF">2025-01-18T08:47:24Z</dcterms:created>
  <dcterms:modified xsi:type="dcterms:W3CDTF">2025-01-18T08:47:24Z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2052-12.1.0.17900</vt:lpwstr>
  </property>
  <property fmtid="{D5CDD505-2E9C-101B-9397-08002B2CF9AE}" pid="3" name="ICV">
    <vt:lpwstr>76CF4E3188277A8A9BD2856750BBA0A2_41</vt:lpwstr>
  </property>
</Properties>
</file>