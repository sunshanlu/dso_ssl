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handoutMasterIdLst>
    <p:handoutMasterId r:id="rId30"/>
  </p:handout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5"/>
    <p:sldId id="268" r:id="rId16"/>
    <p:sldId id="269" r:id="rId17"/>
    <p:sldId id="270" r:id="rId18"/>
    <p:sldId id="271" r:id="rId19"/>
    <p:sldId id="272" r:id="rId20"/>
    <p:sldId id="274" r:id="rId21"/>
    <p:sldId id="275" r:id="rId22"/>
    <p:sldId id="277" r:id="rId23"/>
    <p:sldId id="276" r:id="rId24"/>
    <p:sldId id="278" r:id="rId25"/>
    <p:sldId id="280" r:id="rId26"/>
    <p:sldId id="281" r:id="rId27"/>
    <p:sldId id="282" r:id="rId28"/>
    <p:sldId id="283" r:id="rId29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50" userDrawn="1">
          <p15:clr>
            <a:srgbClr val="A4A3A4"/>
          </p15:clr>
        </p15:guide>
        <p15:guide id="2" pos="369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1E1E1E"/>
    <a:srgbClr val="EEECEE"/>
    <a:srgbClr val="000DF6"/>
    <a:srgbClr val="00028C"/>
    <a:srgbClr val="000BE4"/>
    <a:srgbClr val="FF9671"/>
    <a:srgbClr val="F9F871"/>
    <a:srgbClr val="D65DB1"/>
    <a:srgbClr val="4D7F7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78" autoAdjust="0"/>
    <p:restoredTop sz="94660"/>
  </p:normalViewPr>
  <p:slideViewPr>
    <p:cSldViewPr showGuides="1">
      <p:cViewPr varScale="1">
        <p:scale>
          <a:sx n="75" d="100"/>
          <a:sy n="75" d="100"/>
        </p:scale>
        <p:origin x="90" y="96"/>
      </p:cViewPr>
      <p:guideLst>
        <p:guide orient="horz" pos="2250"/>
        <p:guide pos="3695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36000" cy="36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3" Type="http://schemas.openxmlformats.org/officeDocument/2006/relationships/tableStyles" Target="tableStyles.xml"/><Relationship Id="rId32" Type="http://schemas.openxmlformats.org/officeDocument/2006/relationships/viewProps" Target="viewProps.xml"/><Relationship Id="rId31" Type="http://schemas.openxmlformats.org/officeDocument/2006/relationships/presProps" Target="presProps.xml"/><Relationship Id="rId30" Type="http://schemas.openxmlformats.org/officeDocument/2006/relationships/handoutMaster" Target="handoutMasters/handoutMaster1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3751117"/>
            <a:ext cx="7321550" cy="811357"/>
          </a:xfrm>
        </p:spPr>
        <p:txBody>
          <a:bodyPr anchor="b">
            <a:normAutofit/>
          </a:bodyPr>
          <a:lstStyle>
            <a:lvl1pPr>
              <a:defRPr sz="4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7321550" cy="64755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2400" b="1" i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8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36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2.png"/><Relationship Id="rId1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image" Target="../media/image27.png"/><Relationship Id="rId8" Type="http://schemas.openxmlformats.org/officeDocument/2006/relationships/image" Target="../media/image26.png"/><Relationship Id="rId7" Type="http://schemas.openxmlformats.org/officeDocument/2006/relationships/image" Target="../media/image25.png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1" Type="http://schemas.openxmlformats.org/officeDocument/2006/relationships/slideLayout" Target="../slideLayouts/slideLayout2.xml"/><Relationship Id="rId10" Type="http://schemas.openxmlformats.org/officeDocument/2006/relationships/image" Target="../media/image28.png"/><Relationship Id="rId1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.xml"/><Relationship Id="rId8" Type="http://schemas.openxmlformats.org/officeDocument/2006/relationships/image" Target="../media/image36.png"/><Relationship Id="rId7" Type="http://schemas.openxmlformats.org/officeDocument/2006/relationships/image" Target="../media/image35.png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image" Target="../media/image29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.xml"/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40.png"/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image" Target="../media/image37.png"/></Relationships>
</file>

<file path=ppt/slides/_rels/slide1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2.png"/><Relationship Id="rId1" Type="http://schemas.openxmlformats.org/officeDocument/2006/relationships/image" Target="../media/image41.png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.xml"/><Relationship Id="rId8" Type="http://schemas.openxmlformats.org/officeDocument/2006/relationships/image" Target="../media/image46.png"/><Relationship Id="rId7" Type="http://schemas.openxmlformats.org/officeDocument/2006/relationships/image" Target="../media/image45.png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0.png"/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image" Target="../media/image3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7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9.png"/><Relationship Id="rId1" Type="http://schemas.openxmlformats.org/officeDocument/2006/relationships/image" Target="../media/image48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0.png"/></Relationships>
</file>

<file path=ppt/slides/_rels/slide23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.xml"/><Relationship Id="rId8" Type="http://schemas.openxmlformats.org/officeDocument/2006/relationships/image" Target="../media/image58.png"/><Relationship Id="rId7" Type="http://schemas.openxmlformats.org/officeDocument/2006/relationships/image" Target="../media/image57.png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54.png"/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image" Target="../media/image51.png"/></Relationships>
</file>

<file path=ppt/slides/_rels/slide24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63.png"/><Relationship Id="rId4" Type="http://schemas.openxmlformats.org/officeDocument/2006/relationships/image" Target="../media/image62.png"/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image" Target="../media/image59.png"/></Relationships>
</file>

<file path=ppt/slides/_rels/slide25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image" Target="../media/image64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表格 6"/>
          <p:cNvGraphicFramePr/>
          <p:nvPr/>
        </p:nvGraphicFramePr>
        <p:xfrm>
          <a:off x="933768" y="2166938"/>
          <a:ext cx="2520315" cy="25687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/>
                <a:gridCol w="360000"/>
                <a:gridCol w="360045"/>
                <a:gridCol w="360045"/>
                <a:gridCol w="360045"/>
                <a:gridCol w="359910"/>
                <a:gridCol w="359955"/>
              </a:tblGrid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  <a:tr h="36703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  <a:tr h="3672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  <a:tr h="3672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  <a:tr h="3672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  <a:tr h="3672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  <a:tr h="3672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表格 8"/>
          <p:cNvGraphicFramePr/>
          <p:nvPr/>
        </p:nvGraphicFramePr>
        <p:xfrm>
          <a:off x="8528050" y="1982470"/>
          <a:ext cx="2880000" cy="2937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/>
                <a:gridCol w="360000"/>
                <a:gridCol w="360000"/>
                <a:gridCol w="360000"/>
                <a:gridCol w="360045"/>
                <a:gridCol w="359955"/>
                <a:gridCol w="360000"/>
                <a:gridCol w="360000"/>
              </a:tblGrid>
              <a:tr h="3672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  <a:tr h="3672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  <a:tr h="3672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  <a:tr h="3672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  <a:tr h="3672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  <a:tr h="3672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  <a:tr h="3672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  <a:tr h="3672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10" name="圆角矩形 9"/>
              <p:cNvSpPr/>
              <p:nvPr/>
            </p:nvSpPr>
            <p:spPr>
              <a:xfrm>
                <a:off x="4184650" y="3275648"/>
                <a:ext cx="1562100" cy="714375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𝑛𝑜𝑟𝑚</m:t>
                          </m:r>
                        </m:sub>
                      </m:sSub>
                      <m:r>
                        <a:rPr lang="en-US" altLang="zh-CN" sz="1600" i="1">
                          <a:solidFill>
                            <a:schemeClr val="tx1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p>
                        <m:sSupPr>
                          <m:ctrlP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p>
                          <m: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</m:t>
                          </m:r>
                        </m:sup>
                      </m:sSup>
                      <m:sSub>
                        <m:sSubPr>
                          <m:ctrlP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altLang="zh-CN" sz="1600" i="1">
                  <a:solidFill>
                    <a:schemeClr val="tx1"/>
                  </a:solidFill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10" name="圆角矩形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84650" y="3275648"/>
                <a:ext cx="1562100" cy="714375"/>
              </a:xfrm>
              <a:prstGeom prst="roundRect">
                <a:avLst/>
              </a:prstGeom>
              <a:blipFill rotWithShape="1">
                <a:blip r:embed="rId1"/>
                <a:stretch>
                  <a:fillRect l="-610" t="-1378" r="-610" b="-1289"/>
                </a:stretch>
              </a:blipFill>
              <a:ln w="19050"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圆角矩形 10"/>
              <p:cNvSpPr/>
              <p:nvPr/>
            </p:nvSpPr>
            <p:spPr>
              <a:xfrm>
                <a:off x="6218555" y="3275648"/>
                <a:ext cx="1837690" cy="714375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𝑖</m:t>
                          </m:r>
                        </m:sub>
                        <m:sup>
                          <m: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𝑑𝑖𝑠</m:t>
                          </m:r>
                        </m:sup>
                      </m:sSubSup>
                      <m:r>
                        <a:rPr lang="en-US" altLang="zh-CN" sz="1600" i="1">
                          <a:solidFill>
                            <a:schemeClr val="tx1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𝑜𝑟𝑔</m:t>
                          </m:r>
                        </m:sub>
                      </m:sSub>
                      <m:sSub>
                        <m:sSubPr>
                          <m:ctrlP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𝑛𝑜𝑟𝑚</m:t>
                          </m:r>
                        </m:sub>
                      </m:sSub>
                    </m:oMath>
                  </m:oMathPara>
                </a14:m>
                <a:endParaRPr lang="en-US" altLang="zh-CN" sz="1600" i="1">
                  <a:solidFill>
                    <a:schemeClr val="tx1"/>
                  </a:solidFill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11" name="圆角矩形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18555" y="3275648"/>
                <a:ext cx="1837690" cy="714375"/>
              </a:xfrm>
              <a:prstGeom prst="roundRect">
                <a:avLst/>
              </a:prstGeom>
              <a:blipFill rotWithShape="1">
                <a:blip r:embed="rId2"/>
                <a:stretch>
                  <a:fillRect l="-518" t="-1378" r="-518" b="-1289"/>
                </a:stretch>
              </a:blipFill>
              <a:ln w="19050"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直接箭头连接符 18"/>
          <p:cNvCxnSpPr>
            <a:stCxn id="7" idx="3"/>
            <a:endCxn id="10" idx="1"/>
          </p:cNvCxnSpPr>
          <p:nvPr/>
        </p:nvCxnSpPr>
        <p:spPr>
          <a:xfrm>
            <a:off x="3454400" y="3450908"/>
            <a:ext cx="730250" cy="18161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0" name="直接箭头连接符 19"/>
          <p:cNvCxnSpPr>
            <a:stCxn id="10" idx="0"/>
            <a:endCxn id="2" idx="2"/>
          </p:cNvCxnSpPr>
          <p:nvPr/>
        </p:nvCxnSpPr>
        <p:spPr>
          <a:xfrm flipV="1">
            <a:off x="4965700" y="2881630"/>
            <a:ext cx="1025525" cy="394335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1" name="直接箭头连接符 20"/>
          <p:cNvCxnSpPr>
            <a:stCxn id="11" idx="3"/>
            <a:endCxn id="9" idx="1"/>
          </p:cNvCxnSpPr>
          <p:nvPr/>
        </p:nvCxnSpPr>
        <p:spPr>
          <a:xfrm flipV="1">
            <a:off x="8056245" y="3451225"/>
            <a:ext cx="471805" cy="18161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2" name="文本框 21"/>
          <p:cNvSpPr txBox="1"/>
          <p:nvPr/>
        </p:nvSpPr>
        <p:spPr>
          <a:xfrm>
            <a:off x="1147763" y="1798955"/>
            <a:ext cx="20923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/>
              <a:t>无畸变像素坐标系</a:t>
            </a:r>
            <a:endParaRPr lang="zh-CN" altLang="en-US"/>
          </a:p>
        </p:txBody>
      </p:sp>
      <p:sp>
        <p:nvSpPr>
          <p:cNvPr id="23" name="文本框 22"/>
          <p:cNvSpPr txBox="1"/>
          <p:nvPr/>
        </p:nvSpPr>
        <p:spPr>
          <a:xfrm>
            <a:off x="8921433" y="1614170"/>
            <a:ext cx="20923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/>
              <a:t>畸变像素坐标系</a:t>
            </a:r>
            <a:endParaRPr lang="zh-CN" altLang="en-US"/>
          </a:p>
        </p:txBody>
      </p:sp>
      <p:cxnSp>
        <p:nvCxnSpPr>
          <p:cNvPr id="24" name="曲线连接符 23"/>
          <p:cNvCxnSpPr>
            <a:stCxn id="10" idx="2"/>
            <a:endCxn id="11" idx="2"/>
          </p:cNvCxnSpPr>
          <p:nvPr/>
        </p:nvCxnSpPr>
        <p:spPr>
          <a:xfrm rot="5400000" flipV="1">
            <a:off x="6051550" y="2904490"/>
            <a:ext cx="3175" cy="2171700"/>
          </a:xfrm>
          <a:prstGeom prst="curvedConnector3">
            <a:avLst>
              <a:gd name="adj1" fmla="val 25010000"/>
            </a:avLst>
          </a:prstGeom>
          <a:ln w="19050">
            <a:solidFill>
              <a:schemeClr val="tx1"/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5" name="文本框 24"/>
              <p:cNvSpPr txBox="1"/>
              <p:nvPr/>
            </p:nvSpPr>
            <p:spPr>
              <a:xfrm>
                <a:off x="5389245" y="4238625"/>
                <a:ext cx="1413510" cy="3194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400" b="1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sz="1400" b="1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𝒑</m:t>
                        </m:r>
                      </m:e>
                      <m:sub>
                        <m:r>
                          <a:rPr lang="en-US" altLang="zh-CN" sz="1400" b="1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𝒊</m:t>
                        </m:r>
                      </m:sub>
                    </m:sSub>
                  </m:oMath>
                </a14:m>
                <a:r>
                  <a:rPr lang="zh-CN" altLang="en-US" sz="1400" b="1">
                    <a:solidFill>
                      <a:schemeClr val="tx1"/>
                    </a:solidFill>
                    <a:latin typeface="Cambria Math" panose="02040503050406030204" charset="0"/>
                    <a:cs typeface="Cambria Math" panose="02040503050406030204" charset="0"/>
                  </a:rPr>
                  <a:t>和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CN" sz="1400" b="1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SupPr>
                      <m:e>
                        <m:r>
                          <a:rPr lang="en-US" altLang="zh-CN" sz="1400" b="1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𝒑</m:t>
                        </m:r>
                      </m:e>
                      <m:sub>
                        <m:r>
                          <a:rPr lang="en-US" altLang="zh-CN" sz="1400" b="1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𝒊</m:t>
                        </m:r>
                      </m:sub>
                      <m:sup>
                        <m:r>
                          <a:rPr lang="en-US" altLang="zh-CN" sz="1400" b="1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𝒅𝒊𝒔</m:t>
                        </m:r>
                      </m:sup>
                    </m:sSubSup>
                  </m:oMath>
                </a14:m>
                <a:r>
                  <a:rPr lang="zh-CN" altLang="en-US" sz="1400" b="1">
                    <a:solidFill>
                      <a:schemeClr val="tx1"/>
                    </a:solidFill>
                    <a:latin typeface="Cambria Math" panose="02040503050406030204" charset="0"/>
                    <a:cs typeface="Cambria Math" panose="02040503050406030204" charset="0"/>
                  </a:rPr>
                  <a:t>的映射</a:t>
                </a:r>
                <a:endParaRPr lang="zh-CN" altLang="en-US" sz="1400" b="1">
                  <a:solidFill>
                    <a:schemeClr val="tx1"/>
                  </a:solidFill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25" name="文本框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9245" y="4238625"/>
                <a:ext cx="1413510" cy="319405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" name="圆角矩形 1"/>
              <p:cNvSpPr/>
              <p:nvPr/>
            </p:nvSpPr>
            <p:spPr>
              <a:xfrm>
                <a:off x="4923155" y="2167255"/>
                <a:ext cx="2135505" cy="714375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𝑛𝑜𝑟𝑚</m:t>
                          </m:r>
                        </m:sub>
                        <m:sup>
                          <m: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𝑑𝑖𝑠</m:t>
                          </m:r>
                        </m:sup>
                      </m:sSubSup>
                      <m:r>
                        <a:rPr lang="en-US" altLang="zh-CN" sz="1600" i="1">
                          <a:solidFill>
                            <a:schemeClr val="tx1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sz="1600" i="1">
                          <a:solidFill>
                            <a:schemeClr val="tx1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𝑑</m:t>
                      </m:r>
                      <m:r>
                        <a:rPr lang="en-US" altLang="zh-CN" sz="1600" i="1">
                          <a:solidFill>
                            <a:schemeClr val="tx1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(</m:t>
                      </m:r>
                      <m:sSub>
                        <m:sSubPr>
                          <m:ctrlP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𝑛𝑜𝑟𝑚</m:t>
                          </m:r>
                        </m:sub>
                      </m:sSub>
                      <m:r>
                        <a:rPr lang="en-US" altLang="zh-CN" sz="1600" i="1">
                          <a:solidFill>
                            <a:schemeClr val="tx1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,</m:t>
                      </m:r>
                      <m:r>
                        <a:rPr lang="en-US" altLang="zh-CN" sz="1600" i="1">
                          <a:solidFill>
                            <a:schemeClr val="tx1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𝑘</m:t>
                      </m:r>
                      <m:r>
                        <a:rPr lang="en-US" altLang="zh-CN" sz="1600" i="1">
                          <a:solidFill>
                            <a:schemeClr val="tx1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)</m:t>
                      </m:r>
                    </m:oMath>
                  </m:oMathPara>
                </a14:m>
                <a:endParaRPr lang="en-US" altLang="zh-CN" sz="1600" i="1">
                  <a:solidFill>
                    <a:schemeClr val="tx1"/>
                  </a:solidFill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2" name="圆角矩形 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3155" y="2167255"/>
                <a:ext cx="2135505" cy="714375"/>
              </a:xfrm>
              <a:prstGeom prst="roundRect">
                <a:avLst/>
              </a:prstGeom>
              <a:blipFill rotWithShape="1">
                <a:blip r:embed="rId4"/>
                <a:stretch>
                  <a:fillRect l="-446" t="-1333" r="-446" b="-1333"/>
                </a:stretch>
              </a:blipFill>
              <a:ln w="19050"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直接箭头连接符 3"/>
          <p:cNvCxnSpPr>
            <a:stCxn id="2" idx="2"/>
            <a:endCxn id="11" idx="0"/>
          </p:cNvCxnSpPr>
          <p:nvPr/>
        </p:nvCxnSpPr>
        <p:spPr>
          <a:xfrm>
            <a:off x="5991225" y="2881630"/>
            <a:ext cx="1146175" cy="394335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7" name="文本框 16"/>
          <p:cNvSpPr txBox="1"/>
          <p:nvPr/>
        </p:nvSpPr>
        <p:spPr>
          <a:xfrm>
            <a:off x="1570355" y="2438400"/>
            <a:ext cx="113728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600" b="1"/>
              <a:t>图像分块</a:t>
            </a:r>
            <a:endParaRPr lang="zh-CN" altLang="en-US" sz="1600" b="1"/>
          </a:p>
        </p:txBody>
      </p:sp>
      <p:grpSp>
        <p:nvGrpSpPr>
          <p:cNvPr id="25" name="组合 24"/>
          <p:cNvGrpSpPr/>
          <p:nvPr/>
        </p:nvGrpSpPr>
        <p:grpSpPr>
          <a:xfrm>
            <a:off x="692150" y="2762885"/>
            <a:ext cx="2893060" cy="2063750"/>
            <a:chOff x="1090" y="4351"/>
            <a:chExt cx="4556" cy="3250"/>
          </a:xfrm>
        </p:grpSpPr>
        <p:grpSp>
          <p:nvGrpSpPr>
            <p:cNvPr id="18" name="组合 17"/>
            <p:cNvGrpSpPr/>
            <p:nvPr/>
          </p:nvGrpSpPr>
          <p:grpSpPr>
            <a:xfrm>
              <a:off x="1090" y="4351"/>
              <a:ext cx="4556" cy="3250"/>
              <a:chOff x="1690" y="2617"/>
              <a:chExt cx="6540" cy="5298"/>
            </a:xfrm>
          </p:grpSpPr>
          <p:sp>
            <p:nvSpPr>
              <p:cNvPr id="4" name="矩形 3"/>
              <p:cNvSpPr/>
              <p:nvPr/>
            </p:nvSpPr>
            <p:spPr>
              <a:xfrm>
                <a:off x="1690" y="2617"/>
                <a:ext cx="6540" cy="5298"/>
              </a:xfrm>
              <a:prstGeom prst="rect">
                <a:avLst/>
              </a:prstGeom>
              <a:gradFill>
                <a:gsLst>
                  <a:gs pos="0">
                    <a:srgbClr val="7030A0"/>
                  </a:gs>
                  <a:gs pos="50000">
                    <a:srgbClr val="4E8397"/>
                  </a:gs>
                  <a:gs pos="100000">
                    <a:srgbClr val="D5CABD"/>
                  </a:gs>
                </a:gsLst>
                <a:lin ang="8700000" scaled="0"/>
              </a:gradFill>
              <a:ln w="19050"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5" name="矩形 4"/>
              <p:cNvSpPr/>
              <p:nvPr/>
            </p:nvSpPr>
            <p:spPr>
              <a:xfrm>
                <a:off x="1690" y="2617"/>
                <a:ext cx="1134" cy="1134"/>
              </a:xfrm>
              <a:prstGeom prst="rect">
                <a:avLst/>
              </a:prstGeom>
              <a:noFill/>
              <a:ln w="19050">
                <a:solidFill>
                  <a:schemeClr val="bg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8" name="矩形 7"/>
              <p:cNvSpPr/>
              <p:nvPr/>
            </p:nvSpPr>
            <p:spPr>
              <a:xfrm>
                <a:off x="2824" y="2617"/>
                <a:ext cx="1134" cy="1134"/>
              </a:xfrm>
              <a:prstGeom prst="rect">
                <a:avLst/>
              </a:prstGeom>
              <a:noFill/>
              <a:ln w="19050">
                <a:solidFill>
                  <a:schemeClr val="bg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11" name="矩形 10"/>
              <p:cNvSpPr/>
              <p:nvPr/>
            </p:nvSpPr>
            <p:spPr>
              <a:xfrm>
                <a:off x="1690" y="3751"/>
                <a:ext cx="1134" cy="1134"/>
              </a:xfrm>
              <a:prstGeom prst="rect">
                <a:avLst/>
              </a:prstGeom>
              <a:noFill/>
              <a:ln w="19050">
                <a:solidFill>
                  <a:schemeClr val="bg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13" name="矩形 12"/>
              <p:cNvSpPr/>
              <p:nvPr/>
            </p:nvSpPr>
            <p:spPr>
              <a:xfrm>
                <a:off x="7096" y="2617"/>
                <a:ext cx="1134" cy="1134"/>
              </a:xfrm>
              <a:prstGeom prst="rect">
                <a:avLst/>
              </a:prstGeom>
              <a:noFill/>
              <a:ln w="19050">
                <a:solidFill>
                  <a:schemeClr val="bg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14" name="矩形 13"/>
              <p:cNvSpPr/>
              <p:nvPr/>
            </p:nvSpPr>
            <p:spPr>
              <a:xfrm>
                <a:off x="1690" y="6781"/>
                <a:ext cx="1134" cy="1134"/>
              </a:xfrm>
              <a:prstGeom prst="rect">
                <a:avLst/>
              </a:prstGeom>
              <a:noFill/>
              <a:ln w="19050">
                <a:solidFill>
                  <a:schemeClr val="bg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16" name="矩形 15"/>
              <p:cNvSpPr/>
              <p:nvPr/>
            </p:nvSpPr>
            <p:spPr>
              <a:xfrm>
                <a:off x="7096" y="6781"/>
                <a:ext cx="1134" cy="1134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</p:grpSp>
        <p:sp>
          <p:nvSpPr>
            <p:cNvPr id="19" name="文本框 18"/>
            <p:cNvSpPr txBox="1"/>
            <p:nvPr/>
          </p:nvSpPr>
          <p:spPr>
            <a:xfrm>
              <a:off x="3166" y="4351"/>
              <a:ext cx="1194" cy="69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lang="en-US" altLang="zh-CN">
                  <a:solidFill>
                    <a:schemeClr val="bg1"/>
                  </a:solidFill>
                  <a:latin typeface="+mj-ea"/>
                  <a:ea typeface="+mj-ea"/>
                </a:rPr>
                <a:t>……</a:t>
              </a:r>
              <a:endParaRPr lang="en-US" altLang="zh-CN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  <p:sp>
          <p:nvSpPr>
            <p:cNvPr id="20" name="文本框 19"/>
            <p:cNvSpPr txBox="1"/>
            <p:nvPr/>
          </p:nvSpPr>
          <p:spPr>
            <a:xfrm rot="5400000">
              <a:off x="4700" y="5627"/>
              <a:ext cx="1194" cy="69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lang="en-US" altLang="zh-CN">
                  <a:solidFill>
                    <a:schemeClr val="bg1"/>
                  </a:solidFill>
                  <a:latin typeface="+mj-ea"/>
                  <a:ea typeface="+mj-ea"/>
                </a:rPr>
                <a:t>……</a:t>
              </a:r>
              <a:endParaRPr lang="en-US" altLang="zh-CN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  <p:sp>
          <p:nvSpPr>
            <p:cNvPr id="21" name="文本框 20"/>
            <p:cNvSpPr txBox="1"/>
            <p:nvPr/>
          </p:nvSpPr>
          <p:spPr>
            <a:xfrm rot="2100000">
              <a:off x="1945" y="5326"/>
              <a:ext cx="1194" cy="69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lang="en-US" altLang="zh-CN">
                  <a:solidFill>
                    <a:schemeClr val="bg1"/>
                  </a:solidFill>
                  <a:latin typeface="+mj-ea"/>
                  <a:ea typeface="+mj-ea"/>
                </a:rPr>
                <a:t>……</a:t>
              </a:r>
              <a:endParaRPr lang="en-US" altLang="zh-CN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  <p:sp>
          <p:nvSpPr>
            <p:cNvPr id="22" name="文本框 21"/>
            <p:cNvSpPr txBox="1"/>
            <p:nvPr/>
          </p:nvSpPr>
          <p:spPr>
            <a:xfrm>
              <a:off x="3366" y="6905"/>
              <a:ext cx="1194" cy="69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lang="en-US" altLang="zh-CN">
                  <a:solidFill>
                    <a:schemeClr val="bg1"/>
                  </a:solidFill>
                  <a:latin typeface="+mj-ea"/>
                  <a:ea typeface="+mj-ea"/>
                </a:rPr>
                <a:t>……</a:t>
              </a:r>
              <a:endParaRPr lang="en-US" altLang="zh-CN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  <p:sp>
          <p:nvSpPr>
            <p:cNvPr id="23" name="文本框 22"/>
            <p:cNvSpPr txBox="1"/>
            <p:nvPr/>
          </p:nvSpPr>
          <p:spPr>
            <a:xfrm rot="5400000">
              <a:off x="841" y="5959"/>
              <a:ext cx="1194" cy="69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lang="en-US" altLang="zh-CN">
                  <a:solidFill>
                    <a:schemeClr val="bg1"/>
                  </a:solidFill>
                  <a:latin typeface="+mj-ea"/>
                  <a:ea typeface="+mj-ea"/>
                </a:rPr>
                <a:t>……</a:t>
              </a:r>
              <a:endParaRPr lang="en-US" altLang="zh-CN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26" name="文本框 25"/>
          <p:cNvSpPr txBox="1"/>
          <p:nvPr/>
        </p:nvSpPr>
        <p:spPr>
          <a:xfrm>
            <a:off x="4617085" y="2683510"/>
            <a:ext cx="113728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600" b="1"/>
              <a:t>梯度统计</a:t>
            </a:r>
            <a:endParaRPr lang="zh-CN" altLang="en-US" sz="1600" b="1"/>
          </a:p>
        </p:txBody>
      </p:sp>
      <p:pic>
        <p:nvPicPr>
          <p:cNvPr id="31" name="图片 3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76420" y="3091815"/>
            <a:ext cx="1619250" cy="1405890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cxnSp>
        <p:nvCxnSpPr>
          <p:cNvPr id="32" name="直接箭头连接符 31"/>
          <p:cNvCxnSpPr/>
          <p:nvPr/>
        </p:nvCxnSpPr>
        <p:spPr>
          <a:xfrm flipV="1">
            <a:off x="3594100" y="4502150"/>
            <a:ext cx="2393950" cy="32385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3" name="直接箭头连接符 32"/>
          <p:cNvCxnSpPr/>
          <p:nvPr/>
        </p:nvCxnSpPr>
        <p:spPr>
          <a:xfrm flipV="1">
            <a:off x="3093085" y="3101340"/>
            <a:ext cx="1280795" cy="130302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5" name="文本框 34"/>
              <p:cNvSpPr txBox="1"/>
              <p:nvPr/>
            </p:nvSpPr>
            <p:spPr>
              <a:xfrm>
                <a:off x="6058535" y="3457575"/>
                <a:ext cx="2199640" cy="3371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zh-CN" altLang="en-US" sz="1600" b="1">
                    <a:latin typeface="Cambria Math" panose="02040503050406030204" charset="0"/>
                    <a:cs typeface="Cambria Math" panose="02040503050406030204" charset="0"/>
                  </a:rPr>
                  <a:t>块</a:t>
                </a:r>
                <a:r>
                  <a:rPr lang="en-US" altLang="zh-CN" sz="1600" b="1">
                    <a:latin typeface="Cambria Math" panose="02040503050406030204" charset="0"/>
                    <a:cs typeface="Cambria Math" panose="02040503050406030204" charset="0"/>
                  </a:rPr>
                  <a:t>0.5</a:t>
                </a:r>
                <a:r>
                  <a:rPr lang="zh-CN" altLang="en-US" sz="1600" b="1">
                    <a:latin typeface="Cambria Math" panose="02040503050406030204" charset="0"/>
                    <a:cs typeface="Cambria Math" panose="02040503050406030204" charset="0"/>
                  </a:rPr>
                  <a:t>分位数梯度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600" b="1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sz="1600" b="1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𝒈</m:t>
                        </m:r>
                      </m:e>
                      <m:sub>
                        <m:r>
                          <a:rPr lang="en-US" altLang="zh-CN" sz="1600" b="1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𝟎</m:t>
                        </m:r>
                        <m:r>
                          <a:rPr lang="en-US" altLang="zh-CN" sz="1600" b="1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.</m:t>
                        </m:r>
                        <m:r>
                          <a:rPr lang="en-US" altLang="zh-CN" sz="1600" b="1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𝟓</m:t>
                        </m:r>
                      </m:sub>
                    </m:sSub>
                  </m:oMath>
                </a14:m>
                <a:endParaRPr lang="en-US" altLang="zh-CN" sz="1600" b="1" i="1">
                  <a:solidFill>
                    <a:schemeClr val="tx1"/>
                  </a:solidFill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35" name="文本框 3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58535" y="3457575"/>
                <a:ext cx="2199640" cy="337185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直接箭头连接符 36"/>
          <p:cNvCxnSpPr>
            <a:stCxn id="31" idx="3"/>
            <a:endCxn id="38" idx="1"/>
          </p:cNvCxnSpPr>
          <p:nvPr/>
        </p:nvCxnSpPr>
        <p:spPr>
          <a:xfrm>
            <a:off x="5995670" y="3794760"/>
            <a:ext cx="2262505" cy="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8" name="矩形 37"/>
              <p:cNvSpPr/>
              <p:nvPr/>
            </p:nvSpPr>
            <p:spPr>
              <a:xfrm>
                <a:off x="8258175" y="3465195"/>
                <a:ext cx="1858645" cy="65913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1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b="1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𝒈</m:t>
                          </m:r>
                        </m:e>
                        <m:sub>
                          <m:r>
                            <a:rPr lang="en-US" altLang="zh-CN" b="1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𝟎</m:t>
                          </m:r>
                          <m:r>
                            <a:rPr lang="en-US" altLang="zh-CN" b="1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.</m:t>
                          </m:r>
                          <m:r>
                            <a:rPr lang="en-US" altLang="zh-CN" b="1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𝟓</m:t>
                          </m:r>
                        </m:sub>
                      </m:sSub>
                      <m:r>
                        <a:rPr lang="en-US" altLang="zh-CN" b="1" i="1">
                          <a:solidFill>
                            <a:schemeClr val="tx1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b="1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b="1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𝒈</m:t>
                          </m:r>
                        </m:e>
                        <m:sub>
                          <m:r>
                            <a:rPr lang="en-US" altLang="zh-CN" b="1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𝒃𝒊𝒂𝒔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ln>
                    <a:solidFill>
                      <a:sysClr val="windowText" lastClr="000000"/>
                    </a:solidFill>
                  </a:ln>
                  <a:solidFill>
                    <a:schemeClr val="tx1"/>
                  </a:solidFill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38" name="矩形 3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58175" y="3465195"/>
                <a:ext cx="1858645" cy="659130"/>
              </a:xfrm>
              <a:prstGeom prst="rect">
                <a:avLst/>
              </a:prstGeom>
              <a:blipFill rotWithShape="1">
                <a:blip r:embed="rId3"/>
                <a:stretch>
                  <a:fillRect l="-512" t="-1445" r="-512" b="-1445"/>
                </a:stretch>
              </a:blipFill>
              <a:ln w="19050"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aphicFrame>
        <p:nvGraphicFramePr>
          <p:cNvPr id="9" name="表格 8"/>
          <p:cNvGraphicFramePr/>
          <p:nvPr/>
        </p:nvGraphicFramePr>
        <p:xfrm>
          <a:off x="2216150" y="1626870"/>
          <a:ext cx="4972050" cy="33046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52450"/>
                <a:gridCol w="552450"/>
                <a:gridCol w="552450"/>
                <a:gridCol w="552450"/>
                <a:gridCol w="552450"/>
                <a:gridCol w="552450"/>
                <a:gridCol w="552450"/>
                <a:gridCol w="552450"/>
                <a:gridCol w="552450"/>
              </a:tblGrid>
              <a:tr h="36703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  <a:tr h="3672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  <a:tr h="3672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  <a:tr h="3672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  <a:tr h="3672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  <a:tr h="3672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  <a:tr h="3672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  <a:tr h="3672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  <a:tr h="3672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4" name="矩形 3"/>
              <p:cNvSpPr/>
              <p:nvPr/>
            </p:nvSpPr>
            <p:spPr>
              <a:xfrm>
                <a:off x="2216150" y="1626870"/>
                <a:ext cx="1100455" cy="736600"/>
              </a:xfrm>
              <a:prstGeom prst="rect">
                <a:avLst/>
              </a:prstGeom>
              <a:noFill/>
              <a:ln w="28575">
                <a:solidFill>
                  <a:srgbClr val="C00000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>
                          <a:latin typeface="Cambria Math" panose="02040503050406030204" charset="0"/>
                          <a:cs typeface="Cambria Math" panose="02040503050406030204" charset="0"/>
                        </a:rPr>
                        <m:t>pot</m:t>
                      </m:r>
                      <m:r>
                        <a:rPr lang="en-US" altLang="zh-CN">
                          <a:latin typeface="Cambria Math" panose="02040503050406030204" charset="0"/>
                          <a:cs typeface="Cambria Math" panose="02040503050406030204" charset="0"/>
                        </a:rPr>
                        <m:t>∗</m:t>
                      </m:r>
                      <m:r>
                        <m:rPr>
                          <m:sty m:val="p"/>
                        </m:rPr>
                        <a:rPr lang="en-US" altLang="zh-CN">
                          <a:latin typeface="Cambria Math" panose="02040503050406030204" charset="0"/>
                          <a:cs typeface="Cambria Math" panose="02040503050406030204" charset="0"/>
                        </a:rPr>
                        <m:t>pot</m:t>
                      </m:r>
                    </m:oMath>
                  </m:oMathPara>
                </a14:m>
                <a:endParaRPr lang="en-US" altLang="zh-CN"/>
              </a:p>
            </p:txBody>
          </p:sp>
        </mc:Choice>
        <mc:Fallback>
          <p:sp>
            <p:nvSpPr>
              <p:cNvPr id="4" name="矩形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6150" y="1626870"/>
                <a:ext cx="1100455" cy="736600"/>
              </a:xfrm>
              <a:prstGeom prst="rect">
                <a:avLst/>
              </a:prstGeom>
              <a:blipFill rotWithShape="1">
                <a:blip r:embed="rId1"/>
                <a:stretch>
                  <a:fillRect l="-1327" t="-1983" r="-1269" b="-1897"/>
                </a:stretch>
              </a:blipFill>
              <a:ln w="28575">
                <a:solidFill>
                  <a:srgbClr val="C00000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矩形 6"/>
              <p:cNvSpPr/>
              <p:nvPr/>
            </p:nvSpPr>
            <p:spPr>
              <a:xfrm>
                <a:off x="2216150" y="1626870"/>
                <a:ext cx="2216785" cy="1472565"/>
              </a:xfrm>
              <a:prstGeom prst="rect">
                <a:avLst/>
              </a:prstGeom>
              <a:noFill/>
              <a:ln w="28575">
                <a:solidFill>
                  <a:srgbClr val="D65DB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>
                          <a:latin typeface="Cambria Math" panose="02040503050406030204" charset="0"/>
                          <a:cs typeface="Cambria Math" panose="02040503050406030204" charset="0"/>
                        </a:rPr>
                        <m:t>2</m:t>
                      </m:r>
                      <m:r>
                        <m:rPr>
                          <m:sty m:val="p"/>
                        </m:rPr>
                        <a:rPr lang="en-US" altLang="zh-CN">
                          <a:latin typeface="Cambria Math" panose="02040503050406030204" charset="0"/>
                          <a:cs typeface="Cambria Math" panose="02040503050406030204" charset="0"/>
                        </a:rPr>
                        <m:t>pot</m:t>
                      </m:r>
                      <m:r>
                        <a:rPr lang="en-US" altLang="zh-CN">
                          <a:latin typeface="Cambria Math" panose="02040503050406030204" charset="0"/>
                          <a:cs typeface="Cambria Math" panose="02040503050406030204" charset="0"/>
                        </a:rPr>
                        <m:t>∗</m:t>
                      </m:r>
                      <m:r>
                        <a:rPr lang="en-US" altLang="zh-CN">
                          <a:latin typeface="Cambria Math" panose="02040503050406030204" charset="0"/>
                          <a:cs typeface="Cambria Math" panose="02040503050406030204" charset="0"/>
                        </a:rPr>
                        <m:t>2</m:t>
                      </m:r>
                      <m:r>
                        <m:rPr>
                          <m:sty m:val="p"/>
                        </m:rPr>
                        <a:rPr lang="en-US" altLang="zh-CN">
                          <a:latin typeface="Cambria Math" panose="02040503050406030204" charset="0"/>
                          <a:cs typeface="Cambria Math" panose="02040503050406030204" charset="0"/>
                        </a:rPr>
                        <m:t>pot</m:t>
                      </m:r>
                    </m:oMath>
                  </m:oMathPara>
                </a14:m>
                <a:endParaRPr lang="en-US" altLang="zh-CN"/>
              </a:p>
            </p:txBody>
          </p:sp>
        </mc:Choice>
        <mc:Fallback>
          <p:sp>
            <p:nvSpPr>
              <p:cNvPr id="7" name="矩形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6150" y="1626870"/>
                <a:ext cx="2216785" cy="1472565"/>
              </a:xfrm>
              <a:prstGeom prst="rect">
                <a:avLst/>
              </a:prstGeom>
              <a:blipFill rotWithShape="1">
                <a:blip r:embed="rId2"/>
                <a:stretch>
                  <a:fillRect l="-659" t="-992" r="-630" b="-949"/>
                </a:stretch>
              </a:blipFill>
              <a:ln w="28575">
                <a:solidFill>
                  <a:srgbClr val="D65DB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矩形 7"/>
              <p:cNvSpPr/>
              <p:nvPr/>
            </p:nvSpPr>
            <p:spPr>
              <a:xfrm>
                <a:off x="2216150" y="1626870"/>
                <a:ext cx="4432300" cy="2936240"/>
              </a:xfrm>
              <a:prstGeom prst="rect">
                <a:avLst/>
              </a:prstGeom>
              <a:noFill/>
              <a:ln w="28575">
                <a:solidFill>
                  <a:srgbClr val="FF967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>
                          <a:latin typeface="Cambria Math" panose="02040503050406030204" charset="0"/>
                          <a:cs typeface="Cambria Math" panose="02040503050406030204" charset="0"/>
                        </a:rPr>
                        <m:t>4</m:t>
                      </m:r>
                      <m:r>
                        <m:rPr>
                          <m:sty m:val="p"/>
                        </m:rPr>
                        <a:rPr lang="en-US" altLang="zh-CN">
                          <a:latin typeface="Cambria Math" panose="02040503050406030204" charset="0"/>
                          <a:cs typeface="Cambria Math" panose="02040503050406030204" charset="0"/>
                        </a:rPr>
                        <m:t>pot</m:t>
                      </m:r>
                      <m:r>
                        <a:rPr lang="en-US" altLang="zh-CN">
                          <a:latin typeface="Cambria Math" panose="02040503050406030204" charset="0"/>
                          <a:cs typeface="Cambria Math" panose="02040503050406030204" charset="0"/>
                        </a:rPr>
                        <m:t>∗</m:t>
                      </m:r>
                      <m:r>
                        <a:rPr lang="en-US" altLang="zh-CN">
                          <a:latin typeface="Cambria Math" panose="02040503050406030204" charset="0"/>
                          <a:cs typeface="Cambria Math" panose="02040503050406030204" charset="0"/>
                        </a:rPr>
                        <m:t>4</m:t>
                      </m:r>
                      <m:r>
                        <m:rPr>
                          <m:sty m:val="p"/>
                        </m:rPr>
                        <a:rPr lang="en-US" altLang="zh-CN">
                          <a:latin typeface="Cambria Math" panose="02040503050406030204" charset="0"/>
                          <a:cs typeface="Cambria Math" panose="02040503050406030204" charset="0"/>
                        </a:rPr>
                        <m:t>pot</m:t>
                      </m:r>
                    </m:oMath>
                  </m:oMathPara>
                </a14:m>
                <a:endParaRPr lang="en-US" altLang="zh-CN"/>
              </a:p>
            </p:txBody>
          </p:sp>
        </mc:Choice>
        <mc:Fallback>
          <p:sp>
            <p:nvSpPr>
              <p:cNvPr id="8" name="矩形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6150" y="1626870"/>
                <a:ext cx="4432300" cy="2936240"/>
              </a:xfrm>
              <a:prstGeom prst="rect">
                <a:avLst/>
              </a:prstGeom>
              <a:blipFill rotWithShape="1">
                <a:blip r:embed="rId3"/>
                <a:stretch>
                  <a:fillRect l="-330" t="-497" r="-315" b="-476"/>
                </a:stretch>
              </a:blipFill>
              <a:ln w="28575">
                <a:solidFill>
                  <a:srgbClr val="FF967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6" name="组合 5"/>
          <p:cNvGrpSpPr/>
          <p:nvPr/>
        </p:nvGrpSpPr>
        <p:grpSpPr>
          <a:xfrm>
            <a:off x="963930" y="767080"/>
            <a:ext cx="9903460" cy="4582160"/>
            <a:chOff x="1518" y="1208"/>
            <a:chExt cx="15596" cy="7216"/>
          </a:xfrm>
          <a:noFill/>
        </p:grpSpPr>
        <p:pic>
          <p:nvPicPr>
            <p:cNvPr id="4" name="图片 3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518" y="1208"/>
              <a:ext cx="10884" cy="7216"/>
            </a:xfrm>
            <a:prstGeom prst="rect">
              <a:avLst/>
            </a:prstGeom>
            <a:grpFill/>
          </p:spPr>
        </p:pic>
        <p:pic>
          <p:nvPicPr>
            <p:cNvPr id="5" name="图片 4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802" y="2076"/>
              <a:ext cx="4313" cy="5480"/>
            </a:xfrm>
            <a:prstGeom prst="rect">
              <a:avLst/>
            </a:prstGeom>
            <a:grpFill/>
          </p:spPr>
        </p:pic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21" name="组合 20"/>
          <p:cNvGrpSpPr/>
          <p:nvPr/>
        </p:nvGrpSpPr>
        <p:grpSpPr>
          <a:xfrm>
            <a:off x="2152650" y="1950085"/>
            <a:ext cx="3524250" cy="2701290"/>
            <a:chOff x="3390" y="3071"/>
            <a:chExt cx="5550" cy="4254"/>
          </a:xfrm>
        </p:grpSpPr>
        <p:sp>
          <p:nvSpPr>
            <p:cNvPr id="7" name="任意多边形 6"/>
            <p:cNvSpPr/>
            <p:nvPr/>
          </p:nvSpPr>
          <p:spPr>
            <a:xfrm>
              <a:off x="3390" y="3891"/>
              <a:ext cx="5550" cy="3435"/>
            </a:xfrm>
            <a:custGeom>
              <a:avLst/>
              <a:gdLst>
                <a:gd name="connisteX0" fmla="*/ 1457325 w 3524250"/>
                <a:gd name="connsiteY0" fmla="*/ 0 h 2181225"/>
                <a:gd name="connisteX1" fmla="*/ 0 w 3524250"/>
                <a:gd name="connsiteY1" fmla="*/ 2162175 h 2181225"/>
                <a:gd name="connisteX2" fmla="*/ 3524250 w 3524250"/>
                <a:gd name="connsiteY2" fmla="*/ 2181225 h 2181225"/>
                <a:gd name="connisteX3" fmla="*/ 1457325 w 3524250"/>
                <a:gd name="connsiteY3" fmla="*/ 0 h 2181225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</a:cxnLst>
              <a:rect l="l" t="t" r="r" b="b"/>
              <a:pathLst>
                <a:path w="3524250" h="2181225">
                  <a:moveTo>
                    <a:pt x="1457325" y="0"/>
                  </a:moveTo>
                  <a:lnTo>
                    <a:pt x="0" y="2162175"/>
                  </a:lnTo>
                  <a:lnTo>
                    <a:pt x="3524250" y="2181225"/>
                  </a:lnTo>
                  <a:lnTo>
                    <a:pt x="1457325" y="0"/>
                  </a:lnTo>
                  <a:close/>
                </a:path>
              </a:pathLst>
            </a:custGeom>
            <a:noFill/>
            <a:ln w="19050">
              <a:solidFill>
                <a:srgbClr val="7030A0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845EC2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cxnSp>
          <p:nvCxnSpPr>
            <p:cNvPr id="8" name="直接连接符 7"/>
            <p:cNvCxnSpPr>
              <a:stCxn id="7" idx="2"/>
            </p:cNvCxnSpPr>
            <p:nvPr/>
          </p:nvCxnSpPr>
          <p:spPr>
            <a:xfrm flipH="1" flipV="1">
              <a:off x="5380" y="4355"/>
              <a:ext cx="3560" cy="2971"/>
            </a:xfrm>
            <a:prstGeom prst="line">
              <a:avLst/>
            </a:prstGeom>
            <a:ln w="190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9" name="直接连接符 8"/>
            <p:cNvCxnSpPr>
              <a:stCxn id="7" idx="2"/>
            </p:cNvCxnSpPr>
            <p:nvPr/>
          </p:nvCxnSpPr>
          <p:spPr>
            <a:xfrm flipH="1" flipV="1">
              <a:off x="5992" y="3403"/>
              <a:ext cx="2948" cy="3923"/>
            </a:xfrm>
            <a:prstGeom prst="line">
              <a:avLst/>
            </a:prstGeom>
            <a:ln w="190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0" name="直接连接符 9"/>
            <p:cNvCxnSpPr>
              <a:endCxn id="7" idx="1"/>
            </p:cNvCxnSpPr>
            <p:nvPr/>
          </p:nvCxnSpPr>
          <p:spPr>
            <a:xfrm flipH="1">
              <a:off x="3390" y="3071"/>
              <a:ext cx="2843" cy="4225"/>
            </a:xfrm>
            <a:prstGeom prst="line">
              <a:avLst/>
            </a:prstGeom>
            <a:ln w="19050">
              <a:solidFill>
                <a:srgbClr val="7030A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5" name="直接连接符 14"/>
            <p:cNvCxnSpPr/>
            <p:nvPr/>
          </p:nvCxnSpPr>
          <p:spPr>
            <a:xfrm>
              <a:off x="3743" y="5948"/>
              <a:ext cx="778" cy="64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6" name="直接连接符 15"/>
            <p:cNvCxnSpPr/>
            <p:nvPr/>
          </p:nvCxnSpPr>
          <p:spPr>
            <a:xfrm flipV="1">
              <a:off x="7548" y="5920"/>
              <a:ext cx="1023" cy="778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19" name="左大括号 18"/>
            <p:cNvSpPr/>
            <p:nvPr/>
          </p:nvSpPr>
          <p:spPr>
            <a:xfrm rot="2040000">
              <a:off x="5406" y="3228"/>
              <a:ext cx="300" cy="1123"/>
            </a:xfrm>
            <a:prstGeom prst="leftBrace">
              <a:avLst>
                <a:gd name="adj1" fmla="val 146583"/>
                <a:gd name="adj2" fmla="val 50000"/>
              </a:avLst>
            </a:prstGeom>
            <a:ln w="19050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grpSp>
        <p:nvGrpSpPr>
          <p:cNvPr id="22" name="组合 21"/>
          <p:cNvGrpSpPr/>
          <p:nvPr/>
        </p:nvGrpSpPr>
        <p:grpSpPr>
          <a:xfrm>
            <a:off x="7225665" y="1374140"/>
            <a:ext cx="1203325" cy="3258820"/>
            <a:chOff x="11379" y="2164"/>
            <a:chExt cx="1895" cy="5132"/>
          </a:xfrm>
        </p:grpSpPr>
        <p:sp>
          <p:nvSpPr>
            <p:cNvPr id="11" name="任意多边形 10"/>
            <p:cNvSpPr/>
            <p:nvPr/>
          </p:nvSpPr>
          <p:spPr>
            <a:xfrm>
              <a:off x="11657" y="3861"/>
              <a:ext cx="1209" cy="3435"/>
            </a:xfrm>
            <a:custGeom>
              <a:avLst/>
              <a:gdLst>
                <a:gd name="connisteX0" fmla="*/ 1457325 w 3524250"/>
                <a:gd name="connsiteY0" fmla="*/ 0 h 2181225"/>
                <a:gd name="connisteX1" fmla="*/ 0 w 3524250"/>
                <a:gd name="connsiteY1" fmla="*/ 2162175 h 2181225"/>
                <a:gd name="connisteX2" fmla="*/ 3524250 w 3524250"/>
                <a:gd name="connsiteY2" fmla="*/ 2181225 h 2181225"/>
                <a:gd name="connisteX3" fmla="*/ 1457325 w 3524250"/>
                <a:gd name="connsiteY3" fmla="*/ 0 h 2181225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</a:cxnLst>
              <a:rect l="l" t="t" r="r" b="b"/>
              <a:pathLst>
                <a:path w="3524250" h="2181225">
                  <a:moveTo>
                    <a:pt x="1457325" y="0"/>
                  </a:moveTo>
                  <a:lnTo>
                    <a:pt x="0" y="2162175"/>
                  </a:lnTo>
                  <a:lnTo>
                    <a:pt x="3524250" y="2181225"/>
                  </a:lnTo>
                  <a:lnTo>
                    <a:pt x="1457325" y="0"/>
                  </a:lnTo>
                  <a:close/>
                </a:path>
              </a:pathLst>
            </a:custGeom>
            <a:noFill/>
            <a:ln w="19050">
              <a:solidFill>
                <a:srgbClr val="7030A0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845EC2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cxnSp>
          <p:nvCxnSpPr>
            <p:cNvPr id="12" name="直接连接符 11"/>
            <p:cNvCxnSpPr/>
            <p:nvPr/>
          </p:nvCxnSpPr>
          <p:spPr>
            <a:xfrm flipH="1" flipV="1">
              <a:off x="12004" y="4890"/>
              <a:ext cx="862" cy="2406"/>
            </a:xfrm>
            <a:prstGeom prst="line">
              <a:avLst/>
            </a:prstGeom>
            <a:ln w="190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3" name="直接连接符 12"/>
            <p:cNvCxnSpPr/>
            <p:nvPr/>
          </p:nvCxnSpPr>
          <p:spPr>
            <a:xfrm flipH="1" flipV="1">
              <a:off x="12371" y="2364"/>
              <a:ext cx="495" cy="4932"/>
            </a:xfrm>
            <a:prstGeom prst="line">
              <a:avLst/>
            </a:prstGeom>
            <a:ln w="190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4" name="直接连接符 13"/>
            <p:cNvCxnSpPr>
              <a:endCxn id="11" idx="1"/>
            </p:cNvCxnSpPr>
            <p:nvPr/>
          </p:nvCxnSpPr>
          <p:spPr>
            <a:xfrm flipH="1">
              <a:off x="11657" y="2164"/>
              <a:ext cx="744" cy="5102"/>
            </a:xfrm>
            <a:prstGeom prst="line">
              <a:avLst/>
            </a:prstGeom>
            <a:ln w="19050">
              <a:solidFill>
                <a:srgbClr val="7030A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7" name="直接连接符 16"/>
            <p:cNvCxnSpPr/>
            <p:nvPr/>
          </p:nvCxnSpPr>
          <p:spPr>
            <a:xfrm>
              <a:off x="11379" y="6084"/>
              <a:ext cx="791" cy="314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8" name="直接连接符 17"/>
            <p:cNvCxnSpPr/>
            <p:nvPr/>
          </p:nvCxnSpPr>
          <p:spPr>
            <a:xfrm flipV="1">
              <a:off x="12252" y="5620"/>
              <a:ext cx="1023" cy="778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20" name="左大括号 19"/>
            <p:cNvSpPr/>
            <p:nvPr/>
          </p:nvSpPr>
          <p:spPr>
            <a:xfrm rot="480000">
              <a:off x="11898" y="2373"/>
              <a:ext cx="300" cy="2508"/>
            </a:xfrm>
            <a:prstGeom prst="leftBrace">
              <a:avLst>
                <a:gd name="adj1" fmla="val 146583"/>
                <a:gd name="adj2" fmla="val 50000"/>
              </a:avLst>
            </a:prstGeom>
            <a:ln w="19050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58" name="组合 57"/>
          <p:cNvGrpSpPr/>
          <p:nvPr/>
        </p:nvGrpSpPr>
        <p:grpSpPr>
          <a:xfrm>
            <a:off x="866140" y="788670"/>
            <a:ext cx="9284970" cy="5508625"/>
            <a:chOff x="1364" y="1242"/>
            <a:chExt cx="14622" cy="8675"/>
          </a:xfrm>
        </p:grpSpPr>
        <p:sp>
          <p:nvSpPr>
            <p:cNvPr id="7" name="矩形 6"/>
            <p:cNvSpPr/>
            <p:nvPr/>
          </p:nvSpPr>
          <p:spPr>
            <a:xfrm>
              <a:off x="3303" y="1242"/>
              <a:ext cx="2139" cy="937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500">
                  <a:solidFill>
                    <a:schemeClr val="tx1"/>
                  </a:solidFill>
                </a:rPr>
                <a:t>图像</a:t>
              </a:r>
              <a:endParaRPr lang="zh-CN" altLang="en-US" sz="1500">
                <a:solidFill>
                  <a:schemeClr val="tx1"/>
                </a:solidFill>
              </a:endParaRPr>
            </a:p>
          </p:txBody>
        </p:sp>
        <p:sp>
          <p:nvSpPr>
            <p:cNvPr id="8" name="矩形 7"/>
            <p:cNvSpPr/>
            <p:nvPr/>
          </p:nvSpPr>
          <p:spPr>
            <a:xfrm>
              <a:off x="6000" y="1242"/>
              <a:ext cx="3023" cy="937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500">
                  <a:solidFill>
                    <a:schemeClr val="tx1"/>
                  </a:solidFill>
                </a:rPr>
                <a:t>图像去畸变</a:t>
              </a:r>
              <a:endParaRPr lang="zh-CN" altLang="en-US" sz="1500">
                <a:solidFill>
                  <a:schemeClr val="tx1"/>
                </a:solidFill>
              </a:endParaRPr>
            </a:p>
          </p:txBody>
        </p:sp>
        <p:cxnSp>
          <p:nvCxnSpPr>
            <p:cNvPr id="9" name="直接箭头连接符 8"/>
            <p:cNvCxnSpPr>
              <a:stCxn id="7" idx="3"/>
              <a:endCxn id="8" idx="1"/>
            </p:cNvCxnSpPr>
            <p:nvPr/>
          </p:nvCxnSpPr>
          <p:spPr>
            <a:xfrm>
              <a:off x="5442" y="1711"/>
              <a:ext cx="558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12" name="菱形 11"/>
            <p:cNvSpPr/>
            <p:nvPr/>
          </p:nvSpPr>
          <p:spPr>
            <a:xfrm>
              <a:off x="6091" y="2612"/>
              <a:ext cx="2846" cy="1182"/>
            </a:xfrm>
            <a:prstGeom prst="diamond">
              <a:avLst/>
            </a:prstGeom>
            <a:noFill/>
            <a:ln w="19050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500">
                  <a:solidFill>
                    <a:schemeClr val="tx1"/>
                  </a:solidFill>
                </a:rPr>
                <a:t>第一帧？</a:t>
              </a:r>
              <a:endParaRPr lang="zh-CN" altLang="en-US" sz="1500">
                <a:solidFill>
                  <a:schemeClr val="tx1"/>
                </a:solidFill>
              </a:endParaRPr>
            </a:p>
          </p:txBody>
        </p:sp>
        <p:cxnSp>
          <p:nvCxnSpPr>
            <p:cNvPr id="13" name="直接箭头连接符 12"/>
            <p:cNvCxnSpPr>
              <a:stCxn id="8" idx="2"/>
              <a:endCxn id="12" idx="0"/>
            </p:cNvCxnSpPr>
            <p:nvPr/>
          </p:nvCxnSpPr>
          <p:spPr>
            <a:xfrm>
              <a:off x="7512" y="2179"/>
              <a:ext cx="2" cy="43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14" name="矩形 13"/>
            <p:cNvSpPr/>
            <p:nvPr/>
          </p:nvSpPr>
          <p:spPr>
            <a:xfrm>
              <a:off x="8940" y="4255"/>
              <a:ext cx="2139" cy="937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500">
                  <a:solidFill>
                    <a:schemeClr val="tx1"/>
                  </a:solidFill>
                </a:rPr>
                <a:t>初始化点选</a:t>
              </a:r>
              <a:endParaRPr lang="zh-CN" altLang="en-US" sz="1500">
                <a:solidFill>
                  <a:schemeClr val="tx1"/>
                </a:solidFill>
              </a:endParaRPr>
            </a:p>
          </p:txBody>
        </p:sp>
        <p:cxnSp>
          <p:nvCxnSpPr>
            <p:cNvPr id="16" name="肘形连接符 15"/>
            <p:cNvCxnSpPr>
              <a:stCxn id="12" idx="3"/>
              <a:endCxn id="14" idx="0"/>
            </p:cNvCxnSpPr>
            <p:nvPr/>
          </p:nvCxnSpPr>
          <p:spPr>
            <a:xfrm>
              <a:off x="8937" y="3203"/>
              <a:ext cx="1073" cy="1052"/>
            </a:xfrm>
            <a:prstGeom prst="bentConnector2">
              <a:avLst/>
            </a:prstGeom>
            <a:ln w="1905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7" name="矩形 16"/>
                <p:cNvSpPr/>
                <p:nvPr/>
              </p:nvSpPr>
              <p:spPr>
                <a:xfrm>
                  <a:off x="4034" y="4255"/>
                  <a:ext cx="2139" cy="937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1500">
                      <a:solidFill>
                        <a:schemeClr val="tx1"/>
                      </a:solidFill>
                    </a:rPr>
                    <a:t>普通帧</a:t>
                  </a:r>
                  <a14:m>
                    <m:oMath xmlns:m="http://schemas.openxmlformats.org/officeDocument/2006/math">
                      <m:r>
                        <a:rPr lang="en-US" altLang="zh-CN" sz="1500" i="1">
                          <a:solidFill>
                            <a:schemeClr val="tx1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𝑗</m:t>
                      </m:r>
                    </m:oMath>
                  </a14:m>
                  <a:endParaRPr lang="zh-CN" altLang="en-US" sz="150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7" name="矩形 16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34" y="4255"/>
                  <a:ext cx="2139" cy="937"/>
                </a:xfrm>
                <a:prstGeom prst="rect">
                  <a:avLst/>
                </a:prstGeom>
                <a:blipFill rotWithShape="1">
                  <a:blip r:embed="rId1"/>
                </a:blipFill>
                <a:ln w="19050"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肘形连接符 17"/>
            <p:cNvCxnSpPr>
              <a:stCxn id="12" idx="1"/>
              <a:endCxn id="17" idx="0"/>
            </p:cNvCxnSpPr>
            <p:nvPr/>
          </p:nvCxnSpPr>
          <p:spPr>
            <a:xfrm rot="10800000" flipV="1">
              <a:off x="5104" y="3203"/>
              <a:ext cx="987" cy="1052"/>
            </a:xfrm>
            <a:prstGeom prst="bentConnector2">
              <a:avLst/>
            </a:prstGeom>
            <a:ln w="1905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" name="矩形 18"/>
                <p:cNvSpPr/>
                <p:nvPr/>
              </p:nvSpPr>
              <p:spPr>
                <a:xfrm>
                  <a:off x="8940" y="5877"/>
                  <a:ext cx="2139" cy="937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1500">
                      <a:solidFill>
                        <a:schemeClr val="tx1"/>
                      </a:solidFill>
                    </a:rPr>
                    <a:t>参考帧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5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15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sz="15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𝑓</m:t>
                          </m:r>
                        </m:sub>
                      </m:sSub>
                    </m:oMath>
                  </a14:m>
                  <a:endParaRPr lang="zh-CN" altLang="en-US" sz="150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9" name="矩形 18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40" y="5877"/>
                  <a:ext cx="2139" cy="937"/>
                </a:xfrm>
                <a:prstGeom prst="rect">
                  <a:avLst/>
                </a:prstGeom>
                <a:blipFill rotWithShape="1">
                  <a:blip r:embed="rId2"/>
                </a:blipFill>
                <a:ln w="19050"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4" name="菱形 23"/>
                <p:cNvSpPr/>
                <p:nvPr/>
              </p:nvSpPr>
              <p:spPr>
                <a:xfrm>
                  <a:off x="3681" y="5755"/>
                  <a:ext cx="2846" cy="1182"/>
                </a:xfrm>
                <a:prstGeom prst="diamond">
                  <a:avLst/>
                </a:prstGeom>
                <a:noFill/>
                <a:ln w="19050"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5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15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𝑡</m:t>
                          </m:r>
                        </m:e>
                        <m:sub>
                          <m:r>
                            <a:rPr lang="en-US" altLang="zh-CN" sz="15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𝑗𝑖</m:t>
                          </m:r>
                        </m:sub>
                      </m:sSub>
                    </m:oMath>
                  </a14:m>
                  <a:r>
                    <a:rPr lang="zh-CN" altLang="en-US" sz="1500">
                      <a:solidFill>
                        <a:schemeClr val="tx1"/>
                      </a:solidFill>
                      <a:latin typeface="Cambria Math" panose="02040503050406030204" charset="0"/>
                      <a:cs typeface="Cambria Math" panose="02040503050406030204" charset="0"/>
                    </a:rPr>
                    <a:t>足够？</a:t>
                  </a:r>
                  <a:endParaRPr lang="zh-CN" altLang="en-US" sz="1500">
                    <a:solidFill>
                      <a:schemeClr val="tx1"/>
                    </a:solidFill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24" name="菱形 23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81" y="5755"/>
                  <a:ext cx="2846" cy="1182"/>
                </a:xfrm>
                <a:prstGeom prst="diamond">
                  <a:avLst/>
                </a:prstGeom>
                <a:blipFill rotWithShape="1">
                  <a:blip r:embed="rId3"/>
                </a:blipFill>
                <a:ln w="19050"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5" name="直接箭头连接符 24"/>
            <p:cNvCxnSpPr>
              <a:stCxn id="17" idx="2"/>
              <a:endCxn id="24" idx="0"/>
            </p:cNvCxnSpPr>
            <p:nvPr/>
          </p:nvCxnSpPr>
          <p:spPr>
            <a:xfrm>
              <a:off x="5104" y="5192"/>
              <a:ext cx="0" cy="56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" name="矩形 26"/>
                <p:cNvSpPr/>
                <p:nvPr/>
              </p:nvSpPr>
              <p:spPr>
                <a:xfrm>
                  <a:off x="6763" y="7179"/>
                  <a:ext cx="3148" cy="937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1500">
                      <a:solidFill>
                        <a:schemeClr val="tx1"/>
                      </a:solidFill>
                      <a:latin typeface="Cambria Math" panose="02040503050406030204" charset="0"/>
                      <a:cs typeface="Cambria Math" panose="02040503050406030204" charset="0"/>
                    </a:rPr>
                    <a:t>构建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5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15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𝑡</m:t>
                          </m:r>
                        </m:e>
                        <m:sub>
                          <m:r>
                            <a:rPr lang="en-US" altLang="zh-CN" sz="15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𝑗𝑖</m:t>
                          </m:r>
                        </m:sub>
                      </m:sSub>
                    </m:oMath>
                  </a14:m>
                  <a:r>
                    <a:rPr lang="zh-CN" altLang="en-US" sz="1500">
                      <a:solidFill>
                        <a:schemeClr val="tx1"/>
                      </a:solidFill>
                      <a:latin typeface="Cambria Math" panose="02040503050406030204" charset="0"/>
                      <a:cs typeface="Cambria Math" panose="02040503050406030204" charset="0"/>
                      <a:sym typeface="+mn-ea"/>
                    </a:rPr>
                    <a:t>足够优化模型</a:t>
                  </a:r>
                  <a:endParaRPr lang="zh-CN" altLang="en-US" sz="150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27" name="矩形 26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63" y="7179"/>
                  <a:ext cx="3148" cy="937"/>
                </a:xfrm>
                <a:prstGeom prst="rect">
                  <a:avLst/>
                </a:prstGeom>
                <a:blipFill rotWithShape="1">
                  <a:blip r:embed="rId4"/>
                </a:blipFill>
                <a:ln w="19050"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8" name="矩形 27"/>
                <p:cNvSpPr/>
                <p:nvPr/>
              </p:nvSpPr>
              <p:spPr>
                <a:xfrm>
                  <a:off x="6763" y="8701"/>
                  <a:ext cx="3149" cy="937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1500">
                      <a:solidFill>
                        <a:schemeClr val="tx1"/>
                      </a:solidFill>
                      <a:latin typeface="Cambria Math" panose="02040503050406030204" charset="0"/>
                      <a:cs typeface="Cambria Math" panose="02040503050406030204" charset="0"/>
                    </a:rPr>
                    <a:t>构建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5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15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𝑡</m:t>
                          </m:r>
                        </m:e>
                        <m:sub>
                          <m:r>
                            <a:rPr lang="en-US" altLang="zh-CN" sz="15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𝑗𝑖</m:t>
                          </m:r>
                        </m:sub>
                      </m:sSub>
                    </m:oMath>
                  </a14:m>
                  <a:r>
                    <a:rPr lang="zh-CN" altLang="en-US" sz="1500">
                      <a:solidFill>
                        <a:schemeClr val="tx1"/>
                      </a:solidFill>
                      <a:latin typeface="Cambria Math" panose="02040503050406030204" charset="0"/>
                      <a:cs typeface="Cambria Math" panose="02040503050406030204" charset="0"/>
                    </a:rPr>
                    <a:t>不</a:t>
                  </a:r>
                  <a:r>
                    <a:rPr lang="zh-CN" altLang="en-US" sz="1500">
                      <a:solidFill>
                        <a:schemeClr val="tx1"/>
                      </a:solidFill>
                      <a:latin typeface="Cambria Math" panose="02040503050406030204" charset="0"/>
                      <a:cs typeface="Cambria Math" panose="02040503050406030204" charset="0"/>
                      <a:sym typeface="+mn-ea"/>
                    </a:rPr>
                    <a:t>足优化模型</a:t>
                  </a:r>
                  <a:endParaRPr lang="zh-CN" altLang="en-US" sz="150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28" name="矩形 27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63" y="8701"/>
                  <a:ext cx="3149" cy="937"/>
                </a:xfrm>
                <a:prstGeom prst="rect">
                  <a:avLst/>
                </a:prstGeom>
                <a:blipFill rotWithShape="1">
                  <a:blip r:embed="rId5"/>
                </a:blipFill>
                <a:ln w="19050"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9" name="肘形连接符 28"/>
            <p:cNvCxnSpPr>
              <a:stCxn id="24" idx="1"/>
              <a:endCxn id="28" idx="1"/>
            </p:cNvCxnSpPr>
            <p:nvPr/>
          </p:nvCxnSpPr>
          <p:spPr>
            <a:xfrm rot="10800000" flipH="1" flipV="1">
              <a:off x="3681" y="6346"/>
              <a:ext cx="3082" cy="2824"/>
            </a:xfrm>
            <a:prstGeom prst="bentConnector3">
              <a:avLst>
                <a:gd name="adj1" fmla="val -12167"/>
              </a:avLst>
            </a:prstGeom>
            <a:ln w="1905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30" name="肘形连接符 29"/>
            <p:cNvCxnSpPr>
              <a:stCxn id="24" idx="2"/>
              <a:endCxn id="27" idx="1"/>
            </p:cNvCxnSpPr>
            <p:nvPr/>
          </p:nvCxnSpPr>
          <p:spPr>
            <a:xfrm rot="5400000" flipV="1">
              <a:off x="5578" y="6463"/>
              <a:ext cx="711" cy="1659"/>
            </a:xfrm>
            <a:prstGeom prst="bentConnector2">
              <a:avLst/>
            </a:prstGeom>
            <a:ln w="1905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32" name="矩形 31"/>
            <p:cNvSpPr/>
            <p:nvPr/>
          </p:nvSpPr>
          <p:spPr>
            <a:xfrm>
              <a:off x="12407" y="7882"/>
              <a:ext cx="2139" cy="937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sz="1500">
                  <a:solidFill>
                    <a:schemeClr val="tx1"/>
                  </a:solidFill>
                </a:rPr>
                <a:t>金字塔由高到低优化</a:t>
              </a:r>
              <a:endParaRPr lang="zh-CN" sz="1500">
                <a:solidFill>
                  <a:schemeClr val="tx1"/>
                </a:solidFill>
              </a:endParaRPr>
            </a:p>
          </p:txBody>
        </p:sp>
        <p:cxnSp>
          <p:nvCxnSpPr>
            <p:cNvPr id="33" name="肘形连接符 32"/>
            <p:cNvCxnSpPr>
              <a:stCxn id="27" idx="3"/>
              <a:endCxn id="32" idx="1"/>
            </p:cNvCxnSpPr>
            <p:nvPr/>
          </p:nvCxnSpPr>
          <p:spPr>
            <a:xfrm>
              <a:off x="9911" y="7648"/>
              <a:ext cx="2496" cy="703"/>
            </a:xfrm>
            <a:prstGeom prst="bentConnector3">
              <a:avLst>
                <a:gd name="adj1" fmla="val 50000"/>
              </a:avLst>
            </a:prstGeom>
            <a:ln w="1905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34" name="肘形连接符 33"/>
            <p:cNvCxnSpPr>
              <a:stCxn id="28" idx="3"/>
              <a:endCxn id="32" idx="1"/>
            </p:cNvCxnSpPr>
            <p:nvPr/>
          </p:nvCxnSpPr>
          <p:spPr>
            <a:xfrm flipV="1">
              <a:off x="9912" y="8351"/>
              <a:ext cx="2495" cy="819"/>
            </a:xfrm>
            <a:prstGeom prst="bentConnector3">
              <a:avLst>
                <a:gd name="adj1" fmla="val 50020"/>
              </a:avLst>
            </a:prstGeom>
            <a:ln w="1905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35" name="菱形 34"/>
            <p:cNvSpPr/>
            <p:nvPr/>
          </p:nvSpPr>
          <p:spPr>
            <a:xfrm>
              <a:off x="12036" y="4120"/>
              <a:ext cx="2846" cy="1182"/>
            </a:xfrm>
            <a:prstGeom prst="diamond">
              <a:avLst/>
            </a:prstGeom>
            <a:noFill/>
            <a:ln w="19050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400">
                  <a:solidFill>
                    <a:schemeClr val="tx1"/>
                  </a:solidFill>
                </a:rPr>
                <a:t>达到初始化要求？</a:t>
              </a:r>
              <a:endParaRPr lang="zh-CN" altLang="en-US" sz="1400">
                <a:solidFill>
                  <a:schemeClr val="tx1"/>
                </a:solidFill>
              </a:endParaRPr>
            </a:p>
          </p:txBody>
        </p:sp>
        <p:cxnSp>
          <p:nvCxnSpPr>
            <p:cNvPr id="36" name="直接箭头连接符 35"/>
            <p:cNvCxnSpPr>
              <a:stCxn id="32" idx="0"/>
              <a:endCxn id="49" idx="2"/>
            </p:cNvCxnSpPr>
            <p:nvPr/>
          </p:nvCxnSpPr>
          <p:spPr>
            <a:xfrm flipV="1">
              <a:off x="13477" y="7061"/>
              <a:ext cx="0" cy="82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37" name="矩形 36"/>
            <p:cNvSpPr/>
            <p:nvPr/>
          </p:nvSpPr>
          <p:spPr>
            <a:xfrm>
              <a:off x="1771" y="2429"/>
              <a:ext cx="13433" cy="7488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prstDash val="dashDot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cxnSp>
          <p:nvCxnSpPr>
            <p:cNvPr id="39" name="直接箭头连接符 38"/>
            <p:cNvCxnSpPr>
              <a:endCxn id="7" idx="1"/>
            </p:cNvCxnSpPr>
            <p:nvPr/>
          </p:nvCxnSpPr>
          <p:spPr>
            <a:xfrm>
              <a:off x="1770" y="1711"/>
              <a:ext cx="1533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4" name="直接箭头连接符 43"/>
            <p:cNvCxnSpPr>
              <a:stCxn id="35" idx="3"/>
            </p:cNvCxnSpPr>
            <p:nvPr/>
          </p:nvCxnSpPr>
          <p:spPr>
            <a:xfrm>
              <a:off x="14882" y="4711"/>
              <a:ext cx="1104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46" name="文本框 45"/>
            <p:cNvSpPr txBox="1"/>
            <p:nvPr/>
          </p:nvSpPr>
          <p:spPr>
            <a:xfrm>
              <a:off x="1771" y="2429"/>
              <a:ext cx="869" cy="3600"/>
            </a:xfrm>
            <a:prstGeom prst="rect">
              <a:avLst/>
            </a:prstGeom>
            <a:noFill/>
            <a:ln>
              <a:noFill/>
            </a:ln>
          </p:spPr>
          <p:txBody>
            <a:bodyPr vert="eaVert" wrap="square" rtlCol="0">
              <a:spAutoFit/>
            </a:bodyPr>
            <a:p>
              <a:r>
                <a:rPr lang="zh-CN" altLang="en-US" sz="2400" b="1"/>
                <a:t>初始化器</a:t>
              </a:r>
              <a:endParaRPr lang="zh-CN" altLang="en-US" sz="2400" b="1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9" name="矩形 48"/>
                <p:cNvSpPr/>
                <p:nvPr/>
              </p:nvSpPr>
              <p:spPr>
                <a:xfrm>
                  <a:off x="12407" y="6124"/>
                  <a:ext cx="2139" cy="937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sz="1500" b="1">
                      <a:solidFill>
                        <a:srgbClr val="C00000"/>
                      </a:solidFill>
                    </a:rPr>
                    <a:t>更新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500" b="1" i="1">
                              <a:solidFill>
                                <a:srgbClr val="C00000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1500" b="1" i="1">
                              <a:solidFill>
                                <a:srgbClr val="C00000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𝑹</m:t>
                          </m:r>
                        </m:e>
                        <m:sub>
                          <m:r>
                            <a:rPr lang="en-US" altLang="zh-CN" sz="1500" b="1" i="1">
                              <a:solidFill>
                                <a:srgbClr val="C00000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𝒇</m:t>
                          </m:r>
                        </m:sub>
                      </m:sSub>
                    </m:oMath>
                  </a14:m>
                  <a:r>
                    <a:rPr lang="zh-CN" altLang="en-US" sz="1500" b="1">
                      <a:solidFill>
                        <a:srgbClr val="C00000"/>
                      </a:solidFill>
                      <a:latin typeface="Cambria Math" panose="02040503050406030204" charset="0"/>
                      <a:cs typeface="Cambria Math" panose="02040503050406030204" charset="0"/>
                    </a:rPr>
                    <a:t>高层金字塔点逆深度</a:t>
                  </a:r>
                  <a:endParaRPr lang="zh-CN" altLang="en-US" sz="1500" b="1">
                    <a:solidFill>
                      <a:srgbClr val="C00000"/>
                    </a:solidFill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49" name="矩形 48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07" y="6124"/>
                  <a:ext cx="2139" cy="937"/>
                </a:xfrm>
                <a:prstGeom prst="rect">
                  <a:avLst/>
                </a:prstGeom>
                <a:blipFill rotWithShape="1">
                  <a:blip r:embed="rId6"/>
                </a:blipFill>
                <a:ln w="19050"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0" name="直接箭头连接符 49"/>
            <p:cNvCxnSpPr>
              <a:stCxn id="49" idx="0"/>
              <a:endCxn id="35" idx="2"/>
            </p:cNvCxnSpPr>
            <p:nvPr/>
          </p:nvCxnSpPr>
          <p:spPr>
            <a:xfrm flipH="1" flipV="1">
              <a:off x="13459" y="5302"/>
              <a:ext cx="18" cy="82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51" name="矩形 50"/>
            <p:cNvSpPr/>
            <p:nvPr/>
          </p:nvSpPr>
          <p:spPr>
            <a:xfrm>
              <a:off x="6487" y="4264"/>
              <a:ext cx="2139" cy="937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500" b="1">
                  <a:solidFill>
                    <a:srgbClr val="C00000"/>
                  </a:solidFill>
                </a:rPr>
                <a:t>构建相邻点和上层父点关系</a:t>
              </a:r>
              <a:endParaRPr lang="zh-CN" altLang="en-US" sz="1500" b="1">
                <a:solidFill>
                  <a:srgbClr val="C00000"/>
                </a:solidFill>
              </a:endParaRPr>
            </a:p>
          </p:txBody>
        </p:sp>
        <p:cxnSp>
          <p:nvCxnSpPr>
            <p:cNvPr id="52" name="直接箭头连接符 51"/>
            <p:cNvCxnSpPr>
              <a:stCxn id="14" idx="1"/>
              <a:endCxn id="51" idx="3"/>
            </p:cNvCxnSpPr>
            <p:nvPr/>
          </p:nvCxnSpPr>
          <p:spPr>
            <a:xfrm flipH="1">
              <a:off x="8626" y="4724"/>
              <a:ext cx="314" cy="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53" name="肘形连接符 52"/>
            <p:cNvCxnSpPr>
              <a:stCxn id="51" idx="2"/>
              <a:endCxn id="19" idx="0"/>
            </p:cNvCxnSpPr>
            <p:nvPr/>
          </p:nvCxnSpPr>
          <p:spPr>
            <a:xfrm rot="5400000" flipV="1">
              <a:off x="8445" y="4312"/>
              <a:ext cx="676" cy="2453"/>
            </a:xfrm>
            <a:prstGeom prst="bentConnector3">
              <a:avLst>
                <a:gd name="adj1" fmla="val 49926"/>
              </a:avLst>
            </a:prstGeom>
            <a:ln w="1905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54" name="直接箭头连接符 53"/>
            <p:cNvCxnSpPr>
              <a:stCxn id="19" idx="1"/>
              <a:endCxn id="24" idx="3"/>
            </p:cNvCxnSpPr>
            <p:nvPr/>
          </p:nvCxnSpPr>
          <p:spPr>
            <a:xfrm flipH="1">
              <a:off x="6527" y="6346"/>
              <a:ext cx="2413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56" name="肘形连接符 55"/>
            <p:cNvCxnSpPr>
              <a:stCxn id="35" idx="0"/>
              <a:endCxn id="57" idx="0"/>
            </p:cNvCxnSpPr>
            <p:nvPr/>
          </p:nvCxnSpPr>
          <p:spPr>
            <a:xfrm rot="16200000" flipV="1">
              <a:off x="6741" y="-2597"/>
              <a:ext cx="2409" cy="11025"/>
            </a:xfrm>
            <a:prstGeom prst="bentConnector3">
              <a:avLst>
                <a:gd name="adj1" fmla="val 140431"/>
              </a:avLst>
            </a:prstGeom>
            <a:ln w="1905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57" name="矩形 56"/>
            <p:cNvSpPr/>
            <p:nvPr/>
          </p:nvSpPr>
          <p:spPr>
            <a:xfrm>
              <a:off x="1364" y="1711"/>
              <a:ext cx="2139" cy="937"/>
            </a:xfrm>
            <a:prstGeom prst="rect">
              <a:avLst/>
            </a:prstGeom>
            <a:noFill/>
            <a:ln w="19050"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500">
                <a:solidFill>
                  <a:schemeClr val="tx1"/>
                </a:solidFill>
              </a:endParaRP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cxnSp>
        <p:nvCxnSpPr>
          <p:cNvPr id="3" name="肘形连接符 2"/>
          <p:cNvCxnSpPr>
            <a:stCxn id="6" idx="3"/>
            <a:endCxn id="26" idx="1"/>
          </p:cNvCxnSpPr>
          <p:nvPr/>
        </p:nvCxnSpPr>
        <p:spPr>
          <a:xfrm flipV="1">
            <a:off x="2268220" y="1573530"/>
            <a:ext cx="551180" cy="382905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矩形 5"/>
              <p:cNvSpPr/>
              <p:nvPr/>
            </p:nvSpPr>
            <p:spPr>
              <a:xfrm>
                <a:off x="1166495" y="1734820"/>
                <a:ext cx="1101725" cy="442595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p>
                <a:pPr lvl="0" algn="ctr">
                  <a:buClrTx/>
                  <a:buSzTx/>
                  <a:buFontTx/>
                </a:pPr>
                <a:r>
                  <a:rPr lang="zh-CN" altLang="en-US" sz="1500">
                    <a:solidFill>
                      <a:schemeClr val="tx1"/>
                    </a:solidFill>
                    <a:latin typeface="Cambria Math" panose="02040503050406030204" charset="0"/>
                    <a:cs typeface="Cambria Math" panose="02040503050406030204" charset="0"/>
                    <a:sym typeface="+mn-ea"/>
                  </a:rPr>
                  <a:t>父点</a:t>
                </a:r>
                <a14:m>
                  <m:oMath xmlns:m="http://schemas.openxmlformats.org/officeDocument/2006/math">
                    <m:r>
                      <a:rPr lang="zh-CN" altLang="en-US" sz="1500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  <a:sym typeface="+mn-ea"/>
                      </a:rPr>
                      <m:t>𝑖𝑅</m:t>
                    </m:r>
                  </m:oMath>
                </a14:m>
                <a:endParaRPr lang="zh-CN" altLang="en-US" sz="1500">
                  <a:solidFill>
                    <a:schemeClr val="tx1"/>
                  </a:solidFill>
                  <a:latin typeface="Cambria Math" panose="02040503050406030204" charset="0"/>
                  <a:cs typeface="Cambria Math" panose="02040503050406030204" charset="0"/>
                  <a:sym typeface="+mn-ea"/>
                </a:endParaRPr>
              </a:p>
            </p:txBody>
          </p:sp>
        </mc:Choice>
        <mc:Fallback>
          <p:sp>
            <p:nvSpPr>
              <p:cNvPr id="6" name="矩形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6495" y="1734820"/>
                <a:ext cx="1101725" cy="442595"/>
              </a:xfrm>
              <a:prstGeom prst="rect">
                <a:avLst/>
              </a:prstGeom>
              <a:blipFill rotWithShape="1">
                <a:blip r:embed="rId1"/>
                <a:stretch>
                  <a:fillRect l="-865" t="-2152" r="-865" b="-2152"/>
                </a:stretch>
              </a:blipFill>
              <a:ln w="19050"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矩形 20"/>
              <p:cNvSpPr/>
              <p:nvPr/>
            </p:nvSpPr>
            <p:spPr>
              <a:xfrm>
                <a:off x="1165860" y="984250"/>
                <a:ext cx="1100455" cy="442595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1500">
                    <a:solidFill>
                      <a:schemeClr val="tx1"/>
                    </a:solidFill>
                    <a:latin typeface="Cambria Math" panose="02040503050406030204" charset="0"/>
                    <a:cs typeface="Cambria Math" panose="02040503050406030204" charset="0"/>
                  </a:rPr>
                  <a:t>子点</a:t>
                </a:r>
                <a14:m>
                  <m:oMath xmlns:m="http://schemas.openxmlformats.org/officeDocument/2006/math">
                    <m:r>
                      <a:rPr lang="en-US" altLang="zh-CN" sz="150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𝑖𝑅</m:t>
                    </m:r>
                  </m:oMath>
                </a14:m>
                <a:endParaRPr lang="zh-CN" altLang="en-US" sz="150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1" name="矩形 2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5860" y="984250"/>
                <a:ext cx="1100455" cy="442595"/>
              </a:xfrm>
              <a:prstGeom prst="rect">
                <a:avLst/>
              </a:prstGeom>
              <a:blipFill rotWithShape="1">
                <a:blip r:embed="rId2"/>
                <a:stretch>
                  <a:fillRect l="-866" t="-2152" r="-866" b="-2152"/>
                </a:stretch>
              </a:blipFill>
              <a:ln w="19050"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矩形 25"/>
          <p:cNvSpPr/>
          <p:nvPr/>
        </p:nvSpPr>
        <p:spPr>
          <a:xfrm>
            <a:off x="2819400" y="1275715"/>
            <a:ext cx="1919605" cy="594995"/>
          </a:xfrm>
          <a:prstGeom prst="rect">
            <a:avLst/>
          </a:prstGeom>
          <a:noFill/>
          <a:ln w="19050"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500">
                <a:solidFill>
                  <a:schemeClr val="tx1"/>
                </a:solidFill>
              </a:rPr>
              <a:t>高斯归一化积</a:t>
            </a:r>
            <a:endParaRPr lang="zh-CN" altLang="en-US" sz="1500">
              <a:solidFill>
                <a:schemeClr val="tx1"/>
              </a:solidFill>
            </a:endParaRPr>
          </a:p>
        </p:txBody>
      </p:sp>
      <p:cxnSp>
        <p:nvCxnSpPr>
          <p:cNvPr id="31" name="肘形连接符 30"/>
          <p:cNvCxnSpPr>
            <a:stCxn id="21" idx="3"/>
            <a:endCxn id="26" idx="1"/>
          </p:cNvCxnSpPr>
          <p:nvPr/>
        </p:nvCxnSpPr>
        <p:spPr>
          <a:xfrm>
            <a:off x="2266315" y="1205865"/>
            <a:ext cx="553085" cy="367665"/>
          </a:xfrm>
          <a:prstGeom prst="bentConnector3">
            <a:avLst>
              <a:gd name="adj1" fmla="val 50057"/>
            </a:avLst>
          </a:prstGeom>
          <a:ln w="1905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8" name="矩形 37"/>
              <p:cNvSpPr/>
              <p:nvPr/>
            </p:nvSpPr>
            <p:spPr>
              <a:xfrm>
                <a:off x="5263515" y="1737360"/>
                <a:ext cx="1232535" cy="442595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p>
                <a:pPr algn="ctr"/>
                <a:r>
                  <a:rPr lang="zh-CN" altLang="en-US" sz="1500">
                    <a:solidFill>
                      <a:schemeClr val="tx1"/>
                    </a:solidFill>
                    <a:latin typeface="Cambria Math" panose="02040503050406030204" charset="0"/>
                    <a:cs typeface="Cambria Math" panose="02040503050406030204" charset="0"/>
                    <a:sym typeface="+mn-ea"/>
                  </a:rPr>
                  <a:t>更新子点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50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sz="150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𝑑</m:t>
                        </m:r>
                      </m:e>
                      <m:sub>
                        <m:r>
                          <a:rPr lang="en-US" altLang="zh-CN" sz="150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𝑝𝑖</m:t>
                        </m:r>
                      </m:sub>
                    </m:sSub>
                  </m:oMath>
                </a14:m>
                <a:endParaRPr lang="zh-CN" altLang="en-US" sz="1500">
                  <a:solidFill>
                    <a:schemeClr val="tx1"/>
                  </a:solidFill>
                  <a:latin typeface="Cambria Math" panose="02040503050406030204" charset="0"/>
                  <a:cs typeface="Cambria Math" panose="02040503050406030204" charset="0"/>
                  <a:sym typeface="+mn-ea"/>
                </a:endParaRPr>
              </a:p>
            </p:txBody>
          </p:sp>
        </mc:Choice>
        <mc:Fallback>
          <p:sp>
            <p:nvSpPr>
              <p:cNvPr id="38" name="矩形 3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63515" y="1737360"/>
                <a:ext cx="1232535" cy="442595"/>
              </a:xfrm>
              <a:prstGeom prst="rect">
                <a:avLst/>
              </a:prstGeom>
              <a:blipFill rotWithShape="1">
                <a:blip r:embed="rId3"/>
                <a:stretch>
                  <a:fillRect l="-773" t="-2152" r="-773" b="-2152"/>
                </a:stretch>
              </a:blipFill>
              <a:ln w="19050"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矩形 39"/>
              <p:cNvSpPr/>
              <p:nvPr/>
            </p:nvSpPr>
            <p:spPr>
              <a:xfrm>
                <a:off x="5263515" y="984250"/>
                <a:ext cx="1231265" cy="442595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1500">
                    <a:solidFill>
                      <a:schemeClr val="tx1"/>
                    </a:solidFill>
                    <a:latin typeface="Cambria Math" panose="02040503050406030204" charset="0"/>
                    <a:cs typeface="Cambria Math" panose="02040503050406030204" charset="0"/>
                  </a:rPr>
                  <a:t>更新子点</a:t>
                </a:r>
                <a14:m>
                  <m:oMath xmlns:m="http://schemas.openxmlformats.org/officeDocument/2006/math">
                    <m:r>
                      <a:rPr lang="en-US" altLang="zh-CN" sz="150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𝑖𝑅</m:t>
                    </m:r>
                  </m:oMath>
                </a14:m>
                <a:endParaRPr lang="zh-CN" altLang="en-US" sz="150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0" name="矩形 3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63515" y="984250"/>
                <a:ext cx="1231265" cy="442595"/>
              </a:xfrm>
              <a:prstGeom prst="rect">
                <a:avLst/>
              </a:prstGeom>
              <a:blipFill rotWithShape="1">
                <a:blip r:embed="rId4"/>
                <a:stretch>
                  <a:fillRect l="-774" t="-2152" r="-774" b="-2152"/>
                </a:stretch>
              </a:blipFill>
              <a:ln w="19050"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" name="肘形连接符 40"/>
          <p:cNvCxnSpPr>
            <a:stCxn id="26" idx="3"/>
            <a:endCxn id="38" idx="1"/>
          </p:cNvCxnSpPr>
          <p:nvPr/>
        </p:nvCxnSpPr>
        <p:spPr>
          <a:xfrm>
            <a:off x="4739005" y="1573530"/>
            <a:ext cx="524510" cy="385445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2" name="肘形连接符 41"/>
          <p:cNvCxnSpPr>
            <a:stCxn id="26" idx="3"/>
            <a:endCxn id="40" idx="1"/>
          </p:cNvCxnSpPr>
          <p:nvPr/>
        </p:nvCxnSpPr>
        <p:spPr>
          <a:xfrm flipV="1">
            <a:off x="4739005" y="1205865"/>
            <a:ext cx="524510" cy="367665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5" name="矩形 44"/>
              <p:cNvSpPr/>
              <p:nvPr/>
            </p:nvSpPr>
            <p:spPr>
              <a:xfrm>
                <a:off x="7019290" y="1275715"/>
                <a:ext cx="2100580" cy="594995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1500">
                    <a:solidFill>
                      <a:schemeClr val="tx1"/>
                    </a:solidFill>
                  </a:rPr>
                  <a:t>考虑相邻点</a:t>
                </a:r>
                <a14:m>
                  <m:oMath xmlns:m="http://schemas.openxmlformats.org/officeDocument/2006/math">
                    <m:r>
                      <a:rPr lang="en-US" altLang="zh-CN" sz="150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𝑖𝑅</m:t>
                    </m:r>
                  </m:oMath>
                </a14:m>
                <a:r>
                  <a:rPr lang="zh-CN" altLang="en-US" sz="1500">
                    <a:solidFill>
                      <a:schemeClr val="tx1"/>
                    </a:solidFill>
                    <a:latin typeface="Cambria Math" panose="02040503050406030204" charset="0"/>
                    <a:cs typeface="Cambria Math" panose="02040503050406030204" charset="0"/>
                  </a:rPr>
                  <a:t>的连续性</a:t>
                </a:r>
                <a:endParaRPr lang="zh-CN" altLang="en-US" sz="1500">
                  <a:solidFill>
                    <a:schemeClr val="tx1"/>
                  </a:solidFill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45" name="矩形 4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9290" y="1275715"/>
                <a:ext cx="2100580" cy="594995"/>
              </a:xfrm>
              <a:prstGeom prst="rect">
                <a:avLst/>
              </a:prstGeom>
              <a:blipFill rotWithShape="1">
                <a:blip r:embed="rId5"/>
                <a:stretch>
                  <a:fillRect l="-453" t="-1601" r="-453" b="-1601"/>
                </a:stretch>
              </a:blipFill>
              <a:ln w="19050"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7" name="矩形 46"/>
              <p:cNvSpPr/>
              <p:nvPr/>
            </p:nvSpPr>
            <p:spPr>
              <a:xfrm>
                <a:off x="9491980" y="1351915"/>
                <a:ext cx="1231265" cy="442595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1500">
                    <a:solidFill>
                      <a:schemeClr val="tx1"/>
                    </a:solidFill>
                    <a:latin typeface="Cambria Math" panose="02040503050406030204" charset="0"/>
                    <a:cs typeface="Cambria Math" panose="02040503050406030204" charset="0"/>
                  </a:rPr>
                  <a:t>更新子点</a:t>
                </a:r>
                <a14:m>
                  <m:oMath xmlns:m="http://schemas.openxmlformats.org/officeDocument/2006/math">
                    <m:r>
                      <a:rPr lang="en-US" altLang="zh-CN" sz="150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𝑖𝑅</m:t>
                    </m:r>
                  </m:oMath>
                </a14:m>
                <a:endParaRPr lang="zh-CN" altLang="en-US" sz="150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7" name="矩形 4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91980" y="1351915"/>
                <a:ext cx="1231265" cy="442595"/>
              </a:xfrm>
              <a:prstGeom prst="rect">
                <a:avLst/>
              </a:prstGeom>
              <a:blipFill rotWithShape="1">
                <a:blip r:embed="rId4"/>
                <a:stretch>
                  <a:fillRect l="-774" t="-2152" r="-774" b="-2152"/>
                </a:stretch>
              </a:blipFill>
              <a:ln w="19050"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肘形连接符 47"/>
          <p:cNvCxnSpPr>
            <a:stCxn id="40" idx="3"/>
            <a:endCxn id="45" idx="1"/>
          </p:cNvCxnSpPr>
          <p:nvPr/>
        </p:nvCxnSpPr>
        <p:spPr>
          <a:xfrm>
            <a:off x="6494780" y="1205865"/>
            <a:ext cx="524510" cy="367665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" name="直接箭头连接符 54"/>
          <p:cNvCxnSpPr>
            <a:stCxn id="45" idx="3"/>
            <a:endCxn id="47" idx="1"/>
          </p:cNvCxnSpPr>
          <p:nvPr/>
        </p:nvCxnSpPr>
        <p:spPr>
          <a:xfrm>
            <a:off x="9119870" y="1573530"/>
            <a:ext cx="372110" cy="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pSp>
        <p:nvGrpSpPr>
          <p:cNvPr id="82" name="组合 81"/>
          <p:cNvGrpSpPr/>
          <p:nvPr/>
        </p:nvGrpSpPr>
        <p:grpSpPr>
          <a:xfrm>
            <a:off x="996315" y="3429000"/>
            <a:ext cx="9319895" cy="1800860"/>
            <a:chOff x="1569" y="5400"/>
            <a:chExt cx="14677" cy="2836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0" name="矩形 59"/>
                <p:cNvSpPr/>
                <p:nvPr/>
              </p:nvSpPr>
              <p:spPr>
                <a:xfrm>
                  <a:off x="1569" y="5400"/>
                  <a:ext cx="1733" cy="697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1500">
                      <a:solidFill>
                        <a:schemeClr val="tx1"/>
                      </a:solidFill>
                      <a:latin typeface="Cambria Math" panose="02040503050406030204" charset="0"/>
                      <a:cs typeface="Cambria Math" panose="02040503050406030204" charset="0"/>
                    </a:rPr>
                    <a:t>子点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5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15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𝑖𝑅</m:t>
                          </m:r>
                        </m:e>
                        <m:sub>
                          <m:r>
                            <a:rPr lang="en-US" altLang="zh-CN" sz="15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</m:t>
                          </m:r>
                        </m:sub>
                      </m:sSub>
                    </m:oMath>
                  </a14:m>
                  <a:endParaRPr lang="zh-CN" altLang="en-US" sz="150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60" name="矩形 59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69" y="5400"/>
                  <a:ext cx="1733" cy="697"/>
                </a:xfrm>
                <a:prstGeom prst="rect">
                  <a:avLst/>
                </a:prstGeom>
                <a:blipFill rotWithShape="1">
                  <a:blip r:embed="rId6"/>
                </a:blipFill>
                <a:ln w="19050"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1" name="矩形 60"/>
                <p:cNvSpPr/>
                <p:nvPr/>
              </p:nvSpPr>
              <p:spPr>
                <a:xfrm>
                  <a:off x="1569" y="6470"/>
                  <a:ext cx="1733" cy="697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1500">
                      <a:solidFill>
                        <a:schemeClr val="tx1"/>
                      </a:solidFill>
                      <a:latin typeface="Cambria Math" panose="02040503050406030204" charset="0"/>
                      <a:cs typeface="Cambria Math" panose="02040503050406030204" charset="0"/>
                    </a:rPr>
                    <a:t>子点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5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15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𝑖𝑅</m:t>
                          </m:r>
                        </m:e>
                        <m:sub>
                          <m:r>
                            <a:rPr lang="en-US" altLang="zh-CN" sz="15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2</m:t>
                          </m:r>
                        </m:sub>
                      </m:sSub>
                    </m:oMath>
                  </a14:m>
                  <a:endParaRPr lang="zh-CN" altLang="en-US" sz="150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61" name="矩形 6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69" y="6470"/>
                  <a:ext cx="1733" cy="697"/>
                </a:xfrm>
                <a:prstGeom prst="rect">
                  <a:avLst/>
                </a:prstGeom>
                <a:blipFill rotWithShape="1">
                  <a:blip r:embed="rId7"/>
                </a:blipFill>
                <a:ln w="19050"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2" name="矩形 61"/>
                <p:cNvSpPr/>
                <p:nvPr/>
              </p:nvSpPr>
              <p:spPr>
                <a:xfrm>
                  <a:off x="1569" y="7540"/>
                  <a:ext cx="1733" cy="697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1500">
                      <a:solidFill>
                        <a:schemeClr val="tx1"/>
                      </a:solidFill>
                      <a:latin typeface="Cambria Math" panose="02040503050406030204" charset="0"/>
                      <a:cs typeface="Cambria Math" panose="02040503050406030204" charset="0"/>
                    </a:rPr>
                    <a:t>子点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5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15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𝑖𝑅</m:t>
                          </m:r>
                        </m:e>
                        <m:sub>
                          <m:r>
                            <a:rPr lang="en-US" altLang="zh-CN" sz="15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</m:oMath>
                  </a14:m>
                  <a:endParaRPr lang="zh-CN" altLang="en-US" sz="150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62" name="矩形 6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69" y="7540"/>
                  <a:ext cx="1733" cy="697"/>
                </a:xfrm>
                <a:prstGeom prst="rect">
                  <a:avLst/>
                </a:prstGeom>
                <a:blipFill rotWithShape="1">
                  <a:blip r:embed="rId8"/>
                </a:blipFill>
                <a:ln w="19050"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4" name="矩形 63"/>
            <p:cNvSpPr/>
            <p:nvPr/>
          </p:nvSpPr>
          <p:spPr>
            <a:xfrm>
              <a:off x="4550" y="6350"/>
              <a:ext cx="2483" cy="937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500">
                  <a:solidFill>
                    <a:schemeClr val="tx1"/>
                  </a:solidFill>
                </a:rPr>
                <a:t>高斯归一化积</a:t>
              </a:r>
              <a:endParaRPr lang="zh-CN" altLang="en-US" sz="1500">
                <a:solidFill>
                  <a:schemeClr val="tx1"/>
                </a:solidFill>
              </a:endParaRPr>
            </a:p>
          </p:txBody>
        </p:sp>
        <p:cxnSp>
          <p:nvCxnSpPr>
            <p:cNvPr id="65" name="肘形连接符 64"/>
            <p:cNvCxnSpPr>
              <a:stCxn id="60" idx="3"/>
              <a:endCxn id="64" idx="1"/>
            </p:cNvCxnSpPr>
            <p:nvPr/>
          </p:nvCxnSpPr>
          <p:spPr>
            <a:xfrm>
              <a:off x="3302" y="5749"/>
              <a:ext cx="1248" cy="1070"/>
            </a:xfrm>
            <a:prstGeom prst="bentConnector3">
              <a:avLst>
                <a:gd name="adj1" fmla="val 50000"/>
              </a:avLst>
            </a:prstGeom>
            <a:ln w="1905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66" name="肘形连接符 65"/>
            <p:cNvCxnSpPr>
              <a:stCxn id="62" idx="3"/>
              <a:endCxn id="64" idx="1"/>
            </p:cNvCxnSpPr>
            <p:nvPr/>
          </p:nvCxnSpPr>
          <p:spPr>
            <a:xfrm flipV="1">
              <a:off x="3302" y="6819"/>
              <a:ext cx="1248" cy="1070"/>
            </a:xfrm>
            <a:prstGeom prst="bentConnector3">
              <a:avLst>
                <a:gd name="adj1" fmla="val 50000"/>
              </a:avLst>
            </a:prstGeom>
            <a:ln w="1905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67" name="直接箭头连接符 66"/>
            <p:cNvCxnSpPr>
              <a:stCxn id="61" idx="3"/>
              <a:endCxn id="64" idx="1"/>
            </p:cNvCxnSpPr>
            <p:nvPr/>
          </p:nvCxnSpPr>
          <p:spPr>
            <a:xfrm>
              <a:off x="3302" y="6819"/>
              <a:ext cx="1248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0" name="矩形 69"/>
                <p:cNvSpPr/>
                <p:nvPr/>
              </p:nvSpPr>
              <p:spPr>
                <a:xfrm>
                  <a:off x="7771" y="7315"/>
                  <a:ext cx="1939" cy="697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1500">
                      <a:solidFill>
                        <a:schemeClr val="tx1"/>
                      </a:solidFill>
                      <a:latin typeface="Cambria Math" panose="02040503050406030204" charset="0"/>
                      <a:cs typeface="Cambria Math" panose="02040503050406030204" charset="0"/>
                    </a:rPr>
                    <a:t>更新父点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5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15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𝑑</m:t>
                          </m:r>
                        </m:e>
                        <m:sub>
                          <m:r>
                            <a:rPr lang="en-US" altLang="zh-CN" sz="15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𝑝𝑖</m:t>
                          </m:r>
                        </m:sub>
                      </m:sSub>
                    </m:oMath>
                  </a14:m>
                  <a:endParaRPr lang="zh-CN" altLang="en-US" sz="150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70" name="矩形 69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71" y="7315"/>
                  <a:ext cx="1939" cy="697"/>
                </a:xfrm>
                <a:prstGeom prst="rect">
                  <a:avLst/>
                </a:prstGeom>
                <a:blipFill rotWithShape="1">
                  <a:blip r:embed="rId9"/>
                </a:blipFill>
                <a:ln w="19050"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1" name="矩形 70"/>
                <p:cNvSpPr/>
                <p:nvPr/>
              </p:nvSpPr>
              <p:spPr>
                <a:xfrm>
                  <a:off x="7771" y="5625"/>
                  <a:ext cx="1939" cy="697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1500">
                      <a:solidFill>
                        <a:schemeClr val="tx1"/>
                      </a:solidFill>
                      <a:latin typeface="Cambria Math" panose="02040503050406030204" charset="0"/>
                      <a:cs typeface="Cambria Math" panose="02040503050406030204" charset="0"/>
                    </a:rPr>
                    <a:t>更新父点</a:t>
                  </a:r>
                  <a14:m>
                    <m:oMath xmlns:m="http://schemas.openxmlformats.org/officeDocument/2006/math">
                      <m:r>
                        <a:rPr lang="en-US" altLang="zh-CN" sz="1500" i="1">
                          <a:solidFill>
                            <a:schemeClr val="tx1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𝑖𝑅</m:t>
                      </m:r>
                    </m:oMath>
                  </a14:m>
                  <a:endParaRPr lang="zh-CN" altLang="en-US" sz="150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71" name="矩形 7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71" y="5625"/>
                  <a:ext cx="1939" cy="697"/>
                </a:xfrm>
                <a:prstGeom prst="rect">
                  <a:avLst/>
                </a:prstGeom>
                <a:blipFill rotWithShape="1">
                  <a:blip r:embed="rId10"/>
                </a:blipFill>
                <a:ln w="19050"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2" name="肘形连接符 71"/>
            <p:cNvCxnSpPr>
              <a:stCxn id="64" idx="3"/>
              <a:endCxn id="71" idx="1"/>
            </p:cNvCxnSpPr>
            <p:nvPr/>
          </p:nvCxnSpPr>
          <p:spPr>
            <a:xfrm flipV="1">
              <a:off x="7033" y="5974"/>
              <a:ext cx="738" cy="845"/>
            </a:xfrm>
            <a:prstGeom prst="bentConnector3">
              <a:avLst>
                <a:gd name="adj1" fmla="val 50000"/>
              </a:avLst>
            </a:prstGeom>
            <a:ln w="1905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73" name="肘形连接符 72"/>
            <p:cNvCxnSpPr>
              <a:stCxn id="64" idx="3"/>
              <a:endCxn id="70" idx="1"/>
            </p:cNvCxnSpPr>
            <p:nvPr/>
          </p:nvCxnSpPr>
          <p:spPr>
            <a:xfrm>
              <a:off x="7033" y="6819"/>
              <a:ext cx="738" cy="845"/>
            </a:xfrm>
            <a:prstGeom prst="bentConnector3">
              <a:avLst>
                <a:gd name="adj1" fmla="val 50000"/>
              </a:avLst>
            </a:prstGeom>
            <a:ln w="1905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6" name="矩形 75"/>
                <p:cNvSpPr/>
                <p:nvPr/>
              </p:nvSpPr>
              <p:spPr>
                <a:xfrm>
                  <a:off x="10414" y="6350"/>
                  <a:ext cx="3308" cy="937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1500">
                      <a:solidFill>
                        <a:schemeClr val="tx1"/>
                      </a:solidFill>
                    </a:rPr>
                    <a:t>考虑相邻点</a:t>
                  </a:r>
                  <a14:m>
                    <m:oMath xmlns:m="http://schemas.openxmlformats.org/officeDocument/2006/math">
                      <m:r>
                        <a:rPr lang="en-US" altLang="zh-CN" sz="1500" i="1">
                          <a:solidFill>
                            <a:schemeClr val="tx1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𝑖𝑅</m:t>
                      </m:r>
                    </m:oMath>
                  </a14:m>
                  <a:r>
                    <a:rPr lang="zh-CN" altLang="en-US" sz="1500">
                      <a:solidFill>
                        <a:schemeClr val="tx1"/>
                      </a:solidFill>
                      <a:latin typeface="Cambria Math" panose="02040503050406030204" charset="0"/>
                      <a:cs typeface="Cambria Math" panose="02040503050406030204" charset="0"/>
                    </a:rPr>
                    <a:t>的连续性</a:t>
                  </a:r>
                  <a:endParaRPr lang="zh-CN" altLang="en-US" sz="1500">
                    <a:solidFill>
                      <a:schemeClr val="tx1"/>
                    </a:solidFill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76" name="矩形 7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414" y="6350"/>
                  <a:ext cx="3308" cy="937"/>
                </a:xfrm>
                <a:prstGeom prst="rect">
                  <a:avLst/>
                </a:prstGeom>
                <a:blipFill rotWithShape="1">
                  <a:blip r:embed="rId5"/>
                </a:blipFill>
                <a:ln w="19050"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7" name="矩形 76"/>
                <p:cNvSpPr/>
                <p:nvPr/>
              </p:nvSpPr>
              <p:spPr>
                <a:xfrm>
                  <a:off x="14308" y="6470"/>
                  <a:ext cx="1939" cy="697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1500">
                      <a:solidFill>
                        <a:schemeClr val="tx1"/>
                      </a:solidFill>
                      <a:latin typeface="Cambria Math" panose="02040503050406030204" charset="0"/>
                      <a:cs typeface="Cambria Math" panose="02040503050406030204" charset="0"/>
                    </a:rPr>
                    <a:t>更新父点</a:t>
                  </a:r>
                  <a14:m>
                    <m:oMath xmlns:m="http://schemas.openxmlformats.org/officeDocument/2006/math">
                      <m:r>
                        <a:rPr lang="en-US" altLang="zh-CN" sz="1500" i="1">
                          <a:solidFill>
                            <a:schemeClr val="tx1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𝑖𝑅</m:t>
                      </m:r>
                    </m:oMath>
                  </a14:m>
                  <a:endParaRPr lang="zh-CN" altLang="en-US" sz="150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77" name="矩形 76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308" y="6470"/>
                  <a:ext cx="1939" cy="697"/>
                </a:xfrm>
                <a:prstGeom prst="rect">
                  <a:avLst/>
                </a:prstGeom>
                <a:blipFill rotWithShape="1">
                  <a:blip r:embed="rId10"/>
                </a:blipFill>
                <a:ln w="19050"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0" name="肘形连接符 79"/>
            <p:cNvCxnSpPr>
              <a:stCxn id="71" idx="3"/>
              <a:endCxn id="76" idx="1"/>
            </p:cNvCxnSpPr>
            <p:nvPr/>
          </p:nvCxnSpPr>
          <p:spPr>
            <a:xfrm>
              <a:off x="9710" y="5974"/>
              <a:ext cx="704" cy="845"/>
            </a:xfrm>
            <a:prstGeom prst="bentConnector3">
              <a:avLst>
                <a:gd name="adj1" fmla="val 50000"/>
              </a:avLst>
            </a:prstGeom>
            <a:ln w="1905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81" name="直接箭头连接符 80"/>
            <p:cNvCxnSpPr>
              <a:stCxn id="76" idx="3"/>
              <a:endCxn id="77" idx="1"/>
            </p:cNvCxnSpPr>
            <p:nvPr/>
          </p:nvCxnSpPr>
          <p:spPr>
            <a:xfrm>
              <a:off x="13722" y="6819"/>
              <a:ext cx="586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13" name="组合 12"/>
          <p:cNvGrpSpPr/>
          <p:nvPr/>
        </p:nvGrpSpPr>
        <p:grpSpPr>
          <a:xfrm>
            <a:off x="-199390" y="1941195"/>
            <a:ext cx="14345920" cy="2542540"/>
            <a:chOff x="-5344" y="3398"/>
            <a:chExt cx="22592" cy="4004"/>
          </a:xfrm>
        </p:grpSpPr>
        <p:grpSp>
          <p:nvGrpSpPr>
            <p:cNvPr id="9" name="组合 8"/>
            <p:cNvGrpSpPr/>
            <p:nvPr/>
          </p:nvGrpSpPr>
          <p:grpSpPr>
            <a:xfrm>
              <a:off x="-5344" y="3398"/>
              <a:ext cx="16966" cy="4005"/>
              <a:chOff x="1116" y="3397"/>
              <a:chExt cx="16966" cy="4005"/>
            </a:xfrm>
          </p:grpSpPr>
          <p:pic>
            <p:nvPicPr>
              <p:cNvPr id="4" name="图片 3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117" y="3397"/>
                <a:ext cx="16965" cy="4005"/>
              </a:xfrm>
              <a:prstGeom prst="rect">
                <a:avLst/>
              </a:prstGeom>
            </p:spPr>
          </p:pic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" name="矩形 4"/>
                  <p:cNvSpPr/>
                  <p:nvPr/>
                </p:nvSpPr>
                <p:spPr>
                  <a:xfrm>
                    <a:off x="1116" y="3397"/>
                    <a:ext cx="12691" cy="2963"/>
                  </a:xfrm>
                  <a:prstGeom prst="rect">
                    <a:avLst/>
                  </a:prstGeom>
                  <a:solidFill>
                    <a:srgbClr val="000000">
                      <a:alpha val="0"/>
                    </a:srgbClr>
                  </a:solidFill>
                  <a:ln w="19050">
                    <a:solidFill>
                      <a:srgbClr val="7030A0"/>
                    </a:solidFill>
                  </a:ln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8000" b="1">
                              <a:gradFill>
                                <a:gsLst>
                                  <a:gs pos="0">
                                    <a:srgbClr val="7B32B2"/>
                                  </a:gs>
                                  <a:gs pos="100000">
                                    <a:srgbClr val="401A5D"/>
                                  </a:gs>
                                </a:gsLst>
                                <a:lin scaled="0"/>
                              </a:gra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𝐔</m:t>
                          </m:r>
                        </m:oMath>
                      </m:oMathPara>
                    </a14:m>
                    <a:endParaRPr lang="en-US" altLang="zh-CN" sz="8000" b="1">
                      <a:gradFill>
                        <a:gsLst>
                          <a:gs pos="0">
                            <a:srgbClr val="7B32B2"/>
                          </a:gs>
                          <a:gs pos="100000">
                            <a:srgbClr val="401A5D"/>
                          </a:gs>
                        </a:gsLst>
                        <a:lin scaled="0"/>
                      </a:gradFill>
                      <a:latin typeface="Cambria Math" panose="02040503050406030204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5" name="矩形 4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16" y="3397"/>
                    <a:ext cx="12691" cy="2963"/>
                  </a:xfrm>
                  <a:prstGeom prst="rect">
                    <a:avLst/>
                  </a:prstGeom>
                  <a:blipFill rotWithShape="1">
                    <a:blip r:embed="rId2"/>
                  </a:blipFill>
                  <a:ln w="19050">
                    <a:solidFill>
                      <a:srgbClr val="7030A0"/>
                    </a:solidFill>
                  </a:ln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6" name="矩形 5"/>
                  <p:cNvSpPr/>
                  <p:nvPr/>
                </p:nvSpPr>
                <p:spPr>
                  <a:xfrm>
                    <a:off x="13806" y="3397"/>
                    <a:ext cx="4276" cy="2963"/>
                  </a:xfrm>
                  <a:prstGeom prst="rect">
                    <a:avLst/>
                  </a:prstGeom>
                  <a:solidFill>
                    <a:srgbClr val="000000">
                      <a:alpha val="0"/>
                    </a:srgbClr>
                  </a:solidFill>
                  <a:ln w="19050">
                    <a:solidFill>
                      <a:srgbClr val="7030A0"/>
                    </a:solidFill>
                  </a:ln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8000" b="1">
                              <a:solidFill>
                                <a:srgbClr val="7030A0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𝐖</m:t>
                          </m:r>
                        </m:oMath>
                      </m:oMathPara>
                    </a14:m>
                    <a:endParaRPr lang="en-US" altLang="zh-CN" sz="8000" b="1">
                      <a:solidFill>
                        <a:srgbClr val="7030A0"/>
                      </a:solidFill>
                      <a:latin typeface="Cambria Math" panose="02040503050406030204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6" name="矩形 5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806" y="3397"/>
                    <a:ext cx="4276" cy="2963"/>
                  </a:xfrm>
                  <a:prstGeom prst="rect">
                    <a:avLst/>
                  </a:prstGeom>
                  <a:blipFill rotWithShape="1">
                    <a:blip r:embed="rId3"/>
                  </a:blipFill>
                  <a:ln w="19050">
                    <a:solidFill>
                      <a:srgbClr val="7030A0"/>
                    </a:solidFill>
                  </a:ln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7" name="矩形 6"/>
                  <p:cNvSpPr/>
                  <p:nvPr/>
                </p:nvSpPr>
                <p:spPr>
                  <a:xfrm>
                    <a:off x="1117" y="6360"/>
                    <a:ext cx="12689" cy="1043"/>
                  </a:xfrm>
                  <a:prstGeom prst="rect">
                    <a:avLst/>
                  </a:prstGeom>
                  <a:solidFill>
                    <a:srgbClr val="000000">
                      <a:alpha val="0"/>
                    </a:srgbClr>
                  </a:solidFill>
                  <a:ln w="19050">
                    <a:solidFill>
                      <a:srgbClr val="7030A0"/>
                    </a:solidFill>
                  </a:ln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p>
                            <m:sSupPr>
                              <m:ctrlPr>
                                <a:rPr lang="en-US" altLang="zh-CN" sz="4400" b="1">
                                  <a:solidFill>
                                    <a:srgbClr val="7030A0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4400" b="1">
                                  <a:solidFill>
                                    <a:srgbClr val="7030A0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𝐖</m:t>
                              </m:r>
                            </m:e>
                            <m:sup>
                              <m:r>
                                <a:rPr lang="en-US" altLang="zh-CN" sz="4400" b="1">
                                  <a:solidFill>
                                    <a:srgbClr val="7030A0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𝐓</m:t>
                              </m:r>
                            </m:sup>
                          </m:sSup>
                        </m:oMath>
                      </m:oMathPara>
                    </a14:m>
                    <a:endParaRPr lang="en-US" altLang="zh-CN" sz="4400" b="1">
                      <a:solidFill>
                        <a:srgbClr val="7030A0"/>
                      </a:solidFill>
                      <a:latin typeface="Cambria Math" panose="02040503050406030204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7" name="矩形 6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17" y="6360"/>
                    <a:ext cx="12689" cy="1043"/>
                  </a:xfrm>
                  <a:prstGeom prst="rect">
                    <a:avLst/>
                  </a:prstGeom>
                  <a:blipFill rotWithShape="1">
                    <a:blip r:embed="rId4"/>
                  </a:blipFill>
                  <a:ln w="19050">
                    <a:solidFill>
                      <a:srgbClr val="7030A0"/>
                    </a:solidFill>
                  </a:ln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8" name="矩形 7"/>
                  <p:cNvSpPr/>
                  <p:nvPr/>
                </p:nvSpPr>
                <p:spPr>
                  <a:xfrm>
                    <a:off x="13805" y="6359"/>
                    <a:ext cx="4277" cy="1043"/>
                  </a:xfrm>
                  <a:prstGeom prst="rect">
                    <a:avLst/>
                  </a:prstGeom>
                  <a:solidFill>
                    <a:srgbClr val="000000">
                      <a:alpha val="0"/>
                    </a:srgbClr>
                  </a:solidFill>
                  <a:ln w="19050">
                    <a:solidFill>
                      <a:srgbClr val="7030A0"/>
                    </a:solidFill>
                  </a:ln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4400" b="1">
                              <a:solidFill>
                                <a:srgbClr val="7030A0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𝐯</m:t>
                          </m:r>
                        </m:oMath>
                      </m:oMathPara>
                    </a14:m>
                    <a:endParaRPr lang="en-US" altLang="zh-CN" sz="4400" b="1">
                      <a:solidFill>
                        <a:srgbClr val="7030A0"/>
                      </a:solidFill>
                      <a:latin typeface="Cambria Math" panose="02040503050406030204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8" name="矩形 7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805" y="6359"/>
                    <a:ext cx="4277" cy="1043"/>
                  </a:xfrm>
                  <a:prstGeom prst="rect">
                    <a:avLst/>
                  </a:prstGeom>
                  <a:blipFill rotWithShape="1">
                    <a:blip r:embed="rId5"/>
                  </a:blipFill>
                  <a:ln w="19050">
                    <a:solidFill>
                      <a:srgbClr val="7030A0"/>
                    </a:solidFill>
                  </a:ln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pic>
          <p:nvPicPr>
            <p:cNvPr id="10" name="图片 9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2377" y="3398"/>
              <a:ext cx="4871" cy="4005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矩形 10"/>
                <p:cNvSpPr/>
                <p:nvPr/>
              </p:nvSpPr>
              <p:spPr>
                <a:xfrm>
                  <a:off x="12376" y="6360"/>
                  <a:ext cx="4872" cy="1043"/>
                </a:xfrm>
                <a:prstGeom prst="rect">
                  <a:avLst/>
                </a:prstGeom>
                <a:solidFill>
                  <a:srgbClr val="000000">
                    <a:alpha val="0"/>
                  </a:srgbClr>
                </a:solidFill>
                <a:ln w="19050">
                  <a:solidFill>
                    <a:srgbClr val="7030A0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4400" b="1">
                            <a:solidFill>
                              <a:srgbClr val="7030A0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zh-CN" sz="4400" b="1">
                                <a:solidFill>
                                  <a:srgbClr val="7030A0"/>
                                </a:solidFill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bPr>
                          <m:e>
                            <m:r>
                              <a:rPr lang="en-US" altLang="zh-CN" sz="4400" b="1">
                                <a:solidFill>
                                  <a:srgbClr val="7030A0"/>
                                </a:solidFill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𝐛</m:t>
                            </m:r>
                          </m:e>
                          <m:sub>
                            <m:r>
                              <a:rPr lang="en-US" altLang="zh-CN" sz="4400" b="1">
                                <a:solidFill>
                                  <a:srgbClr val="7030A0"/>
                                </a:solidFill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𝐯</m:t>
                            </m:r>
                          </m:sub>
                        </m:sSub>
                      </m:oMath>
                    </m:oMathPara>
                  </a14:m>
                  <a:endParaRPr lang="en-US" altLang="zh-CN" sz="4400" b="1">
                    <a:solidFill>
                      <a:srgbClr val="7030A0"/>
                    </a:solidFill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11" name="矩形 1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376" y="6360"/>
                  <a:ext cx="4872" cy="1043"/>
                </a:xfrm>
                <a:prstGeom prst="rect">
                  <a:avLst/>
                </a:prstGeom>
                <a:blipFill rotWithShape="1">
                  <a:blip r:embed="rId7"/>
                </a:blipFill>
                <a:ln w="19050">
                  <a:solidFill>
                    <a:srgbClr val="7030A0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矩形 11"/>
                <p:cNvSpPr/>
                <p:nvPr/>
              </p:nvSpPr>
              <p:spPr>
                <a:xfrm>
                  <a:off x="12376" y="3398"/>
                  <a:ext cx="4872" cy="2962"/>
                </a:xfrm>
                <a:prstGeom prst="rect">
                  <a:avLst/>
                </a:prstGeom>
                <a:solidFill>
                  <a:srgbClr val="000000">
                    <a:alpha val="0"/>
                  </a:srgbClr>
                </a:solidFill>
                <a:ln w="19050">
                  <a:solidFill>
                    <a:srgbClr val="7030A0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8000" b="1">
                            <a:solidFill>
                              <a:srgbClr val="7030A0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zh-CN" sz="8000" b="1">
                                <a:solidFill>
                                  <a:srgbClr val="7030A0"/>
                                </a:solidFill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bPr>
                          <m:e>
                            <m:r>
                              <a:rPr lang="en-US" altLang="zh-CN" sz="8000" b="1">
                                <a:solidFill>
                                  <a:srgbClr val="7030A0"/>
                                </a:solidFill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𝐛</m:t>
                            </m:r>
                          </m:e>
                          <m:sub>
                            <m:r>
                              <a:rPr lang="en-US" altLang="zh-CN" sz="8000" b="1">
                                <a:solidFill>
                                  <a:srgbClr val="7030A0"/>
                                </a:solidFill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𝐔</m:t>
                            </m:r>
                          </m:sub>
                        </m:sSub>
                      </m:oMath>
                    </m:oMathPara>
                  </a14:m>
                  <a:endParaRPr lang="en-US" altLang="zh-CN" sz="8000" b="1">
                    <a:solidFill>
                      <a:srgbClr val="7030A0"/>
                    </a:solidFill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12" name="矩形 1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376" y="3398"/>
                  <a:ext cx="4872" cy="2962"/>
                </a:xfrm>
                <a:prstGeom prst="rect">
                  <a:avLst/>
                </a:prstGeom>
                <a:blipFill rotWithShape="1">
                  <a:blip r:embed="rId8"/>
                </a:blipFill>
                <a:ln w="19050">
                  <a:solidFill>
                    <a:srgbClr val="7030A0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36" name="组合 35"/>
          <p:cNvGrpSpPr/>
          <p:nvPr/>
        </p:nvGrpSpPr>
        <p:grpSpPr>
          <a:xfrm>
            <a:off x="2996565" y="1278255"/>
            <a:ext cx="5872480" cy="3414395"/>
            <a:chOff x="4719" y="2013"/>
            <a:chExt cx="9248" cy="5377"/>
          </a:xfrm>
        </p:grpSpPr>
        <p:sp>
          <p:nvSpPr>
            <p:cNvPr id="21" name="矩形 20"/>
            <p:cNvSpPr/>
            <p:nvPr/>
          </p:nvSpPr>
          <p:spPr>
            <a:xfrm>
              <a:off x="5326" y="5964"/>
              <a:ext cx="2086" cy="94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500">
                <a:solidFill>
                  <a:schemeClr val="tx1"/>
                </a:solidFill>
              </a:endParaRPr>
            </a:p>
          </p:txBody>
        </p:sp>
        <p:sp>
          <p:nvSpPr>
            <p:cNvPr id="5" name="矩形 4"/>
            <p:cNvSpPr/>
            <p:nvPr/>
          </p:nvSpPr>
          <p:spPr>
            <a:xfrm>
              <a:off x="8199" y="5964"/>
              <a:ext cx="2086" cy="94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500">
                <a:solidFill>
                  <a:schemeClr val="tx1"/>
                </a:solidFill>
              </a:endParaRPr>
            </a:p>
          </p:txBody>
        </p:sp>
        <p:sp>
          <p:nvSpPr>
            <p:cNvPr id="6" name="矩形 5"/>
            <p:cNvSpPr/>
            <p:nvPr/>
          </p:nvSpPr>
          <p:spPr>
            <a:xfrm>
              <a:off x="11072" y="5964"/>
              <a:ext cx="2086" cy="94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500">
                <a:solidFill>
                  <a:schemeClr val="tx1"/>
                </a:solidFill>
              </a:endParaRPr>
            </a:p>
          </p:txBody>
        </p:sp>
        <p:sp>
          <p:nvSpPr>
            <p:cNvPr id="7" name="椭圆 6"/>
            <p:cNvSpPr/>
            <p:nvPr/>
          </p:nvSpPr>
          <p:spPr>
            <a:xfrm>
              <a:off x="6296" y="2395"/>
              <a:ext cx="283" cy="283"/>
            </a:xfrm>
            <a:prstGeom prst="ellipse">
              <a:avLst/>
            </a:prstGeom>
            <a:gradFill>
              <a:gsLst>
                <a:gs pos="0">
                  <a:srgbClr val="7B32B2"/>
                </a:gs>
                <a:gs pos="100000">
                  <a:srgbClr val="401A5D"/>
                </a:gs>
              </a:gsLst>
              <a:lin scaled="0"/>
            </a:gra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4719" y="5480"/>
              <a:ext cx="9249" cy="1910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prstDash val="sys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9" name="椭圆 8"/>
            <p:cNvSpPr/>
            <p:nvPr/>
          </p:nvSpPr>
          <p:spPr>
            <a:xfrm>
              <a:off x="6687" y="2013"/>
              <a:ext cx="283" cy="283"/>
            </a:xfrm>
            <a:prstGeom prst="ellipse">
              <a:avLst/>
            </a:prstGeom>
            <a:gradFill>
              <a:gsLst>
                <a:gs pos="0">
                  <a:srgbClr val="7B32B2"/>
                </a:gs>
                <a:gs pos="100000">
                  <a:srgbClr val="401A5D"/>
                </a:gs>
              </a:gsLst>
              <a:lin scaled="0"/>
            </a:gra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1" name="椭圆 10"/>
            <p:cNvSpPr/>
            <p:nvPr/>
          </p:nvSpPr>
          <p:spPr>
            <a:xfrm>
              <a:off x="7792" y="2112"/>
              <a:ext cx="283" cy="283"/>
            </a:xfrm>
            <a:prstGeom prst="ellipse">
              <a:avLst/>
            </a:prstGeom>
            <a:gradFill>
              <a:gsLst>
                <a:gs pos="0">
                  <a:srgbClr val="7B32B2"/>
                </a:gs>
                <a:gs pos="100000">
                  <a:srgbClr val="401A5D"/>
                </a:gs>
              </a:gsLst>
              <a:lin scaled="0"/>
            </a:gra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2" name="椭圆 11"/>
            <p:cNvSpPr/>
            <p:nvPr/>
          </p:nvSpPr>
          <p:spPr>
            <a:xfrm>
              <a:off x="9110" y="2013"/>
              <a:ext cx="283" cy="283"/>
            </a:xfrm>
            <a:prstGeom prst="ellipse">
              <a:avLst/>
            </a:prstGeom>
            <a:gradFill>
              <a:gsLst>
                <a:gs pos="0">
                  <a:srgbClr val="7B32B2"/>
                </a:gs>
                <a:gs pos="100000">
                  <a:srgbClr val="401A5D"/>
                </a:gs>
              </a:gsLst>
              <a:lin scaled="0"/>
            </a:gra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3" name="椭圆 12"/>
            <p:cNvSpPr/>
            <p:nvPr/>
          </p:nvSpPr>
          <p:spPr>
            <a:xfrm>
              <a:off x="8625" y="2501"/>
              <a:ext cx="283" cy="283"/>
            </a:xfrm>
            <a:prstGeom prst="ellipse">
              <a:avLst/>
            </a:prstGeom>
            <a:gradFill>
              <a:gsLst>
                <a:gs pos="0">
                  <a:srgbClr val="7B32B2"/>
                </a:gs>
                <a:gs pos="100000">
                  <a:srgbClr val="401A5D"/>
                </a:gs>
              </a:gsLst>
              <a:lin scaled="0"/>
            </a:gra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6" name="椭圆 15"/>
            <p:cNvSpPr/>
            <p:nvPr/>
          </p:nvSpPr>
          <p:spPr>
            <a:xfrm>
              <a:off x="9766" y="2961"/>
              <a:ext cx="283" cy="283"/>
            </a:xfrm>
            <a:prstGeom prst="ellipse">
              <a:avLst/>
            </a:prstGeom>
            <a:gradFill>
              <a:gsLst>
                <a:gs pos="0">
                  <a:srgbClr val="7B32B2"/>
                </a:gs>
                <a:gs pos="100000">
                  <a:srgbClr val="401A5D"/>
                </a:gs>
              </a:gsLst>
              <a:lin scaled="0"/>
            </a:gra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7" name="椭圆 16"/>
            <p:cNvSpPr/>
            <p:nvPr/>
          </p:nvSpPr>
          <p:spPr>
            <a:xfrm>
              <a:off x="10388" y="2395"/>
              <a:ext cx="283" cy="283"/>
            </a:xfrm>
            <a:prstGeom prst="ellipse">
              <a:avLst/>
            </a:prstGeom>
            <a:gradFill>
              <a:gsLst>
                <a:gs pos="0">
                  <a:srgbClr val="7B32B2"/>
                </a:gs>
                <a:gs pos="100000">
                  <a:srgbClr val="401A5D"/>
                </a:gs>
              </a:gsLst>
              <a:lin scaled="0"/>
            </a:gra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9" name="椭圆 18"/>
            <p:cNvSpPr/>
            <p:nvPr/>
          </p:nvSpPr>
          <p:spPr>
            <a:xfrm>
              <a:off x="10938" y="2961"/>
              <a:ext cx="283" cy="283"/>
            </a:xfrm>
            <a:prstGeom prst="ellipse">
              <a:avLst/>
            </a:prstGeom>
            <a:gradFill>
              <a:gsLst>
                <a:gs pos="0">
                  <a:srgbClr val="7B32B2"/>
                </a:gs>
                <a:gs pos="100000">
                  <a:srgbClr val="401A5D"/>
                </a:gs>
              </a:gsLst>
              <a:lin scaled="0"/>
            </a:gra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cxnSp>
          <p:nvCxnSpPr>
            <p:cNvPr id="20" name="直接连接符 19"/>
            <p:cNvCxnSpPr>
              <a:endCxn id="7" idx="4"/>
            </p:cNvCxnSpPr>
            <p:nvPr/>
          </p:nvCxnSpPr>
          <p:spPr>
            <a:xfrm flipV="1">
              <a:off x="5754" y="2678"/>
              <a:ext cx="684" cy="3866"/>
            </a:xfrm>
            <a:prstGeom prst="line">
              <a:avLst/>
            </a:prstGeom>
            <a:ln w="190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2" name="直接连接符 21"/>
            <p:cNvCxnSpPr>
              <a:endCxn id="9" idx="4"/>
            </p:cNvCxnSpPr>
            <p:nvPr/>
          </p:nvCxnSpPr>
          <p:spPr>
            <a:xfrm flipV="1">
              <a:off x="6190" y="2296"/>
              <a:ext cx="639" cy="4248"/>
            </a:xfrm>
            <a:prstGeom prst="line">
              <a:avLst/>
            </a:prstGeom>
            <a:ln w="190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3" name="直接连接符 22"/>
            <p:cNvCxnSpPr>
              <a:endCxn id="11" idx="4"/>
            </p:cNvCxnSpPr>
            <p:nvPr/>
          </p:nvCxnSpPr>
          <p:spPr>
            <a:xfrm flipV="1">
              <a:off x="6722" y="2395"/>
              <a:ext cx="1212" cy="4163"/>
            </a:xfrm>
            <a:prstGeom prst="line">
              <a:avLst/>
            </a:prstGeom>
            <a:ln w="190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4" name="直接连接符 23"/>
            <p:cNvCxnSpPr/>
            <p:nvPr/>
          </p:nvCxnSpPr>
          <p:spPr>
            <a:xfrm flipV="1">
              <a:off x="8481" y="2784"/>
              <a:ext cx="286" cy="3897"/>
            </a:xfrm>
            <a:prstGeom prst="line">
              <a:avLst/>
            </a:prstGeom>
            <a:ln w="190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5" name="直接连接符 24"/>
            <p:cNvCxnSpPr>
              <a:endCxn id="12" idx="4"/>
            </p:cNvCxnSpPr>
            <p:nvPr/>
          </p:nvCxnSpPr>
          <p:spPr>
            <a:xfrm flipV="1">
              <a:off x="8836" y="2296"/>
              <a:ext cx="416" cy="4357"/>
            </a:xfrm>
            <a:prstGeom prst="line">
              <a:avLst/>
            </a:prstGeom>
            <a:ln w="190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6" name="直接连接符 25"/>
            <p:cNvCxnSpPr>
              <a:endCxn id="16" idx="4"/>
            </p:cNvCxnSpPr>
            <p:nvPr/>
          </p:nvCxnSpPr>
          <p:spPr>
            <a:xfrm flipV="1">
              <a:off x="9340" y="3244"/>
              <a:ext cx="568" cy="3382"/>
            </a:xfrm>
            <a:prstGeom prst="line">
              <a:avLst/>
            </a:prstGeom>
            <a:ln w="190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7" name="直接连接符 26"/>
            <p:cNvCxnSpPr>
              <a:endCxn id="17" idx="4"/>
            </p:cNvCxnSpPr>
            <p:nvPr/>
          </p:nvCxnSpPr>
          <p:spPr>
            <a:xfrm flipV="1">
              <a:off x="9722" y="2678"/>
              <a:ext cx="808" cy="3907"/>
            </a:xfrm>
            <a:prstGeom prst="line">
              <a:avLst/>
            </a:prstGeom>
            <a:ln w="190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8" name="直接连接符 27"/>
            <p:cNvCxnSpPr>
              <a:endCxn id="19" idx="4"/>
            </p:cNvCxnSpPr>
            <p:nvPr/>
          </p:nvCxnSpPr>
          <p:spPr>
            <a:xfrm flipV="1">
              <a:off x="10614" y="3244"/>
              <a:ext cx="466" cy="3037"/>
            </a:xfrm>
            <a:prstGeom prst="line">
              <a:avLst/>
            </a:prstGeom>
            <a:ln w="190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9" name="直接连接符 28"/>
            <p:cNvCxnSpPr>
              <a:endCxn id="9" idx="5"/>
            </p:cNvCxnSpPr>
            <p:nvPr/>
          </p:nvCxnSpPr>
          <p:spPr>
            <a:xfrm flipH="1" flipV="1">
              <a:off x="6929" y="2255"/>
              <a:ext cx="4566" cy="4371"/>
            </a:xfrm>
            <a:prstGeom prst="line">
              <a:avLst/>
            </a:prstGeom>
            <a:ln w="19050">
              <a:solidFill>
                <a:srgbClr val="002060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31" name="直接连接符 30"/>
            <p:cNvCxnSpPr>
              <a:endCxn id="12" idx="5"/>
            </p:cNvCxnSpPr>
            <p:nvPr/>
          </p:nvCxnSpPr>
          <p:spPr>
            <a:xfrm flipH="1" flipV="1">
              <a:off x="9352" y="2255"/>
              <a:ext cx="2443" cy="4057"/>
            </a:xfrm>
            <a:prstGeom prst="line">
              <a:avLst/>
            </a:prstGeom>
            <a:ln w="19050">
              <a:solidFill>
                <a:srgbClr val="002060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32" name="直接连接符 31"/>
            <p:cNvCxnSpPr>
              <a:endCxn id="11" idx="4"/>
            </p:cNvCxnSpPr>
            <p:nvPr/>
          </p:nvCxnSpPr>
          <p:spPr>
            <a:xfrm flipH="1" flipV="1">
              <a:off x="7934" y="2395"/>
              <a:ext cx="3779" cy="4217"/>
            </a:xfrm>
            <a:prstGeom prst="line">
              <a:avLst/>
            </a:prstGeom>
            <a:ln w="19050">
              <a:solidFill>
                <a:srgbClr val="002060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33" name="直接连接符 32"/>
            <p:cNvCxnSpPr>
              <a:endCxn id="19" idx="5"/>
            </p:cNvCxnSpPr>
            <p:nvPr/>
          </p:nvCxnSpPr>
          <p:spPr>
            <a:xfrm flipH="1" flipV="1">
              <a:off x="11180" y="3203"/>
              <a:ext cx="1310" cy="3259"/>
            </a:xfrm>
            <a:prstGeom prst="line">
              <a:avLst/>
            </a:prstGeom>
            <a:ln w="19050">
              <a:solidFill>
                <a:srgbClr val="002060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34" name="直接连接符 33"/>
            <p:cNvCxnSpPr>
              <a:endCxn id="17" idx="5"/>
            </p:cNvCxnSpPr>
            <p:nvPr/>
          </p:nvCxnSpPr>
          <p:spPr>
            <a:xfrm flipH="1" flipV="1">
              <a:off x="10630" y="2637"/>
              <a:ext cx="1506" cy="3975"/>
            </a:xfrm>
            <a:prstGeom prst="line">
              <a:avLst/>
            </a:prstGeom>
            <a:ln w="19050">
              <a:solidFill>
                <a:srgbClr val="002060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aphicFrame>
        <p:nvGraphicFramePr>
          <p:cNvPr id="4" name="表格 3"/>
          <p:cNvGraphicFramePr/>
          <p:nvPr/>
        </p:nvGraphicFramePr>
        <p:xfrm>
          <a:off x="2418080" y="2078990"/>
          <a:ext cx="8534400" cy="270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40000"/>
                <a:gridCol w="540000"/>
                <a:gridCol w="540000"/>
                <a:gridCol w="540000"/>
                <a:gridCol w="540000"/>
              </a:tblGrid>
              <a:tr h="5400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>
                      <a:noFill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>
                      <a:noFill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>
                      <a:noFill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>
                      <a:noFill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  <a:tr h="5400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>
                      <a:noFill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  <a:tr h="5400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>
                      <a:noFill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  <a:tr h="5400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>
                      <a:noFill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  <a:tr h="5400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>
                      <a:noFill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</a:tbl>
          </a:graphicData>
        </a:graphic>
      </p:graphicFrame>
      <p:graphicFrame>
        <p:nvGraphicFramePr>
          <p:cNvPr id="5" name="表格 4"/>
          <p:cNvGraphicFramePr/>
          <p:nvPr/>
        </p:nvGraphicFramePr>
        <p:xfrm>
          <a:off x="5951220" y="2079625"/>
          <a:ext cx="2700020" cy="270013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40000"/>
                <a:gridCol w="540385"/>
                <a:gridCol w="539615"/>
                <a:gridCol w="540000"/>
                <a:gridCol w="540000"/>
              </a:tblGrid>
              <a:tr h="53975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>
                      <a:noFill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>
                      <a:noFill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>
                      <a:noFill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>
                      <a:noFill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  <a:tr h="540385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>
                      <a:noFill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  <a:tr h="5400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>
                      <a:noFill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  <a:tr h="5400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>
                      <a:noFill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  <a:tr h="5400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>
                      <a:noFill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</a:tbl>
          </a:graphicData>
        </a:graphic>
      </p:graphicFrame>
      <p:graphicFrame>
        <p:nvGraphicFramePr>
          <p:cNvPr id="7" name="表格 6"/>
          <p:cNvGraphicFramePr/>
          <p:nvPr/>
        </p:nvGraphicFramePr>
        <p:xfrm>
          <a:off x="2418080" y="2078990"/>
          <a:ext cx="8534400" cy="270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40000"/>
                <a:gridCol w="540000"/>
                <a:gridCol w="540000"/>
                <a:gridCol w="540000"/>
                <a:gridCol w="540000"/>
              </a:tblGrid>
              <a:tr h="5400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>
                      <a:noFill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>
                      <a:noFill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>
                      <a:noFill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>
                      <a:noFill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  <a:tr h="5400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>
                      <a:noFill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  <a:tr h="5400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>
                      <a:noFill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  <a:tr h="5400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>
                      <a:noFill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  <a:tr h="5400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>
                      <a:noFill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34" name="组合 33"/>
          <p:cNvGrpSpPr/>
          <p:nvPr/>
        </p:nvGrpSpPr>
        <p:grpSpPr>
          <a:xfrm>
            <a:off x="788670" y="347980"/>
            <a:ext cx="7884795" cy="5948045"/>
            <a:chOff x="1242" y="548"/>
            <a:chExt cx="12417" cy="9367"/>
          </a:xfrm>
        </p:grpSpPr>
        <p:sp>
          <p:nvSpPr>
            <p:cNvPr id="4" name="圆角矩形 3"/>
            <p:cNvSpPr/>
            <p:nvPr/>
          </p:nvSpPr>
          <p:spPr>
            <a:xfrm>
              <a:off x="1242" y="3744"/>
              <a:ext cx="2611" cy="1194"/>
            </a:xfrm>
            <a:prstGeom prst="roundRect">
              <a:avLst/>
            </a:prstGeom>
            <a:gradFill>
              <a:gsLst>
                <a:gs pos="0">
                  <a:srgbClr val="7B32B2"/>
                </a:gs>
                <a:gs pos="100000">
                  <a:srgbClr val="401A5D"/>
                </a:gs>
              </a:gsLst>
              <a:lin scaled="0"/>
            </a:gradFill>
            <a:ln w="19050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b="1">
                  <a:solidFill>
                    <a:schemeClr val="bg1"/>
                  </a:solidFill>
                  <a:latin typeface="Monaco" panose="020B0500000000000000" charset="-122"/>
                  <a:cs typeface="Monaco" panose="020B0500000000000000" charset="-122"/>
                </a:rPr>
                <a:t>ref keyframe</a:t>
              </a:r>
              <a:endParaRPr lang="en-US" altLang="zh-CN" b="1">
                <a:solidFill>
                  <a:schemeClr val="bg1"/>
                </a:solidFill>
                <a:latin typeface="Monaco" panose="020B0500000000000000" charset="-122"/>
                <a:cs typeface="Monaco" panose="020B0500000000000000" charset="-122"/>
              </a:endParaRPr>
            </a:p>
          </p:txBody>
        </p:sp>
        <p:sp>
          <p:nvSpPr>
            <p:cNvPr id="5" name="圆角矩形 4"/>
            <p:cNvSpPr/>
            <p:nvPr/>
          </p:nvSpPr>
          <p:spPr>
            <a:xfrm>
              <a:off x="5042" y="3744"/>
              <a:ext cx="2611" cy="1194"/>
            </a:xfrm>
            <a:prstGeom prst="roundRect">
              <a:avLst/>
            </a:prstGeom>
            <a:noFill/>
            <a:ln w="19050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gradFill>
                    <a:gsLst>
                      <a:gs pos="0">
                        <a:srgbClr val="7B32B2"/>
                      </a:gs>
                      <a:gs pos="100000">
                        <a:srgbClr val="401A5D"/>
                      </a:gs>
                    </a:gsLst>
                    <a:lin scaled="0"/>
                  </a:gra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b="1">
                  <a:solidFill>
                    <a:schemeClr val="tx1"/>
                  </a:solidFill>
                  <a:latin typeface="Monaco" panose="020B0500000000000000" charset="-122"/>
                  <a:cs typeface="Monaco" panose="020B0500000000000000" charset="-122"/>
                </a:rPr>
                <a:t>last frame</a:t>
              </a:r>
              <a:endParaRPr lang="en-US" altLang="zh-CN" b="1">
                <a:solidFill>
                  <a:schemeClr val="tx1"/>
                </a:solidFill>
                <a:latin typeface="Monaco" panose="020B0500000000000000" charset="-122"/>
                <a:cs typeface="Monaco" panose="020B0500000000000000" charset="-122"/>
              </a:endParaRPr>
            </a:p>
          </p:txBody>
        </p:sp>
        <p:cxnSp>
          <p:nvCxnSpPr>
            <p:cNvPr id="6" name="直接箭头连接符 5"/>
            <p:cNvCxnSpPr>
              <a:stCxn id="4" idx="3"/>
              <a:endCxn id="5" idx="1"/>
            </p:cNvCxnSpPr>
            <p:nvPr/>
          </p:nvCxnSpPr>
          <p:spPr>
            <a:xfrm>
              <a:off x="3853" y="4341"/>
              <a:ext cx="1189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7" name="圆角矩形 6"/>
            <p:cNvSpPr/>
            <p:nvPr/>
          </p:nvSpPr>
          <p:spPr>
            <a:xfrm>
              <a:off x="1530" y="1623"/>
              <a:ext cx="2611" cy="1194"/>
            </a:xfrm>
            <a:prstGeom prst="roundRect">
              <a:avLst/>
            </a:prstGeom>
            <a:noFill/>
            <a:ln w="19050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gradFill>
                    <a:gsLst>
                      <a:gs pos="0">
                        <a:srgbClr val="7B32B2"/>
                      </a:gs>
                      <a:gs pos="100000">
                        <a:srgbClr val="401A5D"/>
                      </a:gs>
                    </a:gsLst>
                    <a:lin scaled="0"/>
                  </a:gra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b="1">
                  <a:solidFill>
                    <a:schemeClr val="tx1"/>
                  </a:solidFill>
                  <a:latin typeface="Monaco" panose="020B0500000000000000" charset="-122"/>
                  <a:cs typeface="Monaco" panose="020B0500000000000000" charset="-122"/>
                </a:rPr>
                <a:t>llast frame</a:t>
              </a:r>
              <a:endParaRPr lang="en-US" altLang="zh-CN" b="1">
                <a:solidFill>
                  <a:schemeClr val="tx1"/>
                </a:solidFill>
                <a:latin typeface="Monaco" panose="020B0500000000000000" charset="-122"/>
                <a:cs typeface="Monaco" panose="020B0500000000000000" charset="-122"/>
              </a:endParaRPr>
            </a:p>
          </p:txBody>
        </p:sp>
        <p:sp>
          <p:nvSpPr>
            <p:cNvPr id="8" name="圆角矩形 7"/>
            <p:cNvSpPr/>
            <p:nvPr/>
          </p:nvSpPr>
          <p:spPr>
            <a:xfrm>
              <a:off x="5330" y="1623"/>
              <a:ext cx="2611" cy="1194"/>
            </a:xfrm>
            <a:prstGeom prst="roundRect">
              <a:avLst/>
            </a:prstGeom>
            <a:noFill/>
            <a:ln w="19050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gradFill>
                    <a:gsLst>
                      <a:gs pos="0">
                        <a:srgbClr val="7B32B2"/>
                      </a:gs>
                      <a:gs pos="100000">
                        <a:srgbClr val="401A5D"/>
                      </a:gs>
                    </a:gsLst>
                    <a:lin scaled="0"/>
                  </a:gra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b="1">
                  <a:solidFill>
                    <a:schemeClr val="tx1"/>
                  </a:solidFill>
                  <a:latin typeface="Monaco" panose="020B0500000000000000" charset="-122"/>
                  <a:cs typeface="Monaco" panose="020B0500000000000000" charset="-122"/>
                </a:rPr>
                <a:t>last </a:t>
              </a:r>
              <a:endParaRPr lang="en-US" altLang="zh-CN" b="1">
                <a:solidFill>
                  <a:schemeClr val="tx1"/>
                </a:solidFill>
                <a:latin typeface="Monaco" panose="020B0500000000000000" charset="-122"/>
                <a:cs typeface="Monaco" panose="020B0500000000000000" charset="-122"/>
              </a:endParaRPr>
            </a:p>
            <a:p>
              <a:pPr algn="ctr"/>
              <a:r>
                <a:rPr lang="en-US" altLang="zh-CN" b="1">
                  <a:solidFill>
                    <a:schemeClr val="tx1"/>
                  </a:solidFill>
                  <a:latin typeface="Monaco" panose="020B0500000000000000" charset="-122"/>
                  <a:cs typeface="Monaco" panose="020B0500000000000000" charset="-122"/>
                </a:rPr>
                <a:t>frame</a:t>
              </a:r>
              <a:endParaRPr lang="en-US" altLang="zh-CN" b="1">
                <a:solidFill>
                  <a:schemeClr val="tx1"/>
                </a:solidFill>
                <a:latin typeface="Monaco" panose="020B0500000000000000" charset="-122"/>
                <a:cs typeface="Monaco" panose="020B0500000000000000" charset="-122"/>
              </a:endParaRPr>
            </a:p>
          </p:txBody>
        </p:sp>
        <p:cxnSp>
          <p:nvCxnSpPr>
            <p:cNvPr id="9" name="直接箭头连接符 8"/>
            <p:cNvCxnSpPr>
              <a:stCxn id="7" idx="3"/>
              <a:endCxn id="8" idx="1"/>
            </p:cNvCxnSpPr>
            <p:nvPr/>
          </p:nvCxnSpPr>
          <p:spPr>
            <a:xfrm>
              <a:off x="4141" y="2220"/>
              <a:ext cx="1189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10" name="矩形 9"/>
            <p:cNvSpPr/>
            <p:nvPr/>
          </p:nvSpPr>
          <p:spPr>
            <a:xfrm>
              <a:off x="1242" y="1273"/>
              <a:ext cx="7255" cy="1937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prstDash val="sys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文本框 10"/>
                <p:cNvSpPr txBox="1"/>
                <p:nvPr/>
              </p:nvSpPr>
              <p:spPr>
                <a:xfrm>
                  <a:off x="1242" y="548"/>
                  <a:ext cx="1289" cy="725"/>
                </a:xfrm>
                <a:prstGeom prst="rect">
                  <a:avLst/>
                </a:prstGeom>
                <a:noFill/>
              </p:spPr>
              <p:txBody>
                <a:bodyPr wrap="none" rtlCol="0" anchor="t">
                  <a:spAutoFit/>
                </a:bodyPr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2400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bPr>
                          <m:e>
                            <m:r>
                              <a:rPr lang="en-US" altLang="zh-CN" sz="2400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𝑻</m:t>
                            </m:r>
                          </m:e>
                          <m:sub>
                            <m:r>
                              <a:rPr lang="en-US" altLang="zh-CN" sz="2400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𝒍𝒍</m:t>
                            </m:r>
                            <m:r>
                              <a:rPr lang="en-US" altLang="zh-CN" sz="2400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→</m:t>
                            </m:r>
                            <m:r>
                              <a:rPr lang="en-US" altLang="zh-CN" sz="2400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𝒍</m:t>
                            </m:r>
                          </m:sub>
                        </m:sSub>
                      </m:oMath>
                    </m:oMathPara>
                  </a14:m>
                  <a:endParaRPr lang="en-US" altLang="zh-CN" sz="2400" b="1" i="1"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11" name="文本框 1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2" y="548"/>
                  <a:ext cx="1289" cy="725"/>
                </a:xfrm>
                <a:prstGeom prst="rect">
                  <a:avLst/>
                </a:prstGeom>
                <a:blipFill rotWithShape="1">
                  <a:blip r:embed="rId1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圆角矩形 11"/>
            <p:cNvSpPr/>
            <p:nvPr/>
          </p:nvSpPr>
          <p:spPr>
            <a:xfrm>
              <a:off x="8842" y="3744"/>
              <a:ext cx="2611" cy="1194"/>
            </a:xfrm>
            <a:prstGeom prst="roundRect">
              <a:avLst/>
            </a:prstGeom>
            <a:noFill/>
            <a:ln w="19050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gradFill>
                    <a:gsLst>
                      <a:gs pos="0">
                        <a:srgbClr val="7B32B2"/>
                      </a:gs>
                      <a:gs pos="100000">
                        <a:srgbClr val="401A5D"/>
                      </a:gs>
                    </a:gsLst>
                    <a:lin scaled="0"/>
                  </a:gra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b="1">
                  <a:solidFill>
                    <a:schemeClr val="tx1"/>
                  </a:solidFill>
                  <a:latin typeface="Monaco" panose="020B0500000000000000" charset="-122"/>
                  <a:cs typeface="Monaco" panose="020B0500000000000000" charset="-122"/>
                </a:rPr>
                <a:t>cur frame</a:t>
              </a:r>
              <a:endParaRPr lang="en-US" altLang="zh-CN" b="1">
                <a:solidFill>
                  <a:schemeClr val="tx1"/>
                </a:solidFill>
                <a:latin typeface="Monaco" panose="020B0500000000000000" charset="-122"/>
                <a:cs typeface="Monaco" panose="020B0500000000000000" charset="-122"/>
              </a:endParaRPr>
            </a:p>
          </p:txBody>
        </p:sp>
        <p:cxnSp>
          <p:nvCxnSpPr>
            <p:cNvPr id="13" name="直接箭头连接符 12"/>
            <p:cNvCxnSpPr>
              <a:stCxn id="5" idx="3"/>
              <a:endCxn id="12" idx="1"/>
            </p:cNvCxnSpPr>
            <p:nvPr/>
          </p:nvCxnSpPr>
          <p:spPr>
            <a:xfrm>
              <a:off x="7653" y="4341"/>
              <a:ext cx="1189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" name="文本框 13"/>
                <p:cNvSpPr txBox="1"/>
                <p:nvPr/>
              </p:nvSpPr>
              <p:spPr>
                <a:xfrm>
                  <a:off x="7653" y="3810"/>
                  <a:ext cx="1032" cy="531"/>
                </a:xfrm>
                <a:prstGeom prst="rect">
                  <a:avLst/>
                </a:prstGeom>
                <a:noFill/>
              </p:spPr>
              <p:txBody>
                <a:bodyPr wrap="none" rtlCol="0" anchor="t">
                  <a:spAutoFit/>
                </a:bodyPr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600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bPr>
                          <m:e>
                            <m:r>
                              <a:rPr lang="en-US" altLang="zh-CN" sz="1600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𝑻</m:t>
                            </m:r>
                          </m:e>
                          <m:sub>
                            <m:r>
                              <a:rPr lang="en-US" altLang="zh-CN" sz="1600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𝒍𝒍</m:t>
                            </m:r>
                            <m:r>
                              <a:rPr lang="en-US" altLang="zh-CN" sz="1600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→</m:t>
                            </m:r>
                            <m:r>
                              <a:rPr lang="en-US" altLang="zh-CN" sz="1600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𝒍</m:t>
                            </m:r>
                          </m:sub>
                        </m:sSub>
                      </m:oMath>
                    </m:oMathPara>
                  </a14:m>
                  <a:endParaRPr lang="en-US" altLang="zh-CN" sz="1600" b="1" i="1"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14" name="文本框 1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53" y="3810"/>
                  <a:ext cx="1032" cy="531"/>
                </a:xfrm>
                <a:prstGeom prst="rect">
                  <a:avLst/>
                </a:prstGeom>
                <a:blipFill rotWithShape="1">
                  <a:blip r:embed="rId2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" name="圆角矩形 14"/>
            <p:cNvSpPr/>
            <p:nvPr/>
          </p:nvSpPr>
          <p:spPr>
            <a:xfrm>
              <a:off x="1242" y="5403"/>
              <a:ext cx="2611" cy="1194"/>
            </a:xfrm>
            <a:prstGeom prst="roundRect">
              <a:avLst/>
            </a:prstGeom>
            <a:gradFill>
              <a:gsLst>
                <a:gs pos="0">
                  <a:srgbClr val="7B32B2"/>
                </a:gs>
                <a:gs pos="100000">
                  <a:srgbClr val="401A5D"/>
                </a:gs>
              </a:gsLst>
              <a:lin scaled="0"/>
            </a:gradFill>
            <a:ln w="19050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b="1">
                  <a:solidFill>
                    <a:schemeClr val="bg1"/>
                  </a:solidFill>
                  <a:latin typeface="Monaco" panose="020B0500000000000000" charset="-122"/>
                  <a:cs typeface="Monaco" panose="020B0500000000000000" charset="-122"/>
                </a:rPr>
                <a:t>ref keyframe</a:t>
              </a:r>
              <a:endParaRPr lang="en-US" altLang="zh-CN" b="1">
                <a:solidFill>
                  <a:schemeClr val="bg1"/>
                </a:solidFill>
                <a:latin typeface="Monaco" panose="020B0500000000000000" charset="-122"/>
                <a:cs typeface="Monaco" panose="020B0500000000000000" charset="-122"/>
              </a:endParaRPr>
            </a:p>
          </p:txBody>
        </p:sp>
        <p:sp>
          <p:nvSpPr>
            <p:cNvPr id="16" name="圆角矩形 15"/>
            <p:cNvSpPr/>
            <p:nvPr/>
          </p:nvSpPr>
          <p:spPr>
            <a:xfrm>
              <a:off x="5042" y="5403"/>
              <a:ext cx="2611" cy="1194"/>
            </a:xfrm>
            <a:prstGeom prst="roundRect">
              <a:avLst/>
            </a:prstGeom>
            <a:noFill/>
            <a:ln w="19050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gradFill>
                    <a:gsLst>
                      <a:gs pos="0">
                        <a:srgbClr val="7B32B2"/>
                      </a:gs>
                      <a:gs pos="100000">
                        <a:srgbClr val="401A5D"/>
                      </a:gs>
                    </a:gsLst>
                    <a:lin scaled="0"/>
                  </a:gra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b="1">
                  <a:solidFill>
                    <a:schemeClr val="tx1"/>
                  </a:solidFill>
                  <a:latin typeface="Monaco" panose="020B0500000000000000" charset="-122"/>
                  <a:cs typeface="Monaco" panose="020B0500000000000000" charset="-122"/>
                </a:rPr>
                <a:t>last frame</a:t>
              </a:r>
              <a:endParaRPr lang="en-US" altLang="zh-CN" b="1">
                <a:solidFill>
                  <a:schemeClr val="tx1"/>
                </a:solidFill>
                <a:latin typeface="Monaco" panose="020B0500000000000000" charset="-122"/>
                <a:cs typeface="Monaco" panose="020B0500000000000000" charset="-122"/>
              </a:endParaRPr>
            </a:p>
          </p:txBody>
        </p:sp>
        <p:cxnSp>
          <p:nvCxnSpPr>
            <p:cNvPr id="17" name="直接箭头连接符 16"/>
            <p:cNvCxnSpPr>
              <a:stCxn id="15" idx="3"/>
              <a:endCxn id="16" idx="1"/>
            </p:cNvCxnSpPr>
            <p:nvPr/>
          </p:nvCxnSpPr>
          <p:spPr>
            <a:xfrm>
              <a:off x="3853" y="6000"/>
              <a:ext cx="1189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18" name="圆角矩形 17"/>
            <p:cNvSpPr/>
            <p:nvPr/>
          </p:nvSpPr>
          <p:spPr>
            <a:xfrm>
              <a:off x="9810" y="5403"/>
              <a:ext cx="2611" cy="1194"/>
            </a:xfrm>
            <a:prstGeom prst="roundRect">
              <a:avLst/>
            </a:prstGeom>
            <a:noFill/>
            <a:ln w="19050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gradFill>
                    <a:gsLst>
                      <a:gs pos="0">
                        <a:srgbClr val="7B32B2"/>
                      </a:gs>
                      <a:gs pos="100000">
                        <a:srgbClr val="401A5D"/>
                      </a:gs>
                    </a:gsLst>
                    <a:lin scaled="0"/>
                  </a:gra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b="1">
                  <a:solidFill>
                    <a:schemeClr val="tx1"/>
                  </a:solidFill>
                  <a:latin typeface="Monaco" panose="020B0500000000000000" charset="-122"/>
                  <a:cs typeface="Monaco" panose="020B0500000000000000" charset="-122"/>
                </a:rPr>
                <a:t>cur frame</a:t>
              </a:r>
              <a:endParaRPr lang="en-US" altLang="zh-CN" b="1">
                <a:solidFill>
                  <a:schemeClr val="tx1"/>
                </a:solidFill>
                <a:latin typeface="Monaco" panose="020B0500000000000000" charset="-122"/>
                <a:cs typeface="Monaco" panose="020B0500000000000000" charset="-122"/>
              </a:endParaRPr>
            </a:p>
          </p:txBody>
        </p:sp>
        <p:cxnSp>
          <p:nvCxnSpPr>
            <p:cNvPr id="19" name="直接箭头连接符 18"/>
            <p:cNvCxnSpPr>
              <a:stCxn id="16" idx="3"/>
              <a:endCxn id="18" idx="1"/>
            </p:cNvCxnSpPr>
            <p:nvPr/>
          </p:nvCxnSpPr>
          <p:spPr>
            <a:xfrm>
              <a:off x="7653" y="6000"/>
              <a:ext cx="2157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0" name="文本框 19"/>
                <p:cNvSpPr txBox="1"/>
                <p:nvPr/>
              </p:nvSpPr>
              <p:spPr>
                <a:xfrm>
                  <a:off x="7653" y="5469"/>
                  <a:ext cx="1888" cy="531"/>
                </a:xfrm>
                <a:prstGeom prst="rect">
                  <a:avLst/>
                </a:prstGeom>
                <a:noFill/>
              </p:spPr>
              <p:txBody>
                <a:bodyPr wrap="none" rtlCol="0" anchor="t">
                  <a:spAutoFit/>
                </a:bodyPr>
                <a:p>
                  <a:pPr algn="l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16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𝑻</m:t>
                          </m:r>
                        </m:e>
                        <m:sub>
                          <m:r>
                            <a:rPr lang="en-US" altLang="zh-CN" sz="16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𝒍𝒍</m:t>
                          </m:r>
                          <m:r>
                            <a:rPr lang="en-US" altLang="zh-CN" sz="16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→</m:t>
                          </m:r>
                          <m:r>
                            <a:rPr lang="en-US" altLang="zh-CN" sz="16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𝒍</m:t>
                          </m:r>
                        </m:sub>
                      </m:sSub>
                    </m:oMath>
                  </a14:m>
                  <a:r>
                    <a:rPr lang="en-US" altLang="zh-CN" sz="1600" b="1" i="1">
                      <a:latin typeface="Cambria Math" panose="02040503050406030204" charset="0"/>
                      <a:cs typeface="Cambria Math" panose="02040503050406030204" charset="0"/>
                    </a:rPr>
                    <a:t> *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16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𝑻</m:t>
                          </m:r>
                        </m:e>
                        <m:sub>
                          <m:r>
                            <a:rPr lang="en-US" altLang="zh-CN" sz="16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𝒍𝒍</m:t>
                          </m:r>
                          <m:r>
                            <a:rPr lang="en-US" altLang="zh-CN" sz="16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→</m:t>
                          </m:r>
                          <m:r>
                            <a:rPr lang="en-US" altLang="zh-CN" sz="16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𝒍</m:t>
                          </m:r>
                        </m:sub>
                      </m:sSub>
                    </m:oMath>
                  </a14:m>
                  <a:endParaRPr lang="en-US" altLang="zh-CN" sz="1600" b="1" i="1"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20" name="文本框 1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53" y="5469"/>
                  <a:ext cx="1888" cy="531"/>
                </a:xfrm>
                <a:prstGeom prst="rect">
                  <a:avLst/>
                </a:prstGeom>
                <a:blipFill rotWithShape="1">
                  <a:blip r:embed="rId3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" name="圆角矩形 20"/>
            <p:cNvSpPr/>
            <p:nvPr/>
          </p:nvSpPr>
          <p:spPr>
            <a:xfrm>
              <a:off x="1242" y="7062"/>
              <a:ext cx="2611" cy="1194"/>
            </a:xfrm>
            <a:prstGeom prst="roundRect">
              <a:avLst/>
            </a:prstGeom>
            <a:gradFill>
              <a:gsLst>
                <a:gs pos="0">
                  <a:srgbClr val="7B32B2"/>
                </a:gs>
                <a:gs pos="100000">
                  <a:srgbClr val="401A5D"/>
                </a:gs>
              </a:gsLst>
              <a:lin scaled="0"/>
            </a:gradFill>
            <a:ln w="19050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b="1">
                  <a:solidFill>
                    <a:schemeClr val="bg1"/>
                  </a:solidFill>
                  <a:latin typeface="Monaco" panose="020B0500000000000000" charset="-122"/>
                  <a:cs typeface="Monaco" panose="020B0500000000000000" charset="-122"/>
                </a:rPr>
                <a:t>ref keyframe</a:t>
              </a:r>
              <a:endParaRPr lang="en-US" altLang="zh-CN" b="1">
                <a:solidFill>
                  <a:schemeClr val="bg1"/>
                </a:solidFill>
                <a:latin typeface="Monaco" panose="020B0500000000000000" charset="-122"/>
                <a:cs typeface="Monaco" panose="020B0500000000000000" charset="-122"/>
              </a:endParaRPr>
            </a:p>
          </p:txBody>
        </p:sp>
        <p:sp>
          <p:nvSpPr>
            <p:cNvPr id="22" name="圆角矩形 21"/>
            <p:cNvSpPr/>
            <p:nvPr/>
          </p:nvSpPr>
          <p:spPr>
            <a:xfrm>
              <a:off x="5042" y="7062"/>
              <a:ext cx="2611" cy="1194"/>
            </a:xfrm>
            <a:prstGeom prst="roundRect">
              <a:avLst/>
            </a:prstGeom>
            <a:noFill/>
            <a:ln w="19050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gradFill>
                    <a:gsLst>
                      <a:gs pos="0">
                        <a:srgbClr val="7B32B2"/>
                      </a:gs>
                      <a:gs pos="100000">
                        <a:srgbClr val="401A5D"/>
                      </a:gs>
                    </a:gsLst>
                    <a:lin scaled="0"/>
                  </a:gra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b="1">
                  <a:solidFill>
                    <a:schemeClr val="tx1"/>
                  </a:solidFill>
                  <a:latin typeface="Monaco" panose="020B0500000000000000" charset="-122"/>
                  <a:cs typeface="Monaco" panose="020B0500000000000000" charset="-122"/>
                </a:rPr>
                <a:t>last frame</a:t>
              </a:r>
              <a:endParaRPr lang="en-US" altLang="zh-CN" b="1">
                <a:solidFill>
                  <a:schemeClr val="tx1"/>
                </a:solidFill>
                <a:latin typeface="Monaco" panose="020B0500000000000000" charset="-122"/>
                <a:cs typeface="Monaco" panose="020B0500000000000000" charset="-122"/>
              </a:endParaRPr>
            </a:p>
          </p:txBody>
        </p:sp>
        <p:cxnSp>
          <p:nvCxnSpPr>
            <p:cNvPr id="23" name="直接箭头连接符 22"/>
            <p:cNvCxnSpPr>
              <a:stCxn id="21" idx="3"/>
              <a:endCxn id="22" idx="1"/>
            </p:cNvCxnSpPr>
            <p:nvPr/>
          </p:nvCxnSpPr>
          <p:spPr>
            <a:xfrm>
              <a:off x="3853" y="7659"/>
              <a:ext cx="1189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24" name="圆角矩形 23"/>
            <p:cNvSpPr/>
            <p:nvPr/>
          </p:nvSpPr>
          <p:spPr>
            <a:xfrm>
              <a:off x="11049" y="7062"/>
              <a:ext cx="2611" cy="1194"/>
            </a:xfrm>
            <a:prstGeom prst="roundRect">
              <a:avLst/>
            </a:prstGeom>
            <a:noFill/>
            <a:ln w="19050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gradFill>
                    <a:gsLst>
                      <a:gs pos="0">
                        <a:srgbClr val="7B32B2"/>
                      </a:gs>
                      <a:gs pos="100000">
                        <a:srgbClr val="401A5D"/>
                      </a:gs>
                    </a:gsLst>
                    <a:lin scaled="0"/>
                  </a:gra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b="1">
                  <a:solidFill>
                    <a:schemeClr val="tx1"/>
                  </a:solidFill>
                  <a:latin typeface="Monaco" panose="020B0500000000000000" charset="-122"/>
                  <a:cs typeface="Monaco" panose="020B0500000000000000" charset="-122"/>
                </a:rPr>
                <a:t>cur frame</a:t>
              </a:r>
              <a:endParaRPr lang="en-US" altLang="zh-CN" b="1">
                <a:solidFill>
                  <a:schemeClr val="tx1"/>
                </a:solidFill>
                <a:latin typeface="Monaco" panose="020B0500000000000000" charset="-122"/>
                <a:cs typeface="Monaco" panose="020B0500000000000000" charset="-122"/>
              </a:endParaRPr>
            </a:p>
          </p:txBody>
        </p:sp>
        <p:cxnSp>
          <p:nvCxnSpPr>
            <p:cNvPr id="25" name="直接箭头连接符 24"/>
            <p:cNvCxnSpPr>
              <a:stCxn id="22" idx="3"/>
              <a:endCxn id="24" idx="1"/>
            </p:cNvCxnSpPr>
            <p:nvPr/>
          </p:nvCxnSpPr>
          <p:spPr>
            <a:xfrm>
              <a:off x="7653" y="7659"/>
              <a:ext cx="3396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" name="文本框 25"/>
                <p:cNvSpPr txBox="1"/>
                <p:nvPr/>
              </p:nvSpPr>
              <p:spPr>
                <a:xfrm>
                  <a:off x="7653" y="7128"/>
                  <a:ext cx="3396" cy="531"/>
                </a:xfrm>
                <a:prstGeom prst="rect">
                  <a:avLst/>
                </a:prstGeom>
                <a:noFill/>
              </p:spPr>
              <p:txBody>
                <a:bodyPr wrap="none" rtlCol="0" anchor="t">
                  <a:spAutoFit/>
                </a:bodyPr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600" b="1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𝑬𝒙𝒑</m:t>
                        </m:r>
                        <m:r>
                          <a:rPr lang="en-US" altLang="zh-CN" sz="1600" b="1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600" b="1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𝟎</m:t>
                        </m:r>
                        <m:r>
                          <a:rPr lang="en-US" altLang="zh-CN" sz="1600" b="1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.</m:t>
                        </m:r>
                        <m:r>
                          <a:rPr lang="en-US" altLang="zh-CN" sz="1600" b="1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𝟓</m:t>
                        </m:r>
                        <m:r>
                          <a:rPr lang="en-US" altLang="zh-CN" sz="1600" b="1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∗</m:t>
                        </m:r>
                        <m:r>
                          <a:rPr lang="en-US" altLang="zh-CN" sz="1600" b="1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𝒍𝒐𝒈</m:t>
                        </m:r>
                        <m:r>
                          <a:rPr lang="en-US" altLang="zh-CN" sz="1600" b="1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zh-CN" sz="1600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bPr>
                          <m:e>
                            <m:r>
                              <a:rPr lang="en-US" altLang="zh-CN" sz="1600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𝑻</m:t>
                            </m:r>
                          </m:e>
                          <m:sub>
                            <m:r>
                              <a:rPr lang="en-US" altLang="zh-CN" sz="1600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𝒍𝒍</m:t>
                            </m:r>
                            <m:r>
                              <a:rPr lang="en-US" altLang="zh-CN" sz="1600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→</m:t>
                            </m:r>
                            <m:r>
                              <a:rPr lang="en-US" altLang="zh-CN" sz="1600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𝒍</m:t>
                            </m:r>
                          </m:sub>
                        </m:sSub>
                        <m:r>
                          <a:rPr lang="en-US" altLang="zh-CN" sz="1600" b="1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))</m:t>
                        </m:r>
                      </m:oMath>
                    </m:oMathPara>
                  </a14:m>
                  <a:endParaRPr lang="en-US" altLang="zh-CN" sz="1600" b="1" i="1"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26" name="文本框 2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53" y="7128"/>
                  <a:ext cx="3396" cy="531"/>
                </a:xfrm>
                <a:prstGeom prst="rect">
                  <a:avLst/>
                </a:prstGeom>
                <a:blipFill rotWithShape="1">
                  <a:blip r:embed="rId4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" name="圆角矩形 26"/>
            <p:cNvSpPr/>
            <p:nvPr/>
          </p:nvSpPr>
          <p:spPr>
            <a:xfrm>
              <a:off x="1242" y="8721"/>
              <a:ext cx="2611" cy="1194"/>
            </a:xfrm>
            <a:prstGeom prst="roundRect">
              <a:avLst/>
            </a:prstGeom>
            <a:gradFill>
              <a:gsLst>
                <a:gs pos="0">
                  <a:srgbClr val="7B32B2"/>
                </a:gs>
                <a:gs pos="100000">
                  <a:srgbClr val="401A5D"/>
                </a:gs>
              </a:gsLst>
              <a:lin scaled="0"/>
            </a:gradFill>
            <a:ln w="19050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b="1">
                  <a:solidFill>
                    <a:schemeClr val="bg1"/>
                  </a:solidFill>
                  <a:latin typeface="Monaco" panose="020B0500000000000000" charset="-122"/>
                  <a:cs typeface="Monaco" panose="020B0500000000000000" charset="-122"/>
                </a:rPr>
                <a:t>ref keyframe</a:t>
              </a:r>
              <a:endParaRPr lang="en-US" altLang="zh-CN" b="1">
                <a:solidFill>
                  <a:schemeClr val="bg1"/>
                </a:solidFill>
                <a:latin typeface="Monaco" panose="020B0500000000000000" charset="-122"/>
                <a:cs typeface="Monaco" panose="020B0500000000000000" charset="-122"/>
              </a:endParaRPr>
            </a:p>
          </p:txBody>
        </p:sp>
        <p:sp>
          <p:nvSpPr>
            <p:cNvPr id="28" name="圆角矩形 27"/>
            <p:cNvSpPr/>
            <p:nvPr/>
          </p:nvSpPr>
          <p:spPr>
            <a:xfrm>
              <a:off x="5042" y="8721"/>
              <a:ext cx="2611" cy="1194"/>
            </a:xfrm>
            <a:prstGeom prst="roundRect">
              <a:avLst/>
            </a:prstGeom>
            <a:noFill/>
            <a:ln w="19050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gradFill>
                    <a:gsLst>
                      <a:gs pos="0">
                        <a:srgbClr val="7B32B2"/>
                      </a:gs>
                      <a:gs pos="100000">
                        <a:srgbClr val="401A5D"/>
                      </a:gs>
                    </a:gsLst>
                    <a:lin scaled="0"/>
                  </a:gra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b="1">
                  <a:solidFill>
                    <a:schemeClr val="tx1"/>
                  </a:solidFill>
                  <a:latin typeface="Monaco" panose="020B0500000000000000" charset="-122"/>
                  <a:cs typeface="Monaco" panose="020B0500000000000000" charset="-122"/>
                </a:rPr>
                <a:t>cur frame</a:t>
              </a:r>
              <a:endParaRPr lang="en-US" altLang="zh-CN" b="1">
                <a:solidFill>
                  <a:schemeClr val="tx1"/>
                </a:solidFill>
                <a:latin typeface="Monaco" panose="020B0500000000000000" charset="-122"/>
                <a:cs typeface="Monaco" panose="020B0500000000000000" charset="-122"/>
              </a:endParaRPr>
            </a:p>
          </p:txBody>
        </p:sp>
        <p:cxnSp>
          <p:nvCxnSpPr>
            <p:cNvPr id="29" name="直接箭头连接符 28"/>
            <p:cNvCxnSpPr>
              <a:stCxn id="27" idx="3"/>
              <a:endCxn id="28" idx="1"/>
            </p:cNvCxnSpPr>
            <p:nvPr/>
          </p:nvCxnSpPr>
          <p:spPr>
            <a:xfrm>
              <a:off x="3853" y="9318"/>
              <a:ext cx="1189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33" name="文本框 32"/>
            <p:cNvSpPr txBox="1"/>
            <p:nvPr/>
          </p:nvSpPr>
          <p:spPr>
            <a:xfrm>
              <a:off x="3853" y="8790"/>
              <a:ext cx="1079" cy="531"/>
            </a:xfrm>
            <a:prstGeom prst="rect">
              <a:avLst/>
            </a:prstGeom>
            <a:noFill/>
          </p:spPr>
          <p:txBody>
            <a:bodyPr wrap="none" rtlCol="0" anchor="t">
              <a:spAutoFit/>
            </a:bodyPr>
            <a:p>
              <a:pPr algn="l"/>
              <a:r>
                <a:rPr lang="en-US" altLang="zh-CN" sz="1600" b="1" i="1">
                  <a:latin typeface="Cambria Math" panose="02040503050406030204" charset="0"/>
                  <a:cs typeface="Cambria Math" panose="02040503050406030204" charset="0"/>
                </a:rPr>
                <a:t>SE3()</a:t>
              </a:r>
              <a:endParaRPr lang="en-US" altLang="zh-CN" sz="1600" b="1" i="1">
                <a:latin typeface="Cambria Math" panose="02040503050406030204" charset="0"/>
                <a:cs typeface="Cambria Math" panose="02040503050406030204" charset="0"/>
              </a:endParaRP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136" name="组合 135"/>
          <p:cNvGrpSpPr/>
          <p:nvPr/>
        </p:nvGrpSpPr>
        <p:grpSpPr>
          <a:xfrm>
            <a:off x="3909695" y="1299845"/>
            <a:ext cx="4180840" cy="2733040"/>
            <a:chOff x="-843" y="4646"/>
            <a:chExt cx="6584" cy="4304"/>
          </a:xfrm>
        </p:grpSpPr>
        <p:grpSp>
          <p:nvGrpSpPr>
            <p:cNvPr id="45" name="组合 44"/>
            <p:cNvGrpSpPr/>
            <p:nvPr/>
          </p:nvGrpSpPr>
          <p:grpSpPr>
            <a:xfrm>
              <a:off x="-175" y="4828"/>
              <a:ext cx="5696" cy="4042"/>
              <a:chOff x="4650" y="2200"/>
              <a:chExt cx="5696" cy="4042"/>
            </a:xfrm>
          </p:grpSpPr>
          <p:grpSp>
            <p:nvGrpSpPr>
              <p:cNvPr id="32" name="组合 31"/>
              <p:cNvGrpSpPr/>
              <p:nvPr/>
            </p:nvGrpSpPr>
            <p:grpSpPr>
              <a:xfrm>
                <a:off x="4650" y="2345"/>
                <a:ext cx="3226" cy="3444"/>
                <a:chOff x="4595" y="4131"/>
                <a:chExt cx="3226" cy="3444"/>
              </a:xfrm>
            </p:grpSpPr>
            <p:cxnSp>
              <p:nvCxnSpPr>
                <p:cNvPr id="3" name="直接箭头连接符 2"/>
                <p:cNvCxnSpPr/>
                <p:nvPr/>
              </p:nvCxnSpPr>
              <p:spPr>
                <a:xfrm>
                  <a:off x="6381" y="6135"/>
                  <a:ext cx="1440" cy="1440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直接箭头连接符 29"/>
                <p:cNvCxnSpPr/>
                <p:nvPr/>
              </p:nvCxnSpPr>
              <p:spPr>
                <a:xfrm flipV="1">
                  <a:off x="6381" y="4131"/>
                  <a:ext cx="27" cy="2011"/>
                </a:xfrm>
                <a:prstGeom prst="straightConnector1">
                  <a:avLst/>
                </a:prstGeom>
                <a:ln w="28575">
                  <a:solidFill>
                    <a:schemeClr val="accent1">
                      <a:lumMod val="75000"/>
                    </a:schemeClr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31" name="直接箭头连接符 30"/>
                <p:cNvCxnSpPr/>
                <p:nvPr/>
              </p:nvCxnSpPr>
              <p:spPr>
                <a:xfrm flipH="1">
                  <a:off x="4595" y="6122"/>
                  <a:ext cx="1800" cy="1050"/>
                </a:xfrm>
                <a:prstGeom prst="straightConnector1">
                  <a:avLst/>
                </a:prstGeom>
                <a:ln w="28575">
                  <a:solidFill>
                    <a:schemeClr val="accent4">
                      <a:lumMod val="50000"/>
                    </a:schemeClr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5" name="下弧形箭头 34"/>
              <p:cNvSpPr/>
              <p:nvPr/>
            </p:nvSpPr>
            <p:spPr>
              <a:xfrm>
                <a:off x="7744" y="5918"/>
                <a:ext cx="226" cy="129"/>
              </a:xfrm>
              <a:prstGeom prst="curvedUpArrow">
                <a:avLst/>
              </a:prstGeom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40" name="下弧形箭头 39"/>
              <p:cNvSpPr/>
              <p:nvPr/>
            </p:nvSpPr>
            <p:spPr>
              <a:xfrm rot="18840000">
                <a:off x="4821" y="5448"/>
                <a:ext cx="226" cy="129"/>
              </a:xfrm>
              <a:prstGeom prst="curvedUpArrow">
                <a:avLst/>
              </a:prstGeom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41" name="下弧形箭头 40"/>
              <p:cNvSpPr/>
              <p:nvPr/>
            </p:nvSpPr>
            <p:spPr>
              <a:xfrm rot="16620000">
                <a:off x="6551" y="2401"/>
                <a:ext cx="226" cy="129"/>
              </a:xfrm>
              <a:prstGeom prst="curvedUpArrow">
                <a:avLst/>
              </a:prstGeom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chemeClr val="tx1"/>
                  </a:solidFill>
                </a:endParaRP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2" name="文本框 41"/>
                  <p:cNvSpPr txBox="1"/>
                  <p:nvPr/>
                </p:nvSpPr>
                <p:spPr>
                  <a:xfrm>
                    <a:off x="7840" y="5711"/>
                    <a:ext cx="2506" cy="531"/>
                  </a:xfrm>
                  <a:prstGeom prst="rect">
                    <a:avLst/>
                  </a:prstGeom>
                  <a:noFill/>
                </p:spPr>
                <p:txBody>
                  <a:bodyPr wrap="none" rtlCol="0" anchor="t">
                    <a:spAutoFit/>
                  </a:bodyPr>
                  <a:p>
                    <a:pPr algn="l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6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∈</m:t>
                          </m:r>
                          <m:r>
                            <a:rPr lang="en-US" altLang="zh-CN" sz="16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[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600" b="1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sz="1600" b="1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−</m:t>
                                </m:r>
                                <m:r>
                                  <a:rPr lang="en-US" altLang="zh-CN" sz="1600" b="1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𝜹</m:t>
                                </m:r>
                              </m:e>
                              <m:e>
                                <m:r>
                                  <a:rPr lang="en-US" altLang="zh-CN" sz="1600" b="1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lang="en-US" altLang="zh-CN" sz="1600" b="1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+</m:t>
                                </m:r>
                                <m:r>
                                  <a:rPr lang="en-US" altLang="zh-CN" sz="1600" b="1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𝜹</m:t>
                                </m:r>
                              </m:e>
                            </m:mr>
                          </m:m>
                          <m:r>
                            <a:rPr lang="en-US" altLang="zh-CN" sz="1600" b="1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]</m:t>
                          </m:r>
                        </m:oMath>
                      </m:oMathPara>
                    </a14:m>
                    <a:endParaRPr lang="en-US" altLang="zh-CN" sz="1600" b="1" i="1">
                      <a:latin typeface="Cambria Math" panose="02040503050406030204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42" name="文本框 4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840" y="5711"/>
                    <a:ext cx="2506" cy="531"/>
                  </a:xfrm>
                  <a:prstGeom prst="rect">
                    <a:avLst/>
                  </a:prstGeom>
                  <a:blipFill rotWithShape="1">
                    <a:blip r:embed="rId1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3" name="文本框 42"/>
                  <p:cNvSpPr txBox="1"/>
                  <p:nvPr/>
                </p:nvSpPr>
                <p:spPr>
                  <a:xfrm>
                    <a:off x="6603" y="2200"/>
                    <a:ext cx="2506" cy="531"/>
                  </a:xfrm>
                  <a:prstGeom prst="rect">
                    <a:avLst/>
                  </a:prstGeom>
                  <a:noFill/>
                </p:spPr>
                <p:txBody>
                  <a:bodyPr wrap="none" rtlCol="0" anchor="t">
                    <a:spAutoFit/>
                  </a:bodyPr>
                  <a:p>
                    <a:pPr algn="l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6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∈[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600" b="1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sz="1600" b="1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−</m:t>
                                </m:r>
                                <m:r>
                                  <a:rPr lang="en-US" altLang="zh-CN" sz="1600" b="1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𝜹</m:t>
                                </m:r>
                              </m:e>
                              <m:e>
                                <m:r>
                                  <a:rPr lang="en-US" altLang="zh-CN" sz="1600" b="1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lang="en-US" altLang="zh-CN" sz="1600" b="1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+</m:t>
                                </m:r>
                                <m:r>
                                  <a:rPr lang="en-US" altLang="zh-CN" sz="1600" b="1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𝜹</m:t>
                                </m:r>
                              </m:e>
                            </m:mr>
                          </m:m>
                          <m:r>
                            <a:rPr lang="en-US" altLang="zh-CN" sz="1600" b="1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]</m:t>
                          </m:r>
                        </m:oMath>
                      </m:oMathPara>
                    </a14:m>
                    <a:endParaRPr lang="en-US" altLang="zh-CN" sz="1600" b="1" i="1">
                      <a:latin typeface="Cambria Math" panose="02040503050406030204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43" name="文本框 4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603" y="2200"/>
                    <a:ext cx="2506" cy="531"/>
                  </a:xfrm>
                  <a:prstGeom prst="rect">
                    <a:avLst/>
                  </a:prstGeom>
                  <a:blipFill rotWithShape="1">
                    <a:blip r:embed="rId1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4" name="文本框 43"/>
                  <p:cNvSpPr txBox="1"/>
                  <p:nvPr/>
                </p:nvSpPr>
                <p:spPr>
                  <a:xfrm>
                    <a:off x="4851" y="5232"/>
                    <a:ext cx="2506" cy="531"/>
                  </a:xfrm>
                  <a:prstGeom prst="rect">
                    <a:avLst/>
                  </a:prstGeom>
                  <a:noFill/>
                </p:spPr>
                <p:txBody>
                  <a:bodyPr wrap="none" rtlCol="0" anchor="t">
                    <a:spAutoFit/>
                  </a:bodyPr>
                  <a:p>
                    <a:pPr algn="l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6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∈[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600" b="1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sz="1600" b="1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−</m:t>
                                </m:r>
                                <m:r>
                                  <a:rPr lang="en-US" altLang="zh-CN" sz="1600" b="1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𝜹</m:t>
                                </m:r>
                              </m:e>
                              <m:e>
                                <m:r>
                                  <a:rPr lang="en-US" altLang="zh-CN" sz="1600" b="1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lang="en-US" altLang="zh-CN" sz="1600" b="1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+</m:t>
                                </m:r>
                                <m:r>
                                  <a:rPr lang="en-US" altLang="zh-CN" sz="1600" b="1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𝜹</m:t>
                                </m:r>
                              </m:e>
                            </m:mr>
                          </m:m>
                          <m:r>
                            <a:rPr lang="en-US" altLang="zh-CN" sz="1600" b="1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]</m:t>
                          </m:r>
                        </m:oMath>
                      </m:oMathPara>
                    </a14:m>
                    <a:endParaRPr lang="en-US" altLang="zh-CN" sz="1600" b="1" i="1">
                      <a:latin typeface="Cambria Math" panose="02040503050406030204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44" name="文本框 4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51" y="5232"/>
                    <a:ext cx="2506" cy="531"/>
                  </a:xfrm>
                  <a:prstGeom prst="rect">
                    <a:avLst/>
                  </a:prstGeom>
                  <a:blipFill rotWithShape="1">
                    <a:blip r:embed="rId2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79" name="矩形 78"/>
            <p:cNvSpPr/>
            <p:nvPr/>
          </p:nvSpPr>
          <p:spPr>
            <a:xfrm>
              <a:off x="-843" y="4646"/>
              <a:ext cx="6585" cy="4305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108" name="组合 107"/>
          <p:cNvGrpSpPr/>
          <p:nvPr/>
        </p:nvGrpSpPr>
        <p:grpSpPr>
          <a:xfrm>
            <a:off x="4150360" y="386080"/>
            <a:ext cx="7884795" cy="5948045"/>
            <a:chOff x="1242" y="548"/>
            <a:chExt cx="12417" cy="9367"/>
          </a:xfrm>
        </p:grpSpPr>
        <p:sp>
          <p:nvSpPr>
            <p:cNvPr id="109" name="圆角矩形 108"/>
            <p:cNvSpPr/>
            <p:nvPr/>
          </p:nvSpPr>
          <p:spPr>
            <a:xfrm>
              <a:off x="1242" y="3744"/>
              <a:ext cx="2611" cy="1194"/>
            </a:xfrm>
            <a:prstGeom prst="roundRect">
              <a:avLst/>
            </a:prstGeom>
            <a:gradFill>
              <a:gsLst>
                <a:gs pos="0">
                  <a:srgbClr val="7B32B2"/>
                </a:gs>
                <a:gs pos="100000">
                  <a:srgbClr val="401A5D"/>
                </a:gs>
              </a:gsLst>
              <a:lin scaled="0"/>
            </a:gradFill>
            <a:ln w="19050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b="1">
                  <a:solidFill>
                    <a:schemeClr val="bg1"/>
                  </a:solidFill>
                  <a:latin typeface="Monaco" panose="020B0500000000000000" charset="-122"/>
                  <a:cs typeface="Monaco" panose="020B0500000000000000" charset="-122"/>
                </a:rPr>
                <a:t>ref keyframe</a:t>
              </a:r>
              <a:endParaRPr lang="en-US" altLang="zh-CN" b="1">
                <a:solidFill>
                  <a:schemeClr val="bg1"/>
                </a:solidFill>
                <a:latin typeface="Monaco" panose="020B0500000000000000" charset="-122"/>
                <a:cs typeface="Monaco" panose="020B0500000000000000" charset="-122"/>
              </a:endParaRPr>
            </a:p>
          </p:txBody>
        </p:sp>
        <p:sp>
          <p:nvSpPr>
            <p:cNvPr id="110" name="圆角矩形 109"/>
            <p:cNvSpPr/>
            <p:nvPr/>
          </p:nvSpPr>
          <p:spPr>
            <a:xfrm>
              <a:off x="5042" y="3744"/>
              <a:ext cx="2611" cy="1194"/>
            </a:xfrm>
            <a:prstGeom prst="roundRect">
              <a:avLst/>
            </a:prstGeom>
            <a:noFill/>
            <a:ln w="19050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gradFill>
                    <a:gsLst>
                      <a:gs pos="0">
                        <a:srgbClr val="7B32B2"/>
                      </a:gs>
                      <a:gs pos="100000">
                        <a:srgbClr val="401A5D"/>
                      </a:gs>
                    </a:gsLst>
                    <a:lin scaled="0"/>
                  </a:gra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b="1">
                  <a:solidFill>
                    <a:schemeClr val="tx1"/>
                  </a:solidFill>
                  <a:latin typeface="Monaco" panose="020B0500000000000000" charset="-122"/>
                  <a:cs typeface="Monaco" panose="020B0500000000000000" charset="-122"/>
                </a:rPr>
                <a:t>last frame</a:t>
              </a:r>
              <a:endParaRPr lang="en-US" altLang="zh-CN" b="1">
                <a:solidFill>
                  <a:schemeClr val="tx1"/>
                </a:solidFill>
                <a:latin typeface="Monaco" panose="020B0500000000000000" charset="-122"/>
                <a:cs typeface="Monaco" panose="020B0500000000000000" charset="-122"/>
              </a:endParaRPr>
            </a:p>
          </p:txBody>
        </p:sp>
        <p:cxnSp>
          <p:nvCxnSpPr>
            <p:cNvPr id="111" name="直接箭头连接符 110"/>
            <p:cNvCxnSpPr>
              <a:stCxn id="109" idx="3"/>
              <a:endCxn id="110" idx="1"/>
            </p:cNvCxnSpPr>
            <p:nvPr/>
          </p:nvCxnSpPr>
          <p:spPr>
            <a:xfrm>
              <a:off x="3853" y="4341"/>
              <a:ext cx="1189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112" name="圆角矩形 111"/>
            <p:cNvSpPr/>
            <p:nvPr/>
          </p:nvSpPr>
          <p:spPr>
            <a:xfrm>
              <a:off x="1530" y="1623"/>
              <a:ext cx="2611" cy="1194"/>
            </a:xfrm>
            <a:prstGeom prst="roundRect">
              <a:avLst/>
            </a:prstGeom>
            <a:noFill/>
            <a:ln w="19050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gradFill>
                    <a:gsLst>
                      <a:gs pos="0">
                        <a:srgbClr val="7B32B2"/>
                      </a:gs>
                      <a:gs pos="100000">
                        <a:srgbClr val="401A5D"/>
                      </a:gs>
                    </a:gsLst>
                    <a:lin scaled="0"/>
                  </a:gra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b="1">
                  <a:solidFill>
                    <a:schemeClr val="tx1"/>
                  </a:solidFill>
                  <a:latin typeface="Monaco" panose="020B0500000000000000" charset="-122"/>
                  <a:cs typeface="Monaco" panose="020B0500000000000000" charset="-122"/>
                </a:rPr>
                <a:t>llast frame</a:t>
              </a:r>
              <a:endParaRPr lang="en-US" altLang="zh-CN" b="1">
                <a:solidFill>
                  <a:schemeClr val="tx1"/>
                </a:solidFill>
                <a:latin typeface="Monaco" panose="020B0500000000000000" charset="-122"/>
                <a:cs typeface="Monaco" panose="020B0500000000000000" charset="-122"/>
              </a:endParaRPr>
            </a:p>
          </p:txBody>
        </p:sp>
        <p:sp>
          <p:nvSpPr>
            <p:cNvPr id="113" name="圆角矩形 112"/>
            <p:cNvSpPr/>
            <p:nvPr/>
          </p:nvSpPr>
          <p:spPr>
            <a:xfrm>
              <a:off x="5330" y="1623"/>
              <a:ext cx="2611" cy="1194"/>
            </a:xfrm>
            <a:prstGeom prst="roundRect">
              <a:avLst/>
            </a:prstGeom>
            <a:noFill/>
            <a:ln w="19050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gradFill>
                    <a:gsLst>
                      <a:gs pos="0">
                        <a:srgbClr val="7B32B2"/>
                      </a:gs>
                      <a:gs pos="100000">
                        <a:srgbClr val="401A5D"/>
                      </a:gs>
                    </a:gsLst>
                    <a:lin scaled="0"/>
                  </a:gra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b="1">
                  <a:solidFill>
                    <a:schemeClr val="tx1"/>
                  </a:solidFill>
                  <a:latin typeface="Monaco" panose="020B0500000000000000" charset="-122"/>
                  <a:cs typeface="Monaco" panose="020B0500000000000000" charset="-122"/>
                </a:rPr>
                <a:t>last </a:t>
              </a:r>
              <a:endParaRPr lang="en-US" altLang="zh-CN" b="1">
                <a:solidFill>
                  <a:schemeClr val="tx1"/>
                </a:solidFill>
                <a:latin typeface="Monaco" panose="020B0500000000000000" charset="-122"/>
                <a:cs typeface="Monaco" panose="020B0500000000000000" charset="-122"/>
              </a:endParaRPr>
            </a:p>
            <a:p>
              <a:pPr algn="ctr"/>
              <a:r>
                <a:rPr lang="en-US" altLang="zh-CN" b="1">
                  <a:solidFill>
                    <a:schemeClr val="tx1"/>
                  </a:solidFill>
                  <a:latin typeface="Monaco" panose="020B0500000000000000" charset="-122"/>
                  <a:cs typeface="Monaco" panose="020B0500000000000000" charset="-122"/>
                </a:rPr>
                <a:t>frame</a:t>
              </a:r>
              <a:endParaRPr lang="en-US" altLang="zh-CN" b="1">
                <a:solidFill>
                  <a:schemeClr val="tx1"/>
                </a:solidFill>
                <a:latin typeface="Monaco" panose="020B0500000000000000" charset="-122"/>
                <a:cs typeface="Monaco" panose="020B0500000000000000" charset="-122"/>
              </a:endParaRPr>
            </a:p>
          </p:txBody>
        </p:sp>
        <p:cxnSp>
          <p:nvCxnSpPr>
            <p:cNvPr id="114" name="直接箭头连接符 113"/>
            <p:cNvCxnSpPr>
              <a:stCxn id="112" idx="3"/>
              <a:endCxn id="113" idx="1"/>
            </p:cNvCxnSpPr>
            <p:nvPr/>
          </p:nvCxnSpPr>
          <p:spPr>
            <a:xfrm>
              <a:off x="4141" y="2220"/>
              <a:ext cx="1189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115" name="矩形 114"/>
            <p:cNvSpPr/>
            <p:nvPr/>
          </p:nvSpPr>
          <p:spPr>
            <a:xfrm>
              <a:off x="1242" y="1273"/>
              <a:ext cx="7255" cy="1937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prstDash val="sys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6" name="文本框 115"/>
                <p:cNvSpPr txBox="1"/>
                <p:nvPr/>
              </p:nvSpPr>
              <p:spPr>
                <a:xfrm>
                  <a:off x="1242" y="548"/>
                  <a:ext cx="1289" cy="725"/>
                </a:xfrm>
                <a:prstGeom prst="rect">
                  <a:avLst/>
                </a:prstGeom>
                <a:noFill/>
              </p:spPr>
              <p:txBody>
                <a:bodyPr wrap="none" rtlCol="0" anchor="t">
                  <a:spAutoFit/>
                </a:bodyPr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2400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bPr>
                          <m:e>
                            <m:r>
                              <a:rPr lang="en-US" altLang="zh-CN" sz="2400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𝑻</m:t>
                            </m:r>
                          </m:e>
                          <m:sub>
                            <m:r>
                              <a:rPr lang="en-US" altLang="zh-CN" sz="2400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𝒍𝒍</m:t>
                            </m:r>
                            <m:r>
                              <a:rPr lang="en-US" altLang="zh-CN" sz="2400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→</m:t>
                            </m:r>
                            <m:r>
                              <a:rPr lang="en-US" altLang="zh-CN" sz="2400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𝒍</m:t>
                            </m:r>
                          </m:sub>
                        </m:sSub>
                      </m:oMath>
                    </m:oMathPara>
                  </a14:m>
                  <a:endParaRPr lang="en-US" altLang="zh-CN" sz="2400" b="1" i="1"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116" name="文本框 11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2" y="548"/>
                  <a:ext cx="1289" cy="725"/>
                </a:xfrm>
                <a:prstGeom prst="rect">
                  <a:avLst/>
                </a:prstGeom>
                <a:blipFill rotWithShape="1">
                  <a:blip r:embed="rId1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7" name="圆角矩形 116"/>
            <p:cNvSpPr/>
            <p:nvPr/>
          </p:nvSpPr>
          <p:spPr>
            <a:xfrm>
              <a:off x="8842" y="3744"/>
              <a:ext cx="2611" cy="1194"/>
            </a:xfrm>
            <a:prstGeom prst="roundRect">
              <a:avLst/>
            </a:prstGeom>
            <a:noFill/>
            <a:ln w="19050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gradFill>
                    <a:gsLst>
                      <a:gs pos="0">
                        <a:srgbClr val="7B32B2"/>
                      </a:gs>
                      <a:gs pos="100000">
                        <a:srgbClr val="401A5D"/>
                      </a:gs>
                    </a:gsLst>
                    <a:lin scaled="0"/>
                  </a:gra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b="1">
                  <a:solidFill>
                    <a:schemeClr val="tx1"/>
                  </a:solidFill>
                  <a:latin typeface="Monaco" panose="020B0500000000000000" charset="-122"/>
                  <a:cs typeface="Monaco" panose="020B0500000000000000" charset="-122"/>
                </a:rPr>
                <a:t>cur frame</a:t>
              </a:r>
              <a:endParaRPr lang="en-US" altLang="zh-CN" b="1">
                <a:solidFill>
                  <a:schemeClr val="tx1"/>
                </a:solidFill>
                <a:latin typeface="Monaco" panose="020B0500000000000000" charset="-122"/>
                <a:cs typeface="Monaco" panose="020B0500000000000000" charset="-122"/>
              </a:endParaRPr>
            </a:p>
          </p:txBody>
        </p:sp>
        <p:cxnSp>
          <p:nvCxnSpPr>
            <p:cNvPr id="118" name="直接箭头连接符 117"/>
            <p:cNvCxnSpPr>
              <a:stCxn id="110" idx="3"/>
              <a:endCxn id="117" idx="1"/>
            </p:cNvCxnSpPr>
            <p:nvPr/>
          </p:nvCxnSpPr>
          <p:spPr>
            <a:xfrm>
              <a:off x="7653" y="4341"/>
              <a:ext cx="1189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9" name="文本框 118"/>
                <p:cNvSpPr txBox="1"/>
                <p:nvPr/>
              </p:nvSpPr>
              <p:spPr>
                <a:xfrm>
                  <a:off x="7653" y="3810"/>
                  <a:ext cx="1032" cy="531"/>
                </a:xfrm>
                <a:prstGeom prst="rect">
                  <a:avLst/>
                </a:prstGeom>
                <a:noFill/>
              </p:spPr>
              <p:txBody>
                <a:bodyPr wrap="none" rtlCol="0" anchor="t">
                  <a:spAutoFit/>
                </a:bodyPr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600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bPr>
                          <m:e>
                            <m:r>
                              <a:rPr lang="en-US" altLang="zh-CN" sz="1600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𝑻</m:t>
                            </m:r>
                          </m:e>
                          <m:sub>
                            <m:r>
                              <a:rPr lang="en-US" altLang="zh-CN" sz="1600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𝒍𝒍</m:t>
                            </m:r>
                            <m:r>
                              <a:rPr lang="en-US" altLang="zh-CN" sz="1600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→</m:t>
                            </m:r>
                            <m:r>
                              <a:rPr lang="en-US" altLang="zh-CN" sz="1600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𝒍</m:t>
                            </m:r>
                          </m:sub>
                        </m:sSub>
                      </m:oMath>
                    </m:oMathPara>
                  </a14:m>
                  <a:endParaRPr lang="en-US" altLang="zh-CN" sz="1600" b="1" i="1"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119" name="文本框 11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53" y="3810"/>
                  <a:ext cx="1032" cy="531"/>
                </a:xfrm>
                <a:prstGeom prst="rect">
                  <a:avLst/>
                </a:prstGeom>
                <a:blipFill rotWithShape="1">
                  <a:blip r:embed="rId2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0" name="圆角矩形 119"/>
            <p:cNvSpPr/>
            <p:nvPr/>
          </p:nvSpPr>
          <p:spPr>
            <a:xfrm>
              <a:off x="1242" y="5403"/>
              <a:ext cx="2611" cy="1194"/>
            </a:xfrm>
            <a:prstGeom prst="roundRect">
              <a:avLst/>
            </a:prstGeom>
            <a:gradFill>
              <a:gsLst>
                <a:gs pos="0">
                  <a:srgbClr val="7B32B2"/>
                </a:gs>
                <a:gs pos="100000">
                  <a:srgbClr val="401A5D"/>
                </a:gs>
              </a:gsLst>
              <a:lin scaled="0"/>
            </a:gradFill>
            <a:ln w="19050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b="1">
                  <a:solidFill>
                    <a:schemeClr val="bg1"/>
                  </a:solidFill>
                  <a:latin typeface="Monaco" panose="020B0500000000000000" charset="-122"/>
                  <a:cs typeface="Monaco" panose="020B0500000000000000" charset="-122"/>
                </a:rPr>
                <a:t>ref keyframe</a:t>
              </a:r>
              <a:endParaRPr lang="en-US" altLang="zh-CN" b="1">
                <a:solidFill>
                  <a:schemeClr val="bg1"/>
                </a:solidFill>
                <a:latin typeface="Monaco" panose="020B0500000000000000" charset="-122"/>
                <a:cs typeface="Monaco" panose="020B0500000000000000" charset="-122"/>
              </a:endParaRPr>
            </a:p>
          </p:txBody>
        </p:sp>
        <p:sp>
          <p:nvSpPr>
            <p:cNvPr id="121" name="圆角矩形 120"/>
            <p:cNvSpPr/>
            <p:nvPr/>
          </p:nvSpPr>
          <p:spPr>
            <a:xfrm>
              <a:off x="5042" y="5403"/>
              <a:ext cx="2611" cy="1194"/>
            </a:xfrm>
            <a:prstGeom prst="roundRect">
              <a:avLst/>
            </a:prstGeom>
            <a:noFill/>
            <a:ln w="19050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gradFill>
                    <a:gsLst>
                      <a:gs pos="0">
                        <a:srgbClr val="7B32B2"/>
                      </a:gs>
                      <a:gs pos="100000">
                        <a:srgbClr val="401A5D"/>
                      </a:gs>
                    </a:gsLst>
                    <a:lin scaled="0"/>
                  </a:gra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b="1">
                  <a:solidFill>
                    <a:schemeClr val="tx1"/>
                  </a:solidFill>
                  <a:latin typeface="Monaco" panose="020B0500000000000000" charset="-122"/>
                  <a:cs typeface="Monaco" panose="020B0500000000000000" charset="-122"/>
                </a:rPr>
                <a:t>last frame</a:t>
              </a:r>
              <a:endParaRPr lang="en-US" altLang="zh-CN" b="1">
                <a:solidFill>
                  <a:schemeClr val="tx1"/>
                </a:solidFill>
                <a:latin typeface="Monaco" panose="020B0500000000000000" charset="-122"/>
                <a:cs typeface="Monaco" panose="020B0500000000000000" charset="-122"/>
              </a:endParaRPr>
            </a:p>
          </p:txBody>
        </p:sp>
        <p:cxnSp>
          <p:nvCxnSpPr>
            <p:cNvPr id="122" name="直接箭头连接符 121"/>
            <p:cNvCxnSpPr>
              <a:stCxn id="120" idx="3"/>
              <a:endCxn id="121" idx="1"/>
            </p:cNvCxnSpPr>
            <p:nvPr/>
          </p:nvCxnSpPr>
          <p:spPr>
            <a:xfrm>
              <a:off x="3853" y="6000"/>
              <a:ext cx="1189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123" name="圆角矩形 122"/>
            <p:cNvSpPr/>
            <p:nvPr/>
          </p:nvSpPr>
          <p:spPr>
            <a:xfrm>
              <a:off x="9810" y="5403"/>
              <a:ext cx="2611" cy="1194"/>
            </a:xfrm>
            <a:prstGeom prst="roundRect">
              <a:avLst/>
            </a:prstGeom>
            <a:noFill/>
            <a:ln w="19050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gradFill>
                    <a:gsLst>
                      <a:gs pos="0">
                        <a:srgbClr val="7B32B2"/>
                      </a:gs>
                      <a:gs pos="100000">
                        <a:srgbClr val="401A5D"/>
                      </a:gs>
                    </a:gsLst>
                    <a:lin scaled="0"/>
                  </a:gra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b="1">
                  <a:solidFill>
                    <a:schemeClr val="tx1"/>
                  </a:solidFill>
                  <a:latin typeface="Monaco" panose="020B0500000000000000" charset="-122"/>
                  <a:cs typeface="Monaco" panose="020B0500000000000000" charset="-122"/>
                </a:rPr>
                <a:t>cur frame</a:t>
              </a:r>
              <a:endParaRPr lang="en-US" altLang="zh-CN" b="1">
                <a:solidFill>
                  <a:schemeClr val="tx1"/>
                </a:solidFill>
                <a:latin typeface="Monaco" panose="020B0500000000000000" charset="-122"/>
                <a:cs typeface="Monaco" panose="020B0500000000000000" charset="-122"/>
              </a:endParaRPr>
            </a:p>
          </p:txBody>
        </p:sp>
        <p:cxnSp>
          <p:nvCxnSpPr>
            <p:cNvPr id="124" name="直接箭头连接符 123"/>
            <p:cNvCxnSpPr>
              <a:stCxn id="121" idx="3"/>
              <a:endCxn id="123" idx="1"/>
            </p:cNvCxnSpPr>
            <p:nvPr/>
          </p:nvCxnSpPr>
          <p:spPr>
            <a:xfrm>
              <a:off x="7653" y="6000"/>
              <a:ext cx="2157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5" name="文本框 124"/>
                <p:cNvSpPr txBox="1"/>
                <p:nvPr/>
              </p:nvSpPr>
              <p:spPr>
                <a:xfrm>
                  <a:off x="7653" y="5469"/>
                  <a:ext cx="1888" cy="531"/>
                </a:xfrm>
                <a:prstGeom prst="rect">
                  <a:avLst/>
                </a:prstGeom>
                <a:noFill/>
              </p:spPr>
              <p:txBody>
                <a:bodyPr wrap="none" rtlCol="0" anchor="t">
                  <a:spAutoFit/>
                </a:bodyPr>
                <a:p>
                  <a:pPr algn="l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16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𝑻</m:t>
                          </m:r>
                        </m:e>
                        <m:sub>
                          <m:r>
                            <a:rPr lang="en-US" altLang="zh-CN" sz="16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𝒍𝒍</m:t>
                          </m:r>
                          <m:r>
                            <a:rPr lang="en-US" altLang="zh-CN" sz="16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→</m:t>
                          </m:r>
                          <m:r>
                            <a:rPr lang="en-US" altLang="zh-CN" sz="16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𝒍</m:t>
                          </m:r>
                        </m:sub>
                      </m:sSub>
                    </m:oMath>
                  </a14:m>
                  <a:r>
                    <a:rPr lang="en-US" altLang="zh-CN" sz="1600" b="1" i="1">
                      <a:latin typeface="Cambria Math" panose="02040503050406030204" charset="0"/>
                      <a:cs typeface="Cambria Math" panose="02040503050406030204" charset="0"/>
                    </a:rPr>
                    <a:t> *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16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𝑻</m:t>
                          </m:r>
                        </m:e>
                        <m:sub>
                          <m:r>
                            <a:rPr lang="en-US" altLang="zh-CN" sz="16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𝒍𝒍</m:t>
                          </m:r>
                          <m:r>
                            <a:rPr lang="en-US" altLang="zh-CN" sz="16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→</m:t>
                          </m:r>
                          <m:r>
                            <a:rPr lang="en-US" altLang="zh-CN" sz="16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𝒍</m:t>
                          </m:r>
                        </m:sub>
                      </m:sSub>
                    </m:oMath>
                  </a14:m>
                  <a:endParaRPr lang="en-US" altLang="zh-CN" sz="1600" b="1" i="1"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125" name="文本框 12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53" y="5469"/>
                  <a:ext cx="1888" cy="531"/>
                </a:xfrm>
                <a:prstGeom prst="rect">
                  <a:avLst/>
                </a:prstGeom>
                <a:blipFill rotWithShape="1">
                  <a:blip r:embed="rId3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6" name="圆角矩形 125"/>
            <p:cNvSpPr/>
            <p:nvPr/>
          </p:nvSpPr>
          <p:spPr>
            <a:xfrm>
              <a:off x="1242" y="7062"/>
              <a:ext cx="2611" cy="1194"/>
            </a:xfrm>
            <a:prstGeom prst="roundRect">
              <a:avLst/>
            </a:prstGeom>
            <a:gradFill>
              <a:gsLst>
                <a:gs pos="0">
                  <a:srgbClr val="7B32B2"/>
                </a:gs>
                <a:gs pos="100000">
                  <a:srgbClr val="401A5D"/>
                </a:gs>
              </a:gsLst>
              <a:lin scaled="0"/>
            </a:gradFill>
            <a:ln w="19050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b="1">
                  <a:solidFill>
                    <a:schemeClr val="bg1"/>
                  </a:solidFill>
                  <a:latin typeface="Monaco" panose="020B0500000000000000" charset="-122"/>
                  <a:cs typeface="Monaco" panose="020B0500000000000000" charset="-122"/>
                </a:rPr>
                <a:t>ref keyframe</a:t>
              </a:r>
              <a:endParaRPr lang="en-US" altLang="zh-CN" b="1">
                <a:solidFill>
                  <a:schemeClr val="bg1"/>
                </a:solidFill>
                <a:latin typeface="Monaco" panose="020B0500000000000000" charset="-122"/>
                <a:cs typeface="Monaco" panose="020B0500000000000000" charset="-122"/>
              </a:endParaRPr>
            </a:p>
          </p:txBody>
        </p:sp>
        <p:sp>
          <p:nvSpPr>
            <p:cNvPr id="127" name="圆角矩形 126"/>
            <p:cNvSpPr/>
            <p:nvPr/>
          </p:nvSpPr>
          <p:spPr>
            <a:xfrm>
              <a:off x="5042" y="7062"/>
              <a:ext cx="2611" cy="1194"/>
            </a:xfrm>
            <a:prstGeom prst="roundRect">
              <a:avLst/>
            </a:prstGeom>
            <a:noFill/>
            <a:ln w="19050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gradFill>
                    <a:gsLst>
                      <a:gs pos="0">
                        <a:srgbClr val="7B32B2"/>
                      </a:gs>
                      <a:gs pos="100000">
                        <a:srgbClr val="401A5D"/>
                      </a:gs>
                    </a:gsLst>
                    <a:lin scaled="0"/>
                  </a:gra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b="1">
                  <a:solidFill>
                    <a:schemeClr val="tx1"/>
                  </a:solidFill>
                  <a:latin typeface="Monaco" panose="020B0500000000000000" charset="-122"/>
                  <a:cs typeface="Monaco" panose="020B0500000000000000" charset="-122"/>
                </a:rPr>
                <a:t>last frame</a:t>
              </a:r>
              <a:endParaRPr lang="en-US" altLang="zh-CN" b="1">
                <a:solidFill>
                  <a:schemeClr val="tx1"/>
                </a:solidFill>
                <a:latin typeface="Monaco" panose="020B0500000000000000" charset="-122"/>
                <a:cs typeface="Monaco" panose="020B0500000000000000" charset="-122"/>
              </a:endParaRPr>
            </a:p>
          </p:txBody>
        </p:sp>
        <p:cxnSp>
          <p:nvCxnSpPr>
            <p:cNvPr id="128" name="直接箭头连接符 127"/>
            <p:cNvCxnSpPr>
              <a:stCxn id="126" idx="3"/>
              <a:endCxn id="127" idx="1"/>
            </p:cNvCxnSpPr>
            <p:nvPr/>
          </p:nvCxnSpPr>
          <p:spPr>
            <a:xfrm>
              <a:off x="3853" y="7659"/>
              <a:ext cx="1189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129" name="圆角矩形 128"/>
            <p:cNvSpPr/>
            <p:nvPr/>
          </p:nvSpPr>
          <p:spPr>
            <a:xfrm>
              <a:off x="11049" y="7062"/>
              <a:ext cx="2611" cy="1194"/>
            </a:xfrm>
            <a:prstGeom prst="roundRect">
              <a:avLst/>
            </a:prstGeom>
            <a:noFill/>
            <a:ln w="19050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gradFill>
                    <a:gsLst>
                      <a:gs pos="0">
                        <a:srgbClr val="7B32B2"/>
                      </a:gs>
                      <a:gs pos="100000">
                        <a:srgbClr val="401A5D"/>
                      </a:gs>
                    </a:gsLst>
                    <a:lin scaled="0"/>
                  </a:gra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b="1">
                  <a:solidFill>
                    <a:schemeClr val="tx1"/>
                  </a:solidFill>
                  <a:latin typeface="Monaco" panose="020B0500000000000000" charset="-122"/>
                  <a:cs typeface="Monaco" panose="020B0500000000000000" charset="-122"/>
                </a:rPr>
                <a:t>cur frame</a:t>
              </a:r>
              <a:endParaRPr lang="en-US" altLang="zh-CN" b="1">
                <a:solidFill>
                  <a:schemeClr val="tx1"/>
                </a:solidFill>
                <a:latin typeface="Monaco" panose="020B0500000000000000" charset="-122"/>
                <a:cs typeface="Monaco" panose="020B0500000000000000" charset="-122"/>
              </a:endParaRPr>
            </a:p>
          </p:txBody>
        </p:sp>
        <p:cxnSp>
          <p:nvCxnSpPr>
            <p:cNvPr id="130" name="直接箭头连接符 129"/>
            <p:cNvCxnSpPr>
              <a:stCxn id="127" idx="3"/>
              <a:endCxn id="129" idx="1"/>
            </p:cNvCxnSpPr>
            <p:nvPr/>
          </p:nvCxnSpPr>
          <p:spPr>
            <a:xfrm>
              <a:off x="7653" y="7659"/>
              <a:ext cx="3396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1" name="文本框 130"/>
                <p:cNvSpPr txBox="1"/>
                <p:nvPr/>
              </p:nvSpPr>
              <p:spPr>
                <a:xfrm>
                  <a:off x="7653" y="7128"/>
                  <a:ext cx="3396" cy="531"/>
                </a:xfrm>
                <a:prstGeom prst="rect">
                  <a:avLst/>
                </a:prstGeom>
                <a:noFill/>
              </p:spPr>
              <p:txBody>
                <a:bodyPr wrap="none" rtlCol="0" anchor="t">
                  <a:spAutoFit/>
                </a:bodyPr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600" b="1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𝑬𝒙𝒑</m:t>
                        </m:r>
                        <m:r>
                          <a:rPr lang="en-US" altLang="zh-CN" sz="1600" b="1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600" b="1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𝟎</m:t>
                        </m:r>
                        <m:r>
                          <a:rPr lang="en-US" altLang="zh-CN" sz="1600" b="1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.</m:t>
                        </m:r>
                        <m:r>
                          <a:rPr lang="en-US" altLang="zh-CN" sz="1600" b="1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𝟓</m:t>
                        </m:r>
                        <m:r>
                          <a:rPr lang="en-US" altLang="zh-CN" sz="1600" b="1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∗</m:t>
                        </m:r>
                        <m:r>
                          <a:rPr lang="en-US" altLang="zh-CN" sz="1600" b="1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𝒍𝒐𝒈</m:t>
                        </m:r>
                        <m:r>
                          <a:rPr lang="en-US" altLang="zh-CN" sz="1600" b="1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zh-CN" sz="1600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bPr>
                          <m:e>
                            <m:r>
                              <a:rPr lang="en-US" altLang="zh-CN" sz="1600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𝑻</m:t>
                            </m:r>
                          </m:e>
                          <m:sub>
                            <m:r>
                              <a:rPr lang="en-US" altLang="zh-CN" sz="1600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𝒍𝒍</m:t>
                            </m:r>
                            <m:r>
                              <a:rPr lang="en-US" altLang="zh-CN" sz="1600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→</m:t>
                            </m:r>
                            <m:r>
                              <a:rPr lang="en-US" altLang="zh-CN" sz="1600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𝒍</m:t>
                            </m:r>
                          </m:sub>
                        </m:sSub>
                        <m:r>
                          <a:rPr lang="en-US" altLang="zh-CN" sz="1600" b="1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))</m:t>
                        </m:r>
                      </m:oMath>
                    </m:oMathPara>
                  </a14:m>
                  <a:endParaRPr lang="en-US" altLang="zh-CN" sz="1600" b="1" i="1"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131" name="文本框 13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53" y="7128"/>
                  <a:ext cx="3396" cy="531"/>
                </a:xfrm>
                <a:prstGeom prst="rect">
                  <a:avLst/>
                </a:prstGeom>
                <a:blipFill rotWithShape="1">
                  <a:blip r:embed="rId4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2" name="圆角矩形 131"/>
            <p:cNvSpPr/>
            <p:nvPr/>
          </p:nvSpPr>
          <p:spPr>
            <a:xfrm>
              <a:off x="1242" y="8721"/>
              <a:ext cx="2611" cy="1194"/>
            </a:xfrm>
            <a:prstGeom prst="roundRect">
              <a:avLst/>
            </a:prstGeom>
            <a:gradFill>
              <a:gsLst>
                <a:gs pos="0">
                  <a:srgbClr val="7B32B2"/>
                </a:gs>
                <a:gs pos="100000">
                  <a:srgbClr val="401A5D"/>
                </a:gs>
              </a:gsLst>
              <a:lin scaled="0"/>
            </a:gradFill>
            <a:ln w="19050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b="1">
                  <a:solidFill>
                    <a:schemeClr val="bg1"/>
                  </a:solidFill>
                  <a:latin typeface="Monaco" panose="020B0500000000000000" charset="-122"/>
                  <a:cs typeface="Monaco" panose="020B0500000000000000" charset="-122"/>
                </a:rPr>
                <a:t>ref keyframe</a:t>
              </a:r>
              <a:endParaRPr lang="en-US" altLang="zh-CN" b="1">
                <a:solidFill>
                  <a:schemeClr val="bg1"/>
                </a:solidFill>
                <a:latin typeface="Monaco" panose="020B0500000000000000" charset="-122"/>
                <a:cs typeface="Monaco" panose="020B0500000000000000" charset="-122"/>
              </a:endParaRPr>
            </a:p>
          </p:txBody>
        </p:sp>
        <p:sp>
          <p:nvSpPr>
            <p:cNvPr id="133" name="圆角矩形 132"/>
            <p:cNvSpPr/>
            <p:nvPr/>
          </p:nvSpPr>
          <p:spPr>
            <a:xfrm>
              <a:off x="5042" y="8721"/>
              <a:ext cx="2611" cy="1194"/>
            </a:xfrm>
            <a:prstGeom prst="roundRect">
              <a:avLst/>
            </a:prstGeom>
            <a:noFill/>
            <a:ln w="19050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gradFill>
                    <a:gsLst>
                      <a:gs pos="0">
                        <a:srgbClr val="7B32B2"/>
                      </a:gs>
                      <a:gs pos="100000">
                        <a:srgbClr val="401A5D"/>
                      </a:gs>
                    </a:gsLst>
                    <a:lin scaled="0"/>
                  </a:gra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b="1">
                  <a:solidFill>
                    <a:schemeClr val="tx1"/>
                  </a:solidFill>
                  <a:latin typeface="Monaco" panose="020B0500000000000000" charset="-122"/>
                  <a:cs typeface="Monaco" panose="020B0500000000000000" charset="-122"/>
                </a:rPr>
                <a:t>cur frame</a:t>
              </a:r>
              <a:endParaRPr lang="en-US" altLang="zh-CN" b="1">
                <a:solidFill>
                  <a:schemeClr val="tx1"/>
                </a:solidFill>
                <a:latin typeface="Monaco" panose="020B0500000000000000" charset="-122"/>
                <a:cs typeface="Monaco" panose="020B0500000000000000" charset="-122"/>
              </a:endParaRPr>
            </a:p>
          </p:txBody>
        </p:sp>
        <p:cxnSp>
          <p:nvCxnSpPr>
            <p:cNvPr id="134" name="直接箭头连接符 133"/>
            <p:cNvCxnSpPr>
              <a:stCxn id="132" idx="3"/>
              <a:endCxn id="133" idx="1"/>
            </p:cNvCxnSpPr>
            <p:nvPr/>
          </p:nvCxnSpPr>
          <p:spPr>
            <a:xfrm>
              <a:off x="3853" y="9318"/>
              <a:ext cx="1189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135" name="文本框 134"/>
            <p:cNvSpPr txBox="1"/>
            <p:nvPr/>
          </p:nvSpPr>
          <p:spPr>
            <a:xfrm>
              <a:off x="3853" y="8790"/>
              <a:ext cx="1079" cy="531"/>
            </a:xfrm>
            <a:prstGeom prst="rect">
              <a:avLst/>
            </a:prstGeom>
            <a:noFill/>
          </p:spPr>
          <p:txBody>
            <a:bodyPr wrap="none" rtlCol="0" anchor="t">
              <a:spAutoFit/>
            </a:bodyPr>
            <a:p>
              <a:pPr algn="l"/>
              <a:r>
                <a:rPr lang="en-US" altLang="zh-CN" sz="1600" b="1" i="1">
                  <a:latin typeface="Cambria Math" panose="02040503050406030204" charset="0"/>
                  <a:cs typeface="Cambria Math" panose="02040503050406030204" charset="0"/>
                </a:rPr>
                <a:t>SE3()</a:t>
              </a:r>
              <a:endParaRPr lang="en-US" altLang="zh-CN" sz="1600" b="1" i="1">
                <a:latin typeface="Cambria Math" panose="02040503050406030204" charset="0"/>
                <a:cs typeface="Cambria Math" panose="02040503050406030204" charset="0"/>
              </a:endParaRPr>
            </a:p>
          </p:txBody>
        </p:sp>
      </p:grpSp>
      <p:grpSp>
        <p:nvGrpSpPr>
          <p:cNvPr id="6" name="组合 5"/>
          <p:cNvGrpSpPr/>
          <p:nvPr/>
        </p:nvGrpSpPr>
        <p:grpSpPr>
          <a:xfrm>
            <a:off x="737870" y="761365"/>
            <a:ext cx="2840355" cy="5572760"/>
            <a:chOff x="375" y="1333"/>
            <a:chExt cx="5466" cy="11320"/>
          </a:xfrm>
        </p:grpSpPr>
        <p:pic>
          <p:nvPicPr>
            <p:cNvPr id="150" name="图片 149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75" y="1333"/>
              <a:ext cx="5467" cy="3575"/>
            </a:xfrm>
            <a:prstGeom prst="rect">
              <a:avLst/>
            </a:prstGeom>
          </p:spPr>
        </p:pic>
        <p:pic>
          <p:nvPicPr>
            <p:cNvPr id="4" name="图片 3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75" y="5206"/>
              <a:ext cx="5467" cy="3575"/>
            </a:xfrm>
            <a:prstGeom prst="rect">
              <a:avLst/>
            </a:prstGeom>
          </p:spPr>
        </p:pic>
        <p:pic>
          <p:nvPicPr>
            <p:cNvPr id="5" name="图片 4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75" y="9079"/>
              <a:ext cx="5467" cy="3575"/>
            </a:xfrm>
            <a:prstGeom prst="rect">
              <a:avLst/>
            </a:prstGeom>
          </p:spPr>
        </p:pic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43" name="文本框 42"/>
              <p:cNvSpPr txBox="1"/>
              <p:nvPr/>
            </p:nvSpPr>
            <p:spPr>
              <a:xfrm>
                <a:off x="737870" y="920115"/>
                <a:ext cx="1006475" cy="33718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1" i="1">
                          <a:latin typeface="Cambria Math" panose="02040503050406030204" charset="0"/>
                          <a:cs typeface="Cambria Math" panose="02040503050406030204" charset="0"/>
                        </a:rPr>
                        <m:t>𝜹</m:t>
                      </m:r>
                      <m:r>
                        <a:rPr lang="en-US" altLang="zh-CN" sz="1600" b="1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sz="1600" b="1" i="1">
                          <a:latin typeface="Cambria Math" panose="02040503050406030204" charset="0"/>
                          <a:cs typeface="Cambria Math" panose="02040503050406030204" charset="0"/>
                        </a:rPr>
                        <m:t>𝟎</m:t>
                      </m:r>
                      <m:r>
                        <a:rPr lang="en-US" altLang="zh-CN" sz="1600" b="1" i="1">
                          <a:latin typeface="Cambria Math" panose="02040503050406030204" charset="0"/>
                          <a:cs typeface="Cambria Math" panose="02040503050406030204" charset="0"/>
                        </a:rPr>
                        <m:t>.</m:t>
                      </m:r>
                      <m:r>
                        <a:rPr lang="en-US" altLang="zh-CN" sz="1600" b="1" i="1">
                          <a:latin typeface="Cambria Math" panose="02040503050406030204" charset="0"/>
                          <a:cs typeface="Cambria Math" panose="02040503050406030204" charset="0"/>
                        </a:rPr>
                        <m:t>𝟎𝟐</m:t>
                      </m:r>
                    </m:oMath>
                  </m:oMathPara>
                </a14:m>
                <a:endParaRPr lang="en-US" altLang="zh-CN" sz="1600" b="1" i="1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43" name="文本框 4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7870" y="920115"/>
                <a:ext cx="1006475" cy="337185"/>
              </a:xfrm>
              <a:prstGeom prst="rect">
                <a:avLst/>
              </a:prstGeom>
              <a:blipFill rotWithShape="1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文本框 6"/>
              <p:cNvSpPr txBox="1"/>
              <p:nvPr/>
            </p:nvSpPr>
            <p:spPr>
              <a:xfrm>
                <a:off x="730885" y="2836545"/>
                <a:ext cx="1006475" cy="33718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1" i="1">
                          <a:latin typeface="Cambria Math" panose="02040503050406030204" charset="0"/>
                          <a:cs typeface="Cambria Math" panose="02040503050406030204" charset="0"/>
                        </a:rPr>
                        <m:t>𝜹</m:t>
                      </m:r>
                      <m:r>
                        <a:rPr lang="en-US" altLang="zh-CN" sz="1600" b="1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sz="1600" b="1" i="1">
                          <a:latin typeface="Cambria Math" panose="02040503050406030204" charset="0"/>
                          <a:cs typeface="Cambria Math" panose="02040503050406030204" charset="0"/>
                        </a:rPr>
                        <m:t>𝟎</m:t>
                      </m:r>
                      <m:r>
                        <a:rPr lang="en-US" altLang="zh-CN" sz="1600" b="1" i="1">
                          <a:latin typeface="Cambria Math" panose="02040503050406030204" charset="0"/>
                          <a:cs typeface="Cambria Math" panose="02040503050406030204" charset="0"/>
                        </a:rPr>
                        <m:t>.</m:t>
                      </m:r>
                      <m:r>
                        <a:rPr lang="en-US" altLang="zh-CN" sz="1600" b="1" i="1">
                          <a:latin typeface="Cambria Math" panose="02040503050406030204" charset="0"/>
                          <a:cs typeface="Cambria Math" panose="02040503050406030204" charset="0"/>
                        </a:rPr>
                        <m:t>𝟎</m:t>
                      </m:r>
                      <m:r>
                        <a:rPr lang="en-US" altLang="zh-CN" sz="1600" b="1" i="1">
                          <a:latin typeface="Cambria Math" panose="02040503050406030204" charset="0"/>
                          <a:cs typeface="Cambria Math" panose="02040503050406030204" charset="0"/>
                        </a:rPr>
                        <m:t>𝟑</m:t>
                      </m:r>
                    </m:oMath>
                  </m:oMathPara>
                </a14:m>
                <a:endParaRPr lang="en-US" altLang="zh-CN" sz="1600" b="1" i="1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7" name="文本框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885" y="2836545"/>
                <a:ext cx="1006475" cy="337185"/>
              </a:xfrm>
              <a:prstGeom prst="rect">
                <a:avLst/>
              </a:prstGeom>
              <a:blipFill rotWithShape="1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文本框 7"/>
              <p:cNvSpPr txBox="1"/>
              <p:nvPr/>
            </p:nvSpPr>
            <p:spPr>
              <a:xfrm>
                <a:off x="730885" y="4752975"/>
                <a:ext cx="1006475" cy="33718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1" i="1">
                          <a:latin typeface="Cambria Math" panose="02040503050406030204" charset="0"/>
                          <a:cs typeface="Cambria Math" panose="02040503050406030204" charset="0"/>
                        </a:rPr>
                        <m:t>𝜹</m:t>
                      </m:r>
                      <m:r>
                        <a:rPr lang="en-US" altLang="zh-CN" sz="1600" b="1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sz="1600" b="1" i="1">
                          <a:latin typeface="Cambria Math" panose="02040503050406030204" charset="0"/>
                          <a:cs typeface="Cambria Math" panose="02040503050406030204" charset="0"/>
                        </a:rPr>
                        <m:t>𝟎</m:t>
                      </m:r>
                      <m:r>
                        <a:rPr lang="en-US" altLang="zh-CN" sz="1600" b="1" i="1">
                          <a:latin typeface="Cambria Math" panose="02040503050406030204" charset="0"/>
                          <a:cs typeface="Cambria Math" panose="02040503050406030204" charset="0"/>
                        </a:rPr>
                        <m:t>.</m:t>
                      </m:r>
                      <m:r>
                        <a:rPr lang="en-US" altLang="zh-CN" sz="1600" b="1" i="1">
                          <a:latin typeface="Cambria Math" panose="02040503050406030204" charset="0"/>
                          <a:cs typeface="Cambria Math" panose="02040503050406030204" charset="0"/>
                        </a:rPr>
                        <m:t>𝟎</m:t>
                      </m:r>
                      <m:r>
                        <a:rPr lang="en-US" altLang="zh-CN" sz="1600" b="1" i="1">
                          <a:latin typeface="Cambria Math" panose="02040503050406030204" charset="0"/>
                          <a:cs typeface="Cambria Math" panose="02040503050406030204" charset="0"/>
                        </a:rPr>
                        <m:t>𝟒</m:t>
                      </m:r>
                    </m:oMath>
                  </m:oMathPara>
                </a14:m>
                <a:endParaRPr lang="en-US" altLang="zh-CN" sz="1600" b="1" i="1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8" name="文本框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885" y="4752975"/>
                <a:ext cx="1006475" cy="337185"/>
              </a:xfrm>
              <a:prstGeom prst="rect">
                <a:avLst/>
              </a:prstGeom>
              <a:blipFill rotWithShape="1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12" name="组合 11"/>
          <p:cNvGrpSpPr/>
          <p:nvPr/>
        </p:nvGrpSpPr>
        <p:grpSpPr>
          <a:xfrm>
            <a:off x="2571115" y="836930"/>
            <a:ext cx="6006465" cy="5043805"/>
            <a:chOff x="4049" y="1318"/>
            <a:chExt cx="9459" cy="7943"/>
          </a:xfrm>
        </p:grpSpPr>
        <p:sp>
          <p:nvSpPr>
            <p:cNvPr id="7" name="矩形 6"/>
            <p:cNvSpPr/>
            <p:nvPr/>
          </p:nvSpPr>
          <p:spPr>
            <a:xfrm>
              <a:off x="7303" y="1318"/>
              <a:ext cx="2139" cy="81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b="1">
                  <a:solidFill>
                    <a:schemeClr val="tx1"/>
                  </a:solidFill>
                  <a:latin typeface="Monaco" panose="020B0500000000000000" charset="-122"/>
                  <a:cs typeface="Monaco" panose="020B0500000000000000" charset="-122"/>
                </a:rPr>
                <a:t>Frame</a:t>
              </a:r>
              <a:endParaRPr lang="en-US" altLang="zh-CN" b="1">
                <a:solidFill>
                  <a:schemeClr val="tx1"/>
                </a:solidFill>
                <a:latin typeface="Monaco" panose="020B0500000000000000" charset="-122"/>
                <a:cs typeface="Monaco" panose="020B0500000000000000" charset="-122"/>
              </a:endParaRPr>
            </a:p>
          </p:txBody>
        </p:sp>
        <p:cxnSp>
          <p:nvCxnSpPr>
            <p:cNvPr id="3" name="直接箭头连接符 2"/>
            <p:cNvCxnSpPr>
              <a:stCxn id="7" idx="2"/>
              <a:endCxn id="4" idx="0"/>
            </p:cNvCxnSpPr>
            <p:nvPr/>
          </p:nvCxnSpPr>
          <p:spPr>
            <a:xfrm>
              <a:off x="8373" y="2133"/>
              <a:ext cx="0" cy="46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4" name="矩形 3"/>
            <p:cNvSpPr/>
            <p:nvPr/>
          </p:nvSpPr>
          <p:spPr>
            <a:xfrm>
              <a:off x="7059" y="2601"/>
              <a:ext cx="2628" cy="81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b="1">
                  <a:solidFill>
                    <a:schemeClr val="tx1"/>
                  </a:solidFill>
                  <a:latin typeface="+mj-ea"/>
                  <a:ea typeface="+mj-ea"/>
                  <a:cs typeface="Monaco" panose="020B0500000000000000" charset="-122"/>
                </a:rPr>
                <a:t>优化未成熟点</a:t>
              </a:r>
              <a:endParaRPr lang="zh-CN" altLang="en-US" b="1">
                <a:solidFill>
                  <a:schemeClr val="tx1"/>
                </a:solidFill>
                <a:latin typeface="+mj-ea"/>
                <a:ea typeface="+mj-ea"/>
                <a:cs typeface="Monaco" panose="020B0500000000000000" charset="-122"/>
              </a:endParaRPr>
            </a:p>
          </p:txBody>
        </p:sp>
        <p:sp>
          <p:nvSpPr>
            <p:cNvPr id="5" name="菱形 4"/>
            <p:cNvSpPr/>
            <p:nvPr/>
          </p:nvSpPr>
          <p:spPr>
            <a:xfrm>
              <a:off x="6618" y="3974"/>
              <a:ext cx="3510" cy="1182"/>
            </a:xfrm>
            <a:prstGeom prst="diamond">
              <a:avLst/>
            </a:prstGeom>
            <a:noFill/>
            <a:ln w="28575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500" b="1">
                  <a:solidFill>
                    <a:schemeClr val="tx1"/>
                  </a:solidFill>
                  <a:latin typeface="Monaco" panose="020B0500000000000000" charset="-122"/>
                  <a:cs typeface="Monaco" panose="020B0500000000000000" charset="-122"/>
                </a:rPr>
                <a:t>is KeyFrame?</a:t>
              </a:r>
              <a:endParaRPr lang="en-US" altLang="zh-CN" sz="1500" b="1">
                <a:solidFill>
                  <a:schemeClr val="tx1"/>
                </a:solidFill>
                <a:latin typeface="Monaco" panose="020B0500000000000000" charset="-122"/>
                <a:cs typeface="Monaco" panose="020B0500000000000000" charset="-122"/>
              </a:endParaRPr>
            </a:p>
          </p:txBody>
        </p:sp>
        <p:cxnSp>
          <p:nvCxnSpPr>
            <p:cNvPr id="2" name="直接箭头连接符 1"/>
            <p:cNvCxnSpPr>
              <a:stCxn id="4" idx="2"/>
              <a:endCxn id="5" idx="0"/>
            </p:cNvCxnSpPr>
            <p:nvPr/>
          </p:nvCxnSpPr>
          <p:spPr>
            <a:xfrm>
              <a:off x="8374" y="3416"/>
              <a:ext cx="0" cy="55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6" name="矩形 5"/>
            <p:cNvSpPr/>
            <p:nvPr/>
          </p:nvSpPr>
          <p:spPr>
            <a:xfrm>
              <a:off x="4049" y="4157"/>
              <a:ext cx="1853" cy="81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b="1">
                  <a:solidFill>
                    <a:schemeClr val="tx1"/>
                  </a:solidFill>
                  <a:latin typeface="Monaco" panose="020B0500000000000000" charset="-122"/>
                  <a:ea typeface="+mj-ea"/>
                  <a:cs typeface="Monaco" panose="020B0500000000000000" charset="-122"/>
                </a:rPr>
                <a:t>out</a:t>
              </a:r>
              <a:endParaRPr lang="en-US" altLang="zh-CN" b="1">
                <a:solidFill>
                  <a:schemeClr val="tx1"/>
                </a:solidFill>
                <a:latin typeface="Monaco" panose="020B0500000000000000" charset="-122"/>
                <a:ea typeface="+mj-ea"/>
                <a:cs typeface="Monaco" panose="020B0500000000000000" charset="-122"/>
              </a:endParaRPr>
            </a:p>
          </p:txBody>
        </p:sp>
        <p:cxnSp>
          <p:nvCxnSpPr>
            <p:cNvPr id="8" name="直接箭头连接符 7"/>
            <p:cNvCxnSpPr>
              <a:stCxn id="5" idx="1"/>
              <a:endCxn id="6" idx="3"/>
            </p:cNvCxnSpPr>
            <p:nvPr/>
          </p:nvCxnSpPr>
          <p:spPr>
            <a:xfrm flipH="1">
              <a:off x="5902" y="4564"/>
              <a:ext cx="716" cy="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9" name="矩形 8"/>
            <p:cNvSpPr/>
            <p:nvPr/>
          </p:nvSpPr>
          <p:spPr>
            <a:xfrm>
              <a:off x="10880" y="4157"/>
              <a:ext cx="2628" cy="81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b="1">
                  <a:solidFill>
                    <a:schemeClr val="tx1"/>
                  </a:solidFill>
                  <a:latin typeface="+mj-ea"/>
                  <a:ea typeface="+mj-ea"/>
                  <a:cs typeface="Monaco" panose="020B0500000000000000" charset="-122"/>
                </a:rPr>
                <a:t>激活未成熟点</a:t>
              </a:r>
              <a:endParaRPr lang="zh-CN" altLang="en-US" b="1">
                <a:solidFill>
                  <a:schemeClr val="tx1"/>
                </a:solidFill>
                <a:latin typeface="+mj-ea"/>
                <a:ea typeface="+mj-ea"/>
                <a:cs typeface="Monaco" panose="020B0500000000000000" charset="-122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" name="矩形 9"/>
                <p:cNvSpPr/>
                <p:nvPr/>
              </p:nvSpPr>
              <p:spPr>
                <a:xfrm>
                  <a:off x="6943" y="6080"/>
                  <a:ext cx="2859" cy="1155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b="1">
                      <a:solidFill>
                        <a:schemeClr val="tx1"/>
                      </a:solidFill>
                      <a:latin typeface="+mj-ea"/>
                      <a:ea typeface="+mj-ea"/>
                      <a:cs typeface="Monaco" panose="020B0500000000000000" charset="-122"/>
                    </a:rPr>
                    <a:t>构建并求解系统的</a:t>
                  </a:r>
                  <a14:m>
                    <m:oMath xmlns:m="http://schemas.openxmlformats.org/officeDocument/2006/math">
                      <m:r>
                        <a:rPr lang="en-US" altLang="zh-CN" b="1">
                          <a:solidFill>
                            <a:schemeClr val="tx1"/>
                          </a:solidFill>
                          <a:latin typeface="Cambria Math" panose="02040503050406030204" charset="0"/>
                          <a:ea typeface="+mj-ea"/>
                          <a:cs typeface="Cambria Math" panose="02040503050406030204" charset="0"/>
                        </a:rPr>
                        <m:t>𝐇</m:t>
                      </m:r>
                    </m:oMath>
                  </a14:m>
                  <a:r>
                    <a:rPr lang="zh-CN" altLang="en-US" b="1">
                      <a:solidFill>
                        <a:schemeClr val="tx1"/>
                      </a:solidFill>
                      <a:latin typeface="+mj-ea"/>
                      <a:ea typeface="+mj-ea"/>
                      <a:cs typeface="Monaco" panose="020B0500000000000000" charset="-122"/>
                    </a:rPr>
                    <a:t>和</a:t>
                  </a:r>
                  <a14:m>
                    <m:oMath xmlns:m="http://schemas.openxmlformats.org/officeDocument/2006/math">
                      <m:r>
                        <a:rPr lang="en-US" altLang="zh-CN" b="1">
                          <a:solidFill>
                            <a:schemeClr val="tx1"/>
                          </a:solidFill>
                          <a:latin typeface="Cambria Math" panose="02040503050406030204" charset="0"/>
                          <a:ea typeface="+mj-ea"/>
                          <a:cs typeface="Cambria Math" panose="02040503050406030204" charset="0"/>
                        </a:rPr>
                        <m:t>𝐛</m:t>
                      </m:r>
                    </m:oMath>
                  </a14:m>
                  <a:r>
                    <a:rPr lang="zh-CN" altLang="en-US" b="1">
                      <a:solidFill>
                        <a:schemeClr val="tx1"/>
                      </a:solidFill>
                      <a:latin typeface="+mj-ea"/>
                      <a:ea typeface="+mj-ea"/>
                      <a:cs typeface="Monaco" panose="020B0500000000000000" charset="-122"/>
                    </a:rPr>
                    <a:t>矩阵</a:t>
                  </a:r>
                  <a:endParaRPr lang="zh-CN" altLang="en-US" b="1">
                    <a:solidFill>
                      <a:schemeClr val="tx1"/>
                    </a:solidFill>
                    <a:latin typeface="+mj-ea"/>
                    <a:ea typeface="+mj-ea"/>
                    <a:cs typeface="Monaco" panose="020B0500000000000000" charset="-122"/>
                  </a:endParaRPr>
                </a:p>
              </p:txBody>
            </p:sp>
          </mc:Choice>
          <mc:Fallback>
            <p:sp>
              <p:nvSpPr>
                <p:cNvPr id="10" name="矩形 9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43" y="6080"/>
                  <a:ext cx="2859" cy="1155"/>
                </a:xfrm>
                <a:prstGeom prst="rect">
                  <a:avLst/>
                </a:prstGeom>
                <a:blipFill rotWithShape="1">
                  <a:blip r:embed="rId1"/>
                </a:blipFill>
                <a:ln w="28575"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" name="直接箭头连接符 10"/>
            <p:cNvCxnSpPr>
              <a:stCxn id="5" idx="3"/>
              <a:endCxn id="9" idx="1"/>
            </p:cNvCxnSpPr>
            <p:nvPr/>
          </p:nvCxnSpPr>
          <p:spPr>
            <a:xfrm>
              <a:off x="10128" y="4564"/>
              <a:ext cx="752" cy="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3" name="肘形连接符 12"/>
            <p:cNvCxnSpPr>
              <a:stCxn id="9" idx="2"/>
              <a:endCxn id="10" idx="0"/>
            </p:cNvCxnSpPr>
            <p:nvPr/>
          </p:nvCxnSpPr>
          <p:spPr>
            <a:xfrm rot="5400000">
              <a:off x="9730" y="3616"/>
              <a:ext cx="1108" cy="3821"/>
            </a:xfrm>
            <a:prstGeom prst="bentConnector3">
              <a:avLst>
                <a:gd name="adj1" fmla="val 49955"/>
              </a:avLst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15" name="矩形 14"/>
            <p:cNvSpPr/>
            <p:nvPr/>
          </p:nvSpPr>
          <p:spPr>
            <a:xfrm>
              <a:off x="6943" y="8107"/>
              <a:ext cx="2859" cy="115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b="1">
                  <a:solidFill>
                    <a:schemeClr val="tx1"/>
                  </a:solidFill>
                  <a:latin typeface="+mj-ea"/>
                  <a:ea typeface="+mj-ea"/>
                  <a:cs typeface="Monaco" panose="020B0500000000000000" charset="-122"/>
                </a:rPr>
                <a:t>判断并边缘化帧和地图点</a:t>
              </a:r>
              <a:endParaRPr lang="zh-CN" b="1">
                <a:solidFill>
                  <a:schemeClr val="tx1"/>
                </a:solidFill>
                <a:latin typeface="+mj-ea"/>
                <a:ea typeface="+mj-ea"/>
                <a:cs typeface="Monaco" panose="020B0500000000000000" charset="-122"/>
              </a:endParaRPr>
            </a:p>
          </p:txBody>
        </p:sp>
        <p:cxnSp>
          <p:nvCxnSpPr>
            <p:cNvPr id="16" name="直接箭头连接符 15"/>
            <p:cNvCxnSpPr>
              <a:stCxn id="10" idx="2"/>
              <a:endCxn id="15" idx="0"/>
            </p:cNvCxnSpPr>
            <p:nvPr/>
          </p:nvCxnSpPr>
          <p:spPr>
            <a:xfrm>
              <a:off x="8365" y="7235"/>
              <a:ext cx="15" cy="87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27" name="组合 26"/>
          <p:cNvGrpSpPr/>
          <p:nvPr/>
        </p:nvGrpSpPr>
        <p:grpSpPr>
          <a:xfrm>
            <a:off x="976630" y="1259840"/>
            <a:ext cx="9224645" cy="3194050"/>
            <a:chOff x="1538" y="1984"/>
            <a:chExt cx="14527" cy="5030"/>
          </a:xfrm>
        </p:grpSpPr>
        <p:sp>
          <p:nvSpPr>
            <p:cNvPr id="4" name="矩形 3"/>
            <p:cNvSpPr/>
            <p:nvPr/>
          </p:nvSpPr>
          <p:spPr>
            <a:xfrm>
              <a:off x="1538" y="2815"/>
              <a:ext cx="8137" cy="418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7030A0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cxnSp>
          <p:nvCxnSpPr>
            <p:cNvPr id="5" name="直接连接符 4"/>
            <p:cNvCxnSpPr>
              <a:stCxn id="9" idx="6"/>
              <a:endCxn id="8" idx="3"/>
            </p:cNvCxnSpPr>
            <p:nvPr/>
          </p:nvCxnSpPr>
          <p:spPr>
            <a:xfrm flipV="1">
              <a:off x="4195" y="4809"/>
              <a:ext cx="2941" cy="1280"/>
            </a:xfrm>
            <a:prstGeom prst="line">
              <a:avLst/>
            </a:prstGeom>
            <a:ln w="28575">
              <a:gradFill>
                <a:gsLst>
                  <a:gs pos="0">
                    <a:srgbClr val="7B32B2"/>
                  </a:gs>
                  <a:gs pos="100000">
                    <a:srgbClr val="401A5D"/>
                  </a:gs>
                </a:gsLst>
              </a:gra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8" name="椭圆 7"/>
            <p:cNvSpPr/>
            <p:nvPr/>
          </p:nvSpPr>
          <p:spPr>
            <a:xfrm rot="1140000">
              <a:off x="7130" y="4728"/>
              <a:ext cx="113" cy="113"/>
            </a:xfrm>
            <a:prstGeom prst="ellipse">
              <a:avLst/>
            </a:prstGeom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9" name="椭圆 8"/>
            <p:cNvSpPr/>
            <p:nvPr/>
          </p:nvSpPr>
          <p:spPr>
            <a:xfrm rot="20280000">
              <a:off x="4086" y="6053"/>
              <a:ext cx="113" cy="113"/>
            </a:xfrm>
            <a:prstGeom prst="ellipse">
              <a:avLst/>
            </a:prstGeom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cxnSp>
          <p:nvCxnSpPr>
            <p:cNvPr id="10" name="曲线连接符 9"/>
            <p:cNvCxnSpPr>
              <a:stCxn id="14" idx="2"/>
              <a:endCxn id="8" idx="7"/>
            </p:cNvCxnSpPr>
            <p:nvPr/>
          </p:nvCxnSpPr>
          <p:spPr>
            <a:xfrm rot="5400000" flipV="1">
              <a:off x="6397" y="3920"/>
              <a:ext cx="673" cy="1007"/>
            </a:xfrm>
            <a:prstGeom prst="curvedConnector3">
              <a:avLst>
                <a:gd name="adj1" fmla="val 46508"/>
              </a:avLst>
            </a:prstGeom>
            <a:ln>
              <a:solidFill>
                <a:srgbClr val="C00000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1" name="曲线连接符 10"/>
            <p:cNvCxnSpPr>
              <a:stCxn id="13" idx="2"/>
              <a:endCxn id="9" idx="0"/>
            </p:cNvCxnSpPr>
            <p:nvPr/>
          </p:nvCxnSpPr>
          <p:spPr>
            <a:xfrm rot="5400000" flipV="1">
              <a:off x="3447" y="5382"/>
              <a:ext cx="767" cy="584"/>
            </a:xfrm>
            <a:prstGeom prst="curvedConnector3">
              <a:avLst>
                <a:gd name="adj1" fmla="val 48566"/>
              </a:avLst>
            </a:prstGeom>
            <a:ln>
              <a:solidFill>
                <a:srgbClr val="C00000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13" name="文本框 12"/>
            <p:cNvSpPr txBox="1"/>
            <p:nvPr/>
          </p:nvSpPr>
          <p:spPr>
            <a:xfrm>
              <a:off x="2192" y="4759"/>
              <a:ext cx="2692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1600" b="1">
                  <a:latin typeface="Monaco" panose="020B0500000000000000" charset="-122"/>
                  <a:cs typeface="Monaco" panose="020B0500000000000000" charset="-122"/>
                </a:rPr>
                <a:t>i_depth_max</a:t>
              </a:r>
              <a:endParaRPr lang="en-US" altLang="zh-CN" sz="1600" b="1">
                <a:latin typeface="Monaco" panose="020B0500000000000000" charset="-122"/>
                <a:cs typeface="Monaco" panose="020B0500000000000000" charset="-122"/>
              </a:endParaRPr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4884" y="3556"/>
              <a:ext cx="2692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1600" b="1">
                  <a:latin typeface="Monaco" panose="020B0500000000000000" charset="-122"/>
                  <a:cs typeface="Monaco" panose="020B0500000000000000" charset="-122"/>
                </a:rPr>
                <a:t>i_depth_min</a:t>
              </a:r>
              <a:endParaRPr lang="en-US" altLang="zh-CN" sz="1600" b="1">
                <a:latin typeface="Monaco" panose="020B0500000000000000" charset="-122"/>
                <a:cs typeface="Monaco" panose="020B0500000000000000" charset="-122"/>
              </a:endParaRPr>
            </a:p>
          </p:txBody>
        </p:sp>
        <p:sp>
          <p:nvSpPr>
            <p:cNvPr id="15" name="矩形 14"/>
            <p:cNvSpPr/>
            <p:nvPr/>
          </p:nvSpPr>
          <p:spPr>
            <a:xfrm>
              <a:off x="5524" y="5290"/>
              <a:ext cx="283" cy="283"/>
            </a:xfrm>
            <a:prstGeom prst="rect">
              <a:avLst/>
            </a:prstGeom>
            <a:noFill/>
            <a:ln w="19050">
              <a:gradFill>
                <a:gsLst>
                  <a:gs pos="0">
                    <a:srgbClr val="7B32B2"/>
                  </a:gs>
                  <a:gs pos="100000">
                    <a:srgbClr val="401A5D"/>
                  </a:gs>
                </a:gsLst>
              </a:gra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cxnSp>
          <p:nvCxnSpPr>
            <p:cNvPr id="18" name="直接连接符 17"/>
            <p:cNvCxnSpPr/>
            <p:nvPr/>
          </p:nvCxnSpPr>
          <p:spPr>
            <a:xfrm>
              <a:off x="5530" y="5594"/>
              <a:ext cx="4970" cy="1410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9" name="直接连接符 18"/>
            <p:cNvCxnSpPr/>
            <p:nvPr/>
          </p:nvCxnSpPr>
          <p:spPr>
            <a:xfrm flipV="1">
              <a:off x="5530" y="2824"/>
              <a:ext cx="4960" cy="2490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20" name="矩形 19"/>
            <p:cNvSpPr/>
            <p:nvPr/>
          </p:nvSpPr>
          <p:spPr>
            <a:xfrm>
              <a:off x="10498" y="2815"/>
              <a:ext cx="4184" cy="4185"/>
            </a:xfrm>
            <a:prstGeom prst="rect">
              <a:avLst/>
            </a:prstGeom>
            <a:gradFill>
              <a:gsLst>
                <a:gs pos="0">
                  <a:schemeClr val="accent2">
                    <a:lumMod val="50000"/>
                  </a:schemeClr>
                </a:gs>
                <a:gs pos="100000">
                  <a:srgbClr val="845EC2"/>
                </a:gs>
              </a:gsLst>
              <a:lin ang="6960000" scaled="0"/>
            </a:gradFill>
            <a:ln w="19050">
              <a:gradFill>
                <a:gsLst>
                  <a:gs pos="0">
                    <a:srgbClr val="7B32B2"/>
                  </a:gs>
                  <a:gs pos="100000">
                    <a:srgbClr val="401A5D"/>
                  </a:gs>
                </a:gsLst>
              </a:gra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gradFill>
                  <a:gsLst>
                    <a:gs pos="0">
                      <a:schemeClr val="accent2">
                        <a:lumMod val="50000"/>
                      </a:schemeClr>
                    </a:gs>
                    <a:gs pos="100000">
                      <a:srgbClr val="845EC2"/>
                    </a:gs>
                  </a:gsLst>
                  <a:lin ang="5400000" scaled="0"/>
                </a:gradFill>
              </a:endParaRPr>
            </a:p>
          </p:txBody>
        </p:sp>
        <p:cxnSp>
          <p:nvCxnSpPr>
            <p:cNvPr id="16" name="直接连接符 15"/>
            <p:cNvCxnSpPr/>
            <p:nvPr/>
          </p:nvCxnSpPr>
          <p:spPr>
            <a:xfrm>
              <a:off x="5809" y="5578"/>
              <a:ext cx="8891" cy="1436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7" name="直接连接符 16"/>
            <p:cNvCxnSpPr/>
            <p:nvPr/>
          </p:nvCxnSpPr>
          <p:spPr>
            <a:xfrm flipV="1">
              <a:off x="5811" y="2814"/>
              <a:ext cx="8899" cy="2481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2" name="直接连接符 21"/>
            <p:cNvCxnSpPr/>
            <p:nvPr/>
          </p:nvCxnSpPr>
          <p:spPr>
            <a:xfrm flipV="1">
              <a:off x="10019" y="3674"/>
              <a:ext cx="5588" cy="2438"/>
            </a:xfrm>
            <a:prstGeom prst="line">
              <a:avLst/>
            </a:prstGeom>
            <a:ln w="28575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23" name="椭圆 22"/>
            <p:cNvSpPr/>
            <p:nvPr/>
          </p:nvSpPr>
          <p:spPr>
            <a:xfrm rot="1140000">
              <a:off x="12854" y="4788"/>
              <a:ext cx="113" cy="113"/>
            </a:xfrm>
            <a:prstGeom prst="ellipse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cxnSp>
          <p:nvCxnSpPr>
            <p:cNvPr id="24" name="曲线连接符 23"/>
            <p:cNvCxnSpPr>
              <a:stCxn id="25" idx="1"/>
              <a:endCxn id="23" idx="1"/>
            </p:cNvCxnSpPr>
            <p:nvPr/>
          </p:nvCxnSpPr>
          <p:spPr>
            <a:xfrm rot="10800000" flipV="1">
              <a:off x="12886" y="2250"/>
              <a:ext cx="1273" cy="2544"/>
            </a:xfrm>
            <a:prstGeom prst="curvedConnector2">
              <a:avLst/>
            </a:prstGeom>
            <a:ln>
              <a:solidFill>
                <a:srgbClr val="C00000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25" name="文本框 24"/>
            <p:cNvSpPr txBox="1"/>
            <p:nvPr/>
          </p:nvSpPr>
          <p:spPr>
            <a:xfrm>
              <a:off x="14159" y="1984"/>
              <a:ext cx="1906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l"/>
              <a:r>
                <a:rPr lang="en-US" altLang="zh-CN" sz="1600" b="1">
                  <a:latin typeface="Monaco" panose="020B0500000000000000" charset="-122"/>
                  <a:cs typeface="Monaco" panose="020B0500000000000000" charset="-122"/>
                </a:rPr>
                <a:t>best_pos</a:t>
              </a:r>
              <a:endParaRPr lang="en-US" altLang="zh-CN" sz="1600" b="1">
                <a:latin typeface="Monaco" panose="020B0500000000000000" charset="-122"/>
                <a:cs typeface="Monaco" panose="020B0500000000000000" charset="-122"/>
              </a:endParaRP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36" name="组合 35"/>
          <p:cNvGrpSpPr/>
          <p:nvPr/>
        </p:nvGrpSpPr>
        <p:grpSpPr>
          <a:xfrm>
            <a:off x="2512695" y="1882140"/>
            <a:ext cx="6882765" cy="3239770"/>
            <a:chOff x="2883" y="3135"/>
            <a:chExt cx="10839" cy="5102"/>
          </a:xfrm>
        </p:grpSpPr>
        <p:sp>
          <p:nvSpPr>
            <p:cNvPr id="5" name="矩形 4"/>
            <p:cNvSpPr/>
            <p:nvPr/>
          </p:nvSpPr>
          <p:spPr>
            <a:xfrm>
              <a:off x="2883" y="3135"/>
              <a:ext cx="5102" cy="510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8620" y="3135"/>
              <a:ext cx="5102" cy="510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0" name="任意多边形 9"/>
            <p:cNvSpPr/>
            <p:nvPr/>
          </p:nvSpPr>
          <p:spPr>
            <a:xfrm>
              <a:off x="5915" y="7554"/>
              <a:ext cx="1887" cy="129"/>
            </a:xfrm>
            <a:custGeom>
              <a:avLst/>
              <a:gdLst>
                <a:gd name="connisteX0" fmla="*/ 0 w 9127070"/>
                <a:gd name="connsiteY0" fmla="*/ 709930 h 753113"/>
                <a:gd name="connisteX1" fmla="*/ 718820 w 9127070"/>
                <a:gd name="connsiteY1" fmla="*/ 17145 h 753113"/>
                <a:gd name="connisteX2" fmla="*/ 1454785 w 9127070"/>
                <a:gd name="connsiteY2" fmla="*/ 744855 h 753113"/>
                <a:gd name="connisteX3" fmla="*/ 2164715 w 9127070"/>
                <a:gd name="connsiteY3" fmla="*/ 17145 h 753113"/>
                <a:gd name="connisteX4" fmla="*/ 2883535 w 9127070"/>
                <a:gd name="connsiteY4" fmla="*/ 735965 h 753113"/>
                <a:gd name="connisteX5" fmla="*/ 3611245 w 9127070"/>
                <a:gd name="connsiteY5" fmla="*/ 8890 h 753113"/>
                <a:gd name="connisteX6" fmla="*/ 4338320 w 9127070"/>
                <a:gd name="connsiteY6" fmla="*/ 753110 h 753113"/>
                <a:gd name="connisteX7" fmla="*/ 5022215 w 9127070"/>
                <a:gd name="connsiteY7" fmla="*/ 17145 h 753113"/>
                <a:gd name="connisteX8" fmla="*/ 5758180 w 9127070"/>
                <a:gd name="connsiteY8" fmla="*/ 727075 h 753113"/>
                <a:gd name="connisteX9" fmla="*/ 6485890 w 9127070"/>
                <a:gd name="connsiteY9" fmla="*/ 0 h 753113"/>
                <a:gd name="connisteX10" fmla="*/ 7195820 w 9127070"/>
                <a:gd name="connsiteY10" fmla="*/ 727075 h 753113"/>
                <a:gd name="connisteX11" fmla="*/ 7922895 w 9127070"/>
                <a:gd name="connsiteY11" fmla="*/ 17145 h 753113"/>
                <a:gd name="connisteX12" fmla="*/ 8650605 w 9127070"/>
                <a:gd name="connsiteY12" fmla="*/ 718820 h 753113"/>
                <a:gd name="connisteX13" fmla="*/ 9109710 w 9127070"/>
                <a:gd name="connsiteY13" fmla="*/ 34290 h 753113"/>
                <a:gd name="connisteX14" fmla="*/ 8174355 w 9127070"/>
                <a:gd name="connsiteY14" fmla="*/ 1255395 h 753113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  <a:cxn ang="0">
                  <a:pos x="connisteX5" y="connsiteY5"/>
                </a:cxn>
                <a:cxn ang="0">
                  <a:pos x="connisteX6" y="connsiteY6"/>
                </a:cxn>
                <a:cxn ang="0">
                  <a:pos x="connisteX7" y="connsiteY7"/>
                </a:cxn>
                <a:cxn ang="0">
                  <a:pos x="connisteX8" y="connsiteY8"/>
                </a:cxn>
                <a:cxn ang="0">
                  <a:pos x="connisteX9" y="connsiteY9"/>
                </a:cxn>
                <a:cxn ang="0">
                  <a:pos x="connisteX10" y="connsiteY10"/>
                </a:cxn>
                <a:cxn ang="0">
                  <a:pos x="connisteX11" y="connsiteY11"/>
                </a:cxn>
                <a:cxn ang="0">
                  <a:pos x="connisteX12" y="connsiteY12"/>
                </a:cxn>
                <a:cxn ang="0">
                  <a:pos x="connisteX13" y="connsiteY13"/>
                </a:cxn>
                <a:cxn ang="0">
                  <a:pos x="connisteX14" y="connsiteY14"/>
                </a:cxn>
              </a:cxnLst>
              <a:rect l="l" t="t" r="r" b="b"/>
              <a:pathLst>
                <a:path w="9127071" h="753114">
                  <a:moveTo>
                    <a:pt x="0" y="709930"/>
                  </a:moveTo>
                  <a:cubicBezTo>
                    <a:pt x="128905" y="556895"/>
                    <a:pt x="427990" y="10160"/>
                    <a:pt x="718820" y="17145"/>
                  </a:cubicBezTo>
                  <a:cubicBezTo>
                    <a:pt x="1009650" y="24130"/>
                    <a:pt x="1165860" y="744855"/>
                    <a:pt x="1454785" y="744855"/>
                  </a:cubicBezTo>
                  <a:cubicBezTo>
                    <a:pt x="1743710" y="744855"/>
                    <a:pt x="1878965" y="19050"/>
                    <a:pt x="2164715" y="17145"/>
                  </a:cubicBezTo>
                  <a:cubicBezTo>
                    <a:pt x="2450465" y="15240"/>
                    <a:pt x="2593975" y="737870"/>
                    <a:pt x="2883535" y="735965"/>
                  </a:cubicBezTo>
                  <a:cubicBezTo>
                    <a:pt x="3173095" y="734060"/>
                    <a:pt x="3320415" y="5715"/>
                    <a:pt x="3611245" y="8890"/>
                  </a:cubicBezTo>
                  <a:cubicBezTo>
                    <a:pt x="3902075" y="12065"/>
                    <a:pt x="4056380" y="751205"/>
                    <a:pt x="4338320" y="753110"/>
                  </a:cubicBezTo>
                  <a:cubicBezTo>
                    <a:pt x="4620260" y="755015"/>
                    <a:pt x="4738370" y="22225"/>
                    <a:pt x="5022215" y="17145"/>
                  </a:cubicBezTo>
                  <a:cubicBezTo>
                    <a:pt x="5306060" y="12065"/>
                    <a:pt x="5465445" y="730250"/>
                    <a:pt x="5758180" y="727075"/>
                  </a:cubicBezTo>
                  <a:cubicBezTo>
                    <a:pt x="6050915" y="723900"/>
                    <a:pt x="6198235" y="0"/>
                    <a:pt x="6485890" y="0"/>
                  </a:cubicBezTo>
                  <a:cubicBezTo>
                    <a:pt x="6773545" y="0"/>
                    <a:pt x="6908165" y="723900"/>
                    <a:pt x="7195820" y="727075"/>
                  </a:cubicBezTo>
                  <a:cubicBezTo>
                    <a:pt x="7483475" y="730250"/>
                    <a:pt x="7632065" y="19050"/>
                    <a:pt x="7922895" y="17145"/>
                  </a:cubicBezTo>
                  <a:cubicBezTo>
                    <a:pt x="8213725" y="15240"/>
                    <a:pt x="8413115" y="715645"/>
                    <a:pt x="8650605" y="718820"/>
                  </a:cubicBezTo>
                  <a:cubicBezTo>
                    <a:pt x="8888095" y="721995"/>
                    <a:pt x="9204960" y="-73025"/>
                    <a:pt x="9109710" y="34290"/>
                  </a:cubicBezTo>
                </a:path>
              </a:pathLst>
            </a:cu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1" name="任意多边形 10"/>
            <p:cNvSpPr/>
            <p:nvPr/>
          </p:nvSpPr>
          <p:spPr>
            <a:xfrm>
              <a:off x="5915" y="7894"/>
              <a:ext cx="1887" cy="129"/>
            </a:xfrm>
            <a:custGeom>
              <a:avLst/>
              <a:gdLst>
                <a:gd name="connisteX0" fmla="*/ 0 w 9127070"/>
                <a:gd name="connsiteY0" fmla="*/ 709930 h 753113"/>
                <a:gd name="connisteX1" fmla="*/ 718820 w 9127070"/>
                <a:gd name="connsiteY1" fmla="*/ 17145 h 753113"/>
                <a:gd name="connisteX2" fmla="*/ 1454785 w 9127070"/>
                <a:gd name="connsiteY2" fmla="*/ 744855 h 753113"/>
                <a:gd name="connisteX3" fmla="*/ 2164715 w 9127070"/>
                <a:gd name="connsiteY3" fmla="*/ 17145 h 753113"/>
                <a:gd name="connisteX4" fmla="*/ 2883535 w 9127070"/>
                <a:gd name="connsiteY4" fmla="*/ 735965 h 753113"/>
                <a:gd name="connisteX5" fmla="*/ 3611245 w 9127070"/>
                <a:gd name="connsiteY5" fmla="*/ 8890 h 753113"/>
                <a:gd name="connisteX6" fmla="*/ 4338320 w 9127070"/>
                <a:gd name="connsiteY6" fmla="*/ 753110 h 753113"/>
                <a:gd name="connisteX7" fmla="*/ 5022215 w 9127070"/>
                <a:gd name="connsiteY7" fmla="*/ 17145 h 753113"/>
                <a:gd name="connisteX8" fmla="*/ 5758180 w 9127070"/>
                <a:gd name="connsiteY8" fmla="*/ 727075 h 753113"/>
                <a:gd name="connisteX9" fmla="*/ 6485890 w 9127070"/>
                <a:gd name="connsiteY9" fmla="*/ 0 h 753113"/>
                <a:gd name="connisteX10" fmla="*/ 7195820 w 9127070"/>
                <a:gd name="connsiteY10" fmla="*/ 727075 h 753113"/>
                <a:gd name="connisteX11" fmla="*/ 7922895 w 9127070"/>
                <a:gd name="connsiteY11" fmla="*/ 17145 h 753113"/>
                <a:gd name="connisteX12" fmla="*/ 8650605 w 9127070"/>
                <a:gd name="connsiteY12" fmla="*/ 718820 h 753113"/>
                <a:gd name="connisteX13" fmla="*/ 9109710 w 9127070"/>
                <a:gd name="connsiteY13" fmla="*/ 34290 h 753113"/>
                <a:gd name="connisteX14" fmla="*/ 8174355 w 9127070"/>
                <a:gd name="connsiteY14" fmla="*/ 1255395 h 753113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  <a:cxn ang="0">
                  <a:pos x="connisteX5" y="connsiteY5"/>
                </a:cxn>
                <a:cxn ang="0">
                  <a:pos x="connisteX6" y="connsiteY6"/>
                </a:cxn>
                <a:cxn ang="0">
                  <a:pos x="connisteX7" y="connsiteY7"/>
                </a:cxn>
                <a:cxn ang="0">
                  <a:pos x="connisteX8" y="connsiteY8"/>
                </a:cxn>
                <a:cxn ang="0">
                  <a:pos x="connisteX9" y="connsiteY9"/>
                </a:cxn>
                <a:cxn ang="0">
                  <a:pos x="connisteX10" y="connsiteY10"/>
                </a:cxn>
                <a:cxn ang="0">
                  <a:pos x="connisteX11" y="connsiteY11"/>
                </a:cxn>
                <a:cxn ang="0">
                  <a:pos x="connisteX12" y="connsiteY12"/>
                </a:cxn>
                <a:cxn ang="0">
                  <a:pos x="connisteX13" y="connsiteY13"/>
                </a:cxn>
                <a:cxn ang="0">
                  <a:pos x="connisteX14" y="connsiteY14"/>
                </a:cxn>
              </a:cxnLst>
              <a:rect l="l" t="t" r="r" b="b"/>
              <a:pathLst>
                <a:path w="9127071" h="753114">
                  <a:moveTo>
                    <a:pt x="0" y="709930"/>
                  </a:moveTo>
                  <a:cubicBezTo>
                    <a:pt x="128905" y="556895"/>
                    <a:pt x="427990" y="10160"/>
                    <a:pt x="718820" y="17145"/>
                  </a:cubicBezTo>
                  <a:cubicBezTo>
                    <a:pt x="1009650" y="24130"/>
                    <a:pt x="1165860" y="744855"/>
                    <a:pt x="1454785" y="744855"/>
                  </a:cubicBezTo>
                  <a:cubicBezTo>
                    <a:pt x="1743710" y="744855"/>
                    <a:pt x="1878965" y="19050"/>
                    <a:pt x="2164715" y="17145"/>
                  </a:cubicBezTo>
                  <a:cubicBezTo>
                    <a:pt x="2450465" y="15240"/>
                    <a:pt x="2593975" y="737870"/>
                    <a:pt x="2883535" y="735965"/>
                  </a:cubicBezTo>
                  <a:cubicBezTo>
                    <a:pt x="3173095" y="734060"/>
                    <a:pt x="3320415" y="5715"/>
                    <a:pt x="3611245" y="8890"/>
                  </a:cubicBezTo>
                  <a:cubicBezTo>
                    <a:pt x="3902075" y="12065"/>
                    <a:pt x="4056380" y="751205"/>
                    <a:pt x="4338320" y="753110"/>
                  </a:cubicBezTo>
                  <a:cubicBezTo>
                    <a:pt x="4620260" y="755015"/>
                    <a:pt x="4738370" y="22225"/>
                    <a:pt x="5022215" y="17145"/>
                  </a:cubicBezTo>
                  <a:cubicBezTo>
                    <a:pt x="5306060" y="12065"/>
                    <a:pt x="5465445" y="730250"/>
                    <a:pt x="5758180" y="727075"/>
                  </a:cubicBezTo>
                  <a:cubicBezTo>
                    <a:pt x="6050915" y="723900"/>
                    <a:pt x="6198235" y="0"/>
                    <a:pt x="6485890" y="0"/>
                  </a:cubicBezTo>
                  <a:cubicBezTo>
                    <a:pt x="6773545" y="0"/>
                    <a:pt x="6908165" y="723900"/>
                    <a:pt x="7195820" y="727075"/>
                  </a:cubicBezTo>
                  <a:cubicBezTo>
                    <a:pt x="7483475" y="730250"/>
                    <a:pt x="7632065" y="19050"/>
                    <a:pt x="7922895" y="17145"/>
                  </a:cubicBezTo>
                  <a:cubicBezTo>
                    <a:pt x="8213725" y="15240"/>
                    <a:pt x="8413115" y="715645"/>
                    <a:pt x="8650605" y="718820"/>
                  </a:cubicBezTo>
                  <a:cubicBezTo>
                    <a:pt x="8888095" y="721995"/>
                    <a:pt x="9204960" y="-73025"/>
                    <a:pt x="9109710" y="34290"/>
                  </a:cubicBezTo>
                </a:path>
              </a:pathLst>
            </a:cu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2" name="任意多边形 11"/>
            <p:cNvSpPr/>
            <p:nvPr/>
          </p:nvSpPr>
          <p:spPr>
            <a:xfrm>
              <a:off x="11641" y="7375"/>
              <a:ext cx="1887" cy="129"/>
            </a:xfrm>
            <a:custGeom>
              <a:avLst/>
              <a:gdLst>
                <a:gd name="connisteX0" fmla="*/ 0 w 9127070"/>
                <a:gd name="connsiteY0" fmla="*/ 709930 h 753113"/>
                <a:gd name="connisteX1" fmla="*/ 718820 w 9127070"/>
                <a:gd name="connsiteY1" fmla="*/ 17145 h 753113"/>
                <a:gd name="connisteX2" fmla="*/ 1454785 w 9127070"/>
                <a:gd name="connsiteY2" fmla="*/ 744855 h 753113"/>
                <a:gd name="connisteX3" fmla="*/ 2164715 w 9127070"/>
                <a:gd name="connsiteY3" fmla="*/ 17145 h 753113"/>
                <a:gd name="connisteX4" fmla="*/ 2883535 w 9127070"/>
                <a:gd name="connsiteY4" fmla="*/ 735965 h 753113"/>
                <a:gd name="connisteX5" fmla="*/ 3611245 w 9127070"/>
                <a:gd name="connsiteY5" fmla="*/ 8890 h 753113"/>
                <a:gd name="connisteX6" fmla="*/ 4338320 w 9127070"/>
                <a:gd name="connsiteY6" fmla="*/ 753110 h 753113"/>
                <a:gd name="connisteX7" fmla="*/ 5022215 w 9127070"/>
                <a:gd name="connsiteY7" fmla="*/ 17145 h 753113"/>
                <a:gd name="connisteX8" fmla="*/ 5758180 w 9127070"/>
                <a:gd name="connsiteY8" fmla="*/ 727075 h 753113"/>
                <a:gd name="connisteX9" fmla="*/ 6485890 w 9127070"/>
                <a:gd name="connsiteY9" fmla="*/ 0 h 753113"/>
                <a:gd name="connisteX10" fmla="*/ 7195820 w 9127070"/>
                <a:gd name="connsiteY10" fmla="*/ 727075 h 753113"/>
                <a:gd name="connisteX11" fmla="*/ 7922895 w 9127070"/>
                <a:gd name="connsiteY11" fmla="*/ 17145 h 753113"/>
                <a:gd name="connisteX12" fmla="*/ 8650605 w 9127070"/>
                <a:gd name="connsiteY12" fmla="*/ 718820 h 753113"/>
                <a:gd name="connisteX13" fmla="*/ 9109710 w 9127070"/>
                <a:gd name="connsiteY13" fmla="*/ 34290 h 753113"/>
                <a:gd name="connisteX14" fmla="*/ 8174355 w 9127070"/>
                <a:gd name="connsiteY14" fmla="*/ 1255395 h 753113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  <a:cxn ang="0">
                  <a:pos x="connisteX5" y="connsiteY5"/>
                </a:cxn>
                <a:cxn ang="0">
                  <a:pos x="connisteX6" y="connsiteY6"/>
                </a:cxn>
                <a:cxn ang="0">
                  <a:pos x="connisteX7" y="connsiteY7"/>
                </a:cxn>
                <a:cxn ang="0">
                  <a:pos x="connisteX8" y="connsiteY8"/>
                </a:cxn>
                <a:cxn ang="0">
                  <a:pos x="connisteX9" y="connsiteY9"/>
                </a:cxn>
                <a:cxn ang="0">
                  <a:pos x="connisteX10" y="connsiteY10"/>
                </a:cxn>
                <a:cxn ang="0">
                  <a:pos x="connisteX11" y="connsiteY11"/>
                </a:cxn>
                <a:cxn ang="0">
                  <a:pos x="connisteX12" y="connsiteY12"/>
                </a:cxn>
                <a:cxn ang="0">
                  <a:pos x="connisteX13" y="connsiteY13"/>
                </a:cxn>
                <a:cxn ang="0">
                  <a:pos x="connisteX14" y="connsiteY14"/>
                </a:cxn>
              </a:cxnLst>
              <a:rect l="l" t="t" r="r" b="b"/>
              <a:pathLst>
                <a:path w="9127071" h="753114">
                  <a:moveTo>
                    <a:pt x="0" y="709930"/>
                  </a:moveTo>
                  <a:cubicBezTo>
                    <a:pt x="128905" y="556895"/>
                    <a:pt x="427990" y="10160"/>
                    <a:pt x="718820" y="17145"/>
                  </a:cubicBezTo>
                  <a:cubicBezTo>
                    <a:pt x="1009650" y="24130"/>
                    <a:pt x="1165860" y="744855"/>
                    <a:pt x="1454785" y="744855"/>
                  </a:cubicBezTo>
                  <a:cubicBezTo>
                    <a:pt x="1743710" y="744855"/>
                    <a:pt x="1878965" y="19050"/>
                    <a:pt x="2164715" y="17145"/>
                  </a:cubicBezTo>
                  <a:cubicBezTo>
                    <a:pt x="2450465" y="15240"/>
                    <a:pt x="2593975" y="737870"/>
                    <a:pt x="2883535" y="735965"/>
                  </a:cubicBezTo>
                  <a:cubicBezTo>
                    <a:pt x="3173095" y="734060"/>
                    <a:pt x="3320415" y="5715"/>
                    <a:pt x="3611245" y="8890"/>
                  </a:cubicBezTo>
                  <a:cubicBezTo>
                    <a:pt x="3902075" y="12065"/>
                    <a:pt x="4056380" y="751205"/>
                    <a:pt x="4338320" y="753110"/>
                  </a:cubicBezTo>
                  <a:cubicBezTo>
                    <a:pt x="4620260" y="755015"/>
                    <a:pt x="4738370" y="22225"/>
                    <a:pt x="5022215" y="17145"/>
                  </a:cubicBezTo>
                  <a:cubicBezTo>
                    <a:pt x="5306060" y="12065"/>
                    <a:pt x="5465445" y="730250"/>
                    <a:pt x="5758180" y="727075"/>
                  </a:cubicBezTo>
                  <a:cubicBezTo>
                    <a:pt x="6050915" y="723900"/>
                    <a:pt x="6198235" y="0"/>
                    <a:pt x="6485890" y="0"/>
                  </a:cubicBezTo>
                  <a:cubicBezTo>
                    <a:pt x="6773545" y="0"/>
                    <a:pt x="6908165" y="723900"/>
                    <a:pt x="7195820" y="727075"/>
                  </a:cubicBezTo>
                  <a:cubicBezTo>
                    <a:pt x="7483475" y="730250"/>
                    <a:pt x="7632065" y="19050"/>
                    <a:pt x="7922895" y="17145"/>
                  </a:cubicBezTo>
                  <a:cubicBezTo>
                    <a:pt x="8213725" y="15240"/>
                    <a:pt x="8413115" y="715645"/>
                    <a:pt x="8650605" y="718820"/>
                  </a:cubicBezTo>
                  <a:cubicBezTo>
                    <a:pt x="8888095" y="721995"/>
                    <a:pt x="9204960" y="-73025"/>
                    <a:pt x="9109710" y="34290"/>
                  </a:cubicBezTo>
                </a:path>
              </a:pathLst>
            </a:cu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3" name="任意多边形 12"/>
            <p:cNvSpPr/>
            <p:nvPr/>
          </p:nvSpPr>
          <p:spPr>
            <a:xfrm rot="600000">
              <a:off x="11695" y="7774"/>
              <a:ext cx="1887" cy="129"/>
            </a:xfrm>
            <a:custGeom>
              <a:avLst/>
              <a:gdLst>
                <a:gd name="connisteX0" fmla="*/ 0 w 9127070"/>
                <a:gd name="connsiteY0" fmla="*/ 709930 h 753113"/>
                <a:gd name="connisteX1" fmla="*/ 718820 w 9127070"/>
                <a:gd name="connsiteY1" fmla="*/ 17145 h 753113"/>
                <a:gd name="connisteX2" fmla="*/ 1454785 w 9127070"/>
                <a:gd name="connsiteY2" fmla="*/ 744855 h 753113"/>
                <a:gd name="connisteX3" fmla="*/ 2164715 w 9127070"/>
                <a:gd name="connsiteY3" fmla="*/ 17145 h 753113"/>
                <a:gd name="connisteX4" fmla="*/ 2883535 w 9127070"/>
                <a:gd name="connsiteY4" fmla="*/ 735965 h 753113"/>
                <a:gd name="connisteX5" fmla="*/ 3611245 w 9127070"/>
                <a:gd name="connsiteY5" fmla="*/ 8890 h 753113"/>
                <a:gd name="connisteX6" fmla="*/ 4338320 w 9127070"/>
                <a:gd name="connsiteY6" fmla="*/ 753110 h 753113"/>
                <a:gd name="connisteX7" fmla="*/ 5022215 w 9127070"/>
                <a:gd name="connsiteY7" fmla="*/ 17145 h 753113"/>
                <a:gd name="connisteX8" fmla="*/ 5758180 w 9127070"/>
                <a:gd name="connsiteY8" fmla="*/ 727075 h 753113"/>
                <a:gd name="connisteX9" fmla="*/ 6485890 w 9127070"/>
                <a:gd name="connsiteY9" fmla="*/ 0 h 753113"/>
                <a:gd name="connisteX10" fmla="*/ 7195820 w 9127070"/>
                <a:gd name="connsiteY10" fmla="*/ 727075 h 753113"/>
                <a:gd name="connisteX11" fmla="*/ 7922895 w 9127070"/>
                <a:gd name="connsiteY11" fmla="*/ 17145 h 753113"/>
                <a:gd name="connisteX12" fmla="*/ 8650605 w 9127070"/>
                <a:gd name="connsiteY12" fmla="*/ 718820 h 753113"/>
                <a:gd name="connisteX13" fmla="*/ 9109710 w 9127070"/>
                <a:gd name="connsiteY13" fmla="*/ 34290 h 753113"/>
                <a:gd name="connisteX14" fmla="*/ 8174355 w 9127070"/>
                <a:gd name="connsiteY14" fmla="*/ 1255395 h 753113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  <a:cxn ang="0">
                  <a:pos x="connisteX5" y="connsiteY5"/>
                </a:cxn>
                <a:cxn ang="0">
                  <a:pos x="connisteX6" y="connsiteY6"/>
                </a:cxn>
                <a:cxn ang="0">
                  <a:pos x="connisteX7" y="connsiteY7"/>
                </a:cxn>
                <a:cxn ang="0">
                  <a:pos x="connisteX8" y="connsiteY8"/>
                </a:cxn>
                <a:cxn ang="0">
                  <a:pos x="connisteX9" y="connsiteY9"/>
                </a:cxn>
                <a:cxn ang="0">
                  <a:pos x="connisteX10" y="connsiteY10"/>
                </a:cxn>
                <a:cxn ang="0">
                  <a:pos x="connisteX11" y="connsiteY11"/>
                </a:cxn>
                <a:cxn ang="0">
                  <a:pos x="connisteX12" y="connsiteY12"/>
                </a:cxn>
                <a:cxn ang="0">
                  <a:pos x="connisteX13" y="connsiteY13"/>
                </a:cxn>
                <a:cxn ang="0">
                  <a:pos x="connisteX14" y="connsiteY14"/>
                </a:cxn>
              </a:cxnLst>
              <a:rect l="l" t="t" r="r" b="b"/>
              <a:pathLst>
                <a:path w="9127071" h="753114">
                  <a:moveTo>
                    <a:pt x="0" y="709930"/>
                  </a:moveTo>
                  <a:cubicBezTo>
                    <a:pt x="128905" y="556895"/>
                    <a:pt x="427990" y="10160"/>
                    <a:pt x="718820" y="17145"/>
                  </a:cubicBezTo>
                  <a:cubicBezTo>
                    <a:pt x="1009650" y="24130"/>
                    <a:pt x="1165860" y="744855"/>
                    <a:pt x="1454785" y="744855"/>
                  </a:cubicBezTo>
                  <a:cubicBezTo>
                    <a:pt x="1743710" y="744855"/>
                    <a:pt x="1878965" y="19050"/>
                    <a:pt x="2164715" y="17145"/>
                  </a:cubicBezTo>
                  <a:cubicBezTo>
                    <a:pt x="2450465" y="15240"/>
                    <a:pt x="2593975" y="737870"/>
                    <a:pt x="2883535" y="735965"/>
                  </a:cubicBezTo>
                  <a:cubicBezTo>
                    <a:pt x="3173095" y="734060"/>
                    <a:pt x="3320415" y="5715"/>
                    <a:pt x="3611245" y="8890"/>
                  </a:cubicBezTo>
                  <a:cubicBezTo>
                    <a:pt x="3902075" y="12065"/>
                    <a:pt x="4056380" y="751205"/>
                    <a:pt x="4338320" y="753110"/>
                  </a:cubicBezTo>
                  <a:cubicBezTo>
                    <a:pt x="4620260" y="755015"/>
                    <a:pt x="4738370" y="22225"/>
                    <a:pt x="5022215" y="17145"/>
                  </a:cubicBezTo>
                  <a:cubicBezTo>
                    <a:pt x="5306060" y="12065"/>
                    <a:pt x="5465445" y="730250"/>
                    <a:pt x="5758180" y="727075"/>
                  </a:cubicBezTo>
                  <a:cubicBezTo>
                    <a:pt x="6050915" y="723900"/>
                    <a:pt x="6198235" y="0"/>
                    <a:pt x="6485890" y="0"/>
                  </a:cubicBezTo>
                  <a:cubicBezTo>
                    <a:pt x="6773545" y="0"/>
                    <a:pt x="6908165" y="723900"/>
                    <a:pt x="7195820" y="727075"/>
                  </a:cubicBezTo>
                  <a:cubicBezTo>
                    <a:pt x="7483475" y="730250"/>
                    <a:pt x="7632065" y="19050"/>
                    <a:pt x="7922895" y="17145"/>
                  </a:cubicBezTo>
                  <a:cubicBezTo>
                    <a:pt x="8213725" y="15240"/>
                    <a:pt x="8413115" y="715645"/>
                    <a:pt x="8650605" y="718820"/>
                  </a:cubicBezTo>
                  <a:cubicBezTo>
                    <a:pt x="8888095" y="721995"/>
                    <a:pt x="9204960" y="-73025"/>
                    <a:pt x="9109710" y="34290"/>
                  </a:cubicBezTo>
                </a:path>
              </a:pathLst>
            </a:cu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cxnSp>
          <p:nvCxnSpPr>
            <p:cNvPr id="15" name="直接连接符 14"/>
            <p:cNvCxnSpPr/>
            <p:nvPr/>
          </p:nvCxnSpPr>
          <p:spPr>
            <a:xfrm>
              <a:off x="3874" y="5277"/>
              <a:ext cx="3162" cy="3"/>
            </a:xfrm>
            <a:prstGeom prst="line">
              <a:avLst/>
            </a:prstGeom>
            <a:ln w="28575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6" name="直接连接符 15"/>
            <p:cNvCxnSpPr/>
            <p:nvPr/>
          </p:nvCxnSpPr>
          <p:spPr>
            <a:xfrm>
              <a:off x="3874" y="6124"/>
              <a:ext cx="3162" cy="3"/>
            </a:xfrm>
            <a:prstGeom prst="line">
              <a:avLst/>
            </a:prstGeom>
            <a:ln w="28575">
              <a:solidFill>
                <a:srgbClr val="C00000"/>
              </a:solidFill>
              <a:prstDash val="dash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17" name="文本框 16"/>
            <p:cNvSpPr txBox="1"/>
            <p:nvPr/>
          </p:nvSpPr>
          <p:spPr>
            <a:xfrm>
              <a:off x="4892" y="7344"/>
              <a:ext cx="1182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1400" b="1">
                  <a:latin typeface="Monaco" panose="020B0500000000000000" charset="-122"/>
                  <a:cs typeface="Monaco" panose="020B0500000000000000" charset="-122"/>
                </a:rPr>
                <a:t>polar</a:t>
              </a:r>
              <a:endParaRPr lang="en-US" altLang="zh-CN" sz="1400" b="1">
                <a:latin typeface="Monaco" panose="020B0500000000000000" charset="-122"/>
                <a:cs typeface="Monaco" panose="020B0500000000000000" charset="-122"/>
              </a:endParaRPr>
            </a:p>
          </p:txBody>
        </p:sp>
        <p:sp>
          <p:nvSpPr>
            <p:cNvPr id="18" name="文本框 17"/>
            <p:cNvSpPr txBox="1"/>
            <p:nvPr/>
          </p:nvSpPr>
          <p:spPr>
            <a:xfrm>
              <a:off x="5045" y="7672"/>
              <a:ext cx="988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1400" b="1">
                  <a:latin typeface="Monaco" panose="020B0500000000000000" charset="-122"/>
                  <a:cs typeface="Monaco" panose="020B0500000000000000" charset="-122"/>
                </a:rPr>
                <a:t>grad</a:t>
              </a:r>
              <a:endParaRPr lang="en-US" altLang="zh-CN" sz="1400" b="1">
                <a:latin typeface="Monaco" panose="020B0500000000000000" charset="-122"/>
                <a:cs typeface="Monaco" panose="020B0500000000000000" charset="-122"/>
              </a:endParaRPr>
            </a:p>
          </p:txBody>
        </p:sp>
        <p:sp>
          <p:nvSpPr>
            <p:cNvPr id="19" name="文本框 18"/>
            <p:cNvSpPr txBox="1"/>
            <p:nvPr/>
          </p:nvSpPr>
          <p:spPr>
            <a:xfrm>
              <a:off x="10627" y="7207"/>
              <a:ext cx="1182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1400" b="1">
                  <a:latin typeface="Monaco" panose="020B0500000000000000" charset="-122"/>
                  <a:cs typeface="Monaco" panose="020B0500000000000000" charset="-122"/>
                </a:rPr>
                <a:t>polar</a:t>
              </a:r>
              <a:endParaRPr lang="en-US" altLang="zh-CN" sz="1400" b="1">
                <a:latin typeface="Monaco" panose="020B0500000000000000" charset="-122"/>
                <a:cs typeface="Monaco" panose="020B0500000000000000" charset="-122"/>
              </a:endParaRPr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10734" y="7500"/>
              <a:ext cx="988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1400" b="1">
                  <a:latin typeface="Monaco" panose="020B0500000000000000" charset="-122"/>
                  <a:cs typeface="Monaco" panose="020B0500000000000000" charset="-122"/>
                </a:rPr>
                <a:t>grad</a:t>
              </a:r>
              <a:endParaRPr lang="en-US" altLang="zh-CN" sz="1400" b="1">
                <a:latin typeface="Monaco" panose="020B0500000000000000" charset="-122"/>
                <a:cs typeface="Monaco" panose="020B0500000000000000" charset="-122"/>
              </a:endParaRPr>
            </a:p>
          </p:txBody>
        </p:sp>
        <p:cxnSp>
          <p:nvCxnSpPr>
            <p:cNvPr id="22" name="直接连接符 21"/>
            <p:cNvCxnSpPr/>
            <p:nvPr/>
          </p:nvCxnSpPr>
          <p:spPr>
            <a:xfrm rot="16200000">
              <a:off x="4587" y="5682"/>
              <a:ext cx="1701" cy="3"/>
            </a:xfrm>
            <a:prstGeom prst="line">
              <a:avLst/>
            </a:prstGeom>
            <a:ln w="28575">
              <a:solidFill>
                <a:srgbClr val="00206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23" name="椭圆 22"/>
            <p:cNvSpPr/>
            <p:nvPr/>
          </p:nvSpPr>
          <p:spPr>
            <a:xfrm>
              <a:off x="5296" y="5984"/>
              <a:ext cx="283" cy="283"/>
            </a:xfrm>
            <a:prstGeom prst="ellipse">
              <a:avLst/>
            </a:prstGeom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4" name="椭圆 23"/>
            <p:cNvSpPr/>
            <p:nvPr/>
          </p:nvSpPr>
          <p:spPr>
            <a:xfrm>
              <a:off x="5304" y="5117"/>
              <a:ext cx="283" cy="283"/>
            </a:xfrm>
            <a:prstGeom prst="ellipse">
              <a:avLst/>
            </a:prstGeom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6" name="左大括号 25"/>
            <p:cNvSpPr/>
            <p:nvPr/>
          </p:nvSpPr>
          <p:spPr>
            <a:xfrm>
              <a:off x="5235" y="5288"/>
              <a:ext cx="160" cy="839"/>
            </a:xfrm>
            <a:prstGeom prst="leftBrace">
              <a:avLst>
                <a:gd name="adj1" fmla="val 48659"/>
                <a:gd name="adj2" fmla="val 51728"/>
              </a:avLst>
            </a:prstGeom>
            <a:ln w="28575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3957" y="5343"/>
              <a:ext cx="1493" cy="8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1400" b="1">
                  <a:latin typeface="Monaco" panose="020B0500000000000000" charset="-122"/>
                  <a:cs typeface="Monaco" panose="020B0500000000000000" charset="-122"/>
                </a:rPr>
                <a:t>pixel error</a:t>
              </a:r>
              <a:endParaRPr lang="en-US" altLang="zh-CN" sz="1400" b="1">
                <a:latin typeface="Monaco" panose="020B0500000000000000" charset="-122"/>
                <a:cs typeface="Monaco" panose="020B0500000000000000" charset="-122"/>
              </a:endParaRPr>
            </a:p>
          </p:txBody>
        </p:sp>
        <p:cxnSp>
          <p:nvCxnSpPr>
            <p:cNvPr id="28" name="直接连接符 27"/>
            <p:cNvCxnSpPr/>
            <p:nvPr/>
          </p:nvCxnSpPr>
          <p:spPr>
            <a:xfrm>
              <a:off x="9657" y="5274"/>
              <a:ext cx="3162" cy="3"/>
            </a:xfrm>
            <a:prstGeom prst="line">
              <a:avLst/>
            </a:prstGeom>
            <a:ln w="28575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9" name="直接连接符 28"/>
            <p:cNvCxnSpPr/>
            <p:nvPr/>
          </p:nvCxnSpPr>
          <p:spPr>
            <a:xfrm>
              <a:off x="9657" y="6121"/>
              <a:ext cx="3162" cy="3"/>
            </a:xfrm>
            <a:prstGeom prst="line">
              <a:avLst/>
            </a:prstGeom>
            <a:ln w="28575">
              <a:solidFill>
                <a:srgbClr val="C00000"/>
              </a:solidFill>
              <a:prstDash val="dash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30" name="直接连接符 29"/>
            <p:cNvCxnSpPr/>
            <p:nvPr/>
          </p:nvCxnSpPr>
          <p:spPr>
            <a:xfrm flipV="1">
              <a:off x="11188" y="4550"/>
              <a:ext cx="567" cy="2267"/>
            </a:xfrm>
            <a:prstGeom prst="line">
              <a:avLst/>
            </a:prstGeom>
            <a:ln w="28575">
              <a:solidFill>
                <a:srgbClr val="00206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31" name="椭圆 30"/>
            <p:cNvSpPr/>
            <p:nvPr/>
          </p:nvSpPr>
          <p:spPr>
            <a:xfrm>
              <a:off x="11244" y="5981"/>
              <a:ext cx="283" cy="283"/>
            </a:xfrm>
            <a:prstGeom prst="ellipse">
              <a:avLst/>
            </a:prstGeom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2" name="椭圆 31"/>
            <p:cNvSpPr/>
            <p:nvPr/>
          </p:nvSpPr>
          <p:spPr>
            <a:xfrm>
              <a:off x="11439" y="5117"/>
              <a:ext cx="283" cy="283"/>
            </a:xfrm>
            <a:prstGeom prst="ellipse">
              <a:avLst/>
            </a:prstGeom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3" name="左大括号 32"/>
            <p:cNvSpPr/>
            <p:nvPr/>
          </p:nvSpPr>
          <p:spPr>
            <a:xfrm rot="900000">
              <a:off x="11249" y="5199"/>
              <a:ext cx="165" cy="927"/>
            </a:xfrm>
            <a:prstGeom prst="leftBrace">
              <a:avLst>
                <a:gd name="adj1" fmla="val 48659"/>
                <a:gd name="adj2" fmla="val 51728"/>
              </a:avLst>
            </a:prstGeom>
            <a:ln w="28575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5" name="文本框 34"/>
            <p:cNvSpPr txBox="1"/>
            <p:nvPr/>
          </p:nvSpPr>
          <p:spPr>
            <a:xfrm>
              <a:off x="9919" y="5274"/>
              <a:ext cx="1493" cy="8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1400" b="1">
                  <a:latin typeface="Monaco" panose="020B0500000000000000" charset="-122"/>
                  <a:cs typeface="Monaco" panose="020B0500000000000000" charset="-122"/>
                </a:rPr>
                <a:t>pixel error</a:t>
              </a:r>
              <a:endParaRPr lang="en-US" altLang="zh-CN" sz="1400" b="1">
                <a:latin typeface="Monaco" panose="020B0500000000000000" charset="-122"/>
                <a:cs typeface="Monaco" panose="020B0500000000000000" charset="-122"/>
              </a:endParaRP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aphicFrame>
        <p:nvGraphicFramePr>
          <p:cNvPr id="4" name="表格 3"/>
          <p:cNvGraphicFramePr/>
          <p:nvPr/>
        </p:nvGraphicFramePr>
        <p:xfrm>
          <a:off x="1250315" y="1482090"/>
          <a:ext cx="3888105" cy="38887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32000"/>
                <a:gridCol w="432000"/>
                <a:gridCol w="432000"/>
                <a:gridCol w="432000"/>
                <a:gridCol w="432000"/>
                <a:gridCol w="432000"/>
                <a:gridCol w="432000"/>
                <a:gridCol w="432000"/>
                <a:gridCol w="432000"/>
              </a:tblGrid>
              <a:tr h="432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6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5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4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4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4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4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4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5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6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50000"/>
                      </a:schemeClr>
                    </a:solidFill>
                  </a:tcPr>
                </a:tc>
              </a:tr>
              <a:tr h="432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5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4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4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3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3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3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4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4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5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0000"/>
                    </a:solidFill>
                  </a:tcPr>
                </a:tc>
              </a:tr>
              <a:tr h="432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4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4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3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2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2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2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3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4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4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</a:tr>
              <a:tr h="432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4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3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2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1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1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1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2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3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4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</a:tr>
              <a:tr h="432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4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3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2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1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#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1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2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3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4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</a:tr>
              <a:tr h="432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4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3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2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1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1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1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2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3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4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</a:tr>
              <a:tr h="432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4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4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3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2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2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2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3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4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4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</a:tr>
              <a:tr h="43243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5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4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4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3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3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3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4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4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5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0000"/>
                    </a:solidFill>
                  </a:tcPr>
                </a:tc>
              </a:tr>
              <a:tr h="432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6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5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4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4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4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4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4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5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6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50000"/>
                      </a:scheme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" name="表格 1"/>
          <p:cNvGraphicFramePr/>
          <p:nvPr/>
        </p:nvGraphicFramePr>
        <p:xfrm>
          <a:off x="5611495" y="1480185"/>
          <a:ext cx="3888105" cy="38887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32000"/>
                <a:gridCol w="432000"/>
                <a:gridCol w="432000"/>
                <a:gridCol w="432000"/>
                <a:gridCol w="432000"/>
                <a:gridCol w="432000"/>
                <a:gridCol w="432000"/>
                <a:gridCol w="432000"/>
                <a:gridCol w="432000"/>
              </a:tblGrid>
              <a:tr h="4318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6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5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4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4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4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4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4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5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6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50000"/>
                      </a:schemeClr>
                    </a:solidFill>
                  </a:tcPr>
                </a:tc>
              </a:tr>
              <a:tr h="432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5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4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4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3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3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3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4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4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5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0000"/>
                    </a:solidFill>
                  </a:tcPr>
                </a:tc>
              </a:tr>
              <a:tr h="432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4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4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3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2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2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2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3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4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4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</a:tr>
              <a:tr h="432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4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3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2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1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1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1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2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3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3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</a:tr>
              <a:tr h="432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4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3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2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1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#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1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2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2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2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</a:tr>
              <a:tr h="43243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4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3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2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1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1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1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1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1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1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B050"/>
                    </a:solidFill>
                  </a:tcPr>
                </a:tc>
              </a:tr>
              <a:tr h="432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4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4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3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2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2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2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1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#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1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B050"/>
                    </a:solidFill>
                  </a:tcPr>
                </a:tc>
              </a:tr>
              <a:tr h="43243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5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4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4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3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3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2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1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1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1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B050"/>
                    </a:solidFill>
                  </a:tcPr>
                </a:tc>
              </a:tr>
              <a:tr h="432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6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5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4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4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4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3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2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2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>
                          <a:solidFill>
                            <a:schemeClr val="bg1"/>
                          </a:solidFill>
                          <a:latin typeface="Monaco" panose="020B0500000000000000" charset="-120"/>
                          <a:cs typeface="Monaco" panose="020B0500000000000000" charset="-120"/>
                        </a:rPr>
                        <a:t>2</a:t>
                      </a:r>
                      <a:endParaRPr lang="en-US" altLang="zh-CN" b="1">
                        <a:solidFill>
                          <a:schemeClr val="bg1"/>
                        </a:solidFill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28" name="组合 27"/>
          <p:cNvGrpSpPr/>
          <p:nvPr/>
        </p:nvGrpSpPr>
        <p:grpSpPr>
          <a:xfrm>
            <a:off x="2388235" y="-314960"/>
            <a:ext cx="5690870" cy="2263140"/>
            <a:chOff x="4532" y="3416"/>
            <a:chExt cx="8962" cy="3564"/>
          </a:xfrm>
        </p:grpSpPr>
        <p:sp>
          <p:nvSpPr>
            <p:cNvPr id="3" name="矩形 2"/>
            <p:cNvSpPr/>
            <p:nvPr/>
          </p:nvSpPr>
          <p:spPr>
            <a:xfrm>
              <a:off x="7973" y="6024"/>
              <a:ext cx="2080" cy="90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b="1">
                  <a:solidFill>
                    <a:schemeClr val="tx1"/>
                  </a:solidFill>
                  <a:latin typeface="Monaco" panose="020B0500000000000000" charset="-120"/>
                  <a:cs typeface="Monaco" panose="020B0500000000000000" charset="-120"/>
                </a:rPr>
                <a:t>kf2</a:t>
              </a:r>
              <a:endParaRPr lang="en-US" altLang="zh-CN" b="1">
                <a:solidFill>
                  <a:schemeClr val="tx1"/>
                </a:solidFill>
                <a:latin typeface="Monaco" panose="020B0500000000000000" charset="-120"/>
                <a:cs typeface="Monaco" panose="020B0500000000000000" charset="-120"/>
              </a:endParaRPr>
            </a:p>
          </p:txBody>
        </p:sp>
        <p:sp>
          <p:nvSpPr>
            <p:cNvPr id="4" name="矩形 3"/>
            <p:cNvSpPr/>
            <p:nvPr/>
          </p:nvSpPr>
          <p:spPr>
            <a:xfrm>
              <a:off x="11414" y="6024"/>
              <a:ext cx="2080" cy="90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b="1">
                  <a:solidFill>
                    <a:schemeClr val="tx1"/>
                  </a:solidFill>
                  <a:latin typeface="Monaco" panose="020B0500000000000000" charset="-120"/>
                  <a:cs typeface="Monaco" panose="020B0500000000000000" charset="-120"/>
                </a:rPr>
                <a:t>kf3</a:t>
              </a:r>
              <a:endParaRPr lang="en-US" altLang="zh-CN" b="1">
                <a:solidFill>
                  <a:schemeClr val="tx1"/>
                </a:solidFill>
                <a:latin typeface="Monaco" panose="020B0500000000000000" charset="-120"/>
                <a:cs typeface="Monaco" panose="020B0500000000000000" charset="-120"/>
              </a:endParaRPr>
            </a:p>
          </p:txBody>
        </p:sp>
        <p:sp>
          <p:nvSpPr>
            <p:cNvPr id="6" name="矩形 5"/>
            <p:cNvSpPr/>
            <p:nvPr/>
          </p:nvSpPr>
          <p:spPr>
            <a:xfrm>
              <a:off x="4532" y="6078"/>
              <a:ext cx="2080" cy="90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b="1">
                  <a:solidFill>
                    <a:schemeClr val="tx1"/>
                  </a:solidFill>
                  <a:latin typeface="Monaco" panose="020B0500000000000000" charset="-120"/>
                  <a:cs typeface="Monaco" panose="020B0500000000000000" charset="-120"/>
                </a:rPr>
                <a:t>kf1</a:t>
              </a:r>
              <a:endParaRPr lang="en-US" altLang="zh-CN" b="1">
                <a:solidFill>
                  <a:schemeClr val="tx1"/>
                </a:solidFill>
                <a:latin typeface="Monaco" panose="020B0500000000000000" charset="-120"/>
                <a:cs typeface="Monaco" panose="020B0500000000000000" charset="-120"/>
              </a:endParaRPr>
            </a:p>
          </p:txBody>
        </p:sp>
        <p:sp>
          <p:nvSpPr>
            <p:cNvPr id="7" name="椭圆 6"/>
            <p:cNvSpPr/>
            <p:nvPr/>
          </p:nvSpPr>
          <p:spPr>
            <a:xfrm>
              <a:off x="5326" y="3416"/>
              <a:ext cx="567" cy="567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200" b="1">
                  <a:solidFill>
                    <a:schemeClr val="tx1"/>
                  </a:solidFill>
                  <a:latin typeface="Monaco" panose="020B0500000000000000" charset="-120"/>
                  <a:cs typeface="Monaco" panose="020B0500000000000000" charset="-120"/>
                </a:rPr>
                <a:t>p1</a:t>
              </a:r>
              <a:endParaRPr lang="en-US" altLang="zh-CN" sz="1200" b="1">
                <a:solidFill>
                  <a:schemeClr val="tx1"/>
                </a:solidFill>
                <a:latin typeface="Monaco" panose="020B0500000000000000" charset="-120"/>
                <a:cs typeface="Monaco" panose="020B0500000000000000" charset="-120"/>
              </a:endParaRPr>
            </a:p>
          </p:txBody>
        </p:sp>
        <p:sp>
          <p:nvSpPr>
            <p:cNvPr id="8" name="椭圆 7"/>
            <p:cNvSpPr/>
            <p:nvPr/>
          </p:nvSpPr>
          <p:spPr>
            <a:xfrm>
              <a:off x="7016" y="3416"/>
              <a:ext cx="566" cy="567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200" b="1">
                  <a:solidFill>
                    <a:schemeClr val="tx1"/>
                  </a:solidFill>
                  <a:latin typeface="Monaco" panose="020B0500000000000000" charset="-120"/>
                  <a:cs typeface="Monaco" panose="020B0500000000000000" charset="-120"/>
                </a:rPr>
                <a:t>p2</a:t>
              </a:r>
              <a:endParaRPr lang="en-US" altLang="zh-CN" sz="1200" b="1">
                <a:solidFill>
                  <a:schemeClr val="tx1"/>
                </a:solidFill>
                <a:latin typeface="Monaco" panose="020B0500000000000000" charset="-120"/>
                <a:cs typeface="Monaco" panose="020B0500000000000000" charset="-120"/>
              </a:endParaRPr>
            </a:p>
          </p:txBody>
        </p:sp>
        <p:sp>
          <p:nvSpPr>
            <p:cNvPr id="9" name="椭圆 8"/>
            <p:cNvSpPr/>
            <p:nvPr/>
          </p:nvSpPr>
          <p:spPr>
            <a:xfrm>
              <a:off x="8705" y="3416"/>
              <a:ext cx="566" cy="567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200" b="1">
                  <a:solidFill>
                    <a:schemeClr val="tx1"/>
                  </a:solidFill>
                  <a:latin typeface="Monaco" panose="020B0500000000000000" charset="-120"/>
                  <a:cs typeface="Monaco" panose="020B0500000000000000" charset="-120"/>
                </a:rPr>
                <a:t>p3</a:t>
              </a:r>
              <a:endParaRPr lang="en-US" altLang="zh-CN" sz="1200" b="1">
                <a:solidFill>
                  <a:schemeClr val="tx1"/>
                </a:solidFill>
                <a:latin typeface="Monaco" panose="020B0500000000000000" charset="-120"/>
                <a:cs typeface="Monaco" panose="020B0500000000000000" charset="-120"/>
              </a:endParaRPr>
            </a:p>
          </p:txBody>
        </p:sp>
        <p:sp>
          <p:nvSpPr>
            <p:cNvPr id="10" name="椭圆 9"/>
            <p:cNvSpPr/>
            <p:nvPr/>
          </p:nvSpPr>
          <p:spPr>
            <a:xfrm>
              <a:off x="10394" y="3416"/>
              <a:ext cx="566" cy="567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200" b="1">
                  <a:solidFill>
                    <a:schemeClr val="tx1"/>
                  </a:solidFill>
                  <a:latin typeface="Monaco" panose="020B0500000000000000" charset="-120"/>
                  <a:cs typeface="Monaco" panose="020B0500000000000000" charset="-120"/>
                </a:rPr>
                <a:t>p4</a:t>
              </a:r>
              <a:endParaRPr lang="en-US" altLang="zh-CN" sz="1200" b="1">
                <a:solidFill>
                  <a:schemeClr val="tx1"/>
                </a:solidFill>
                <a:latin typeface="Monaco" panose="020B0500000000000000" charset="-120"/>
                <a:cs typeface="Monaco" panose="020B0500000000000000" charset="-120"/>
              </a:endParaRPr>
            </a:p>
          </p:txBody>
        </p:sp>
        <p:sp>
          <p:nvSpPr>
            <p:cNvPr id="11" name="椭圆 10"/>
            <p:cNvSpPr/>
            <p:nvPr/>
          </p:nvSpPr>
          <p:spPr>
            <a:xfrm>
              <a:off x="12083" y="3416"/>
              <a:ext cx="566" cy="567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200" b="1">
                  <a:solidFill>
                    <a:schemeClr val="tx1"/>
                  </a:solidFill>
                  <a:latin typeface="Monaco" panose="020B0500000000000000" charset="-120"/>
                  <a:cs typeface="Monaco" panose="020B0500000000000000" charset="-120"/>
                </a:rPr>
                <a:t>p5</a:t>
              </a:r>
              <a:endParaRPr lang="en-US" altLang="zh-CN" sz="1200" b="1">
                <a:solidFill>
                  <a:schemeClr val="tx1"/>
                </a:solidFill>
                <a:latin typeface="Monaco" panose="020B0500000000000000" charset="-120"/>
                <a:cs typeface="Monaco" panose="020B0500000000000000" charset="-120"/>
              </a:endParaRPr>
            </a:p>
          </p:txBody>
        </p:sp>
        <p:cxnSp>
          <p:nvCxnSpPr>
            <p:cNvPr id="15" name="直接连接符 14"/>
            <p:cNvCxnSpPr>
              <a:stCxn id="6" idx="0"/>
              <a:endCxn id="7" idx="4"/>
            </p:cNvCxnSpPr>
            <p:nvPr/>
          </p:nvCxnSpPr>
          <p:spPr>
            <a:xfrm flipV="1">
              <a:off x="5572" y="3983"/>
              <a:ext cx="38" cy="2095"/>
            </a:xfrm>
            <a:prstGeom prst="line">
              <a:avLst/>
            </a:prstGeom>
            <a:ln w="28575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6" name="直接连接符 15"/>
            <p:cNvCxnSpPr>
              <a:stCxn id="6" idx="0"/>
              <a:endCxn id="8" idx="4"/>
            </p:cNvCxnSpPr>
            <p:nvPr/>
          </p:nvCxnSpPr>
          <p:spPr>
            <a:xfrm flipV="1">
              <a:off x="5572" y="3983"/>
              <a:ext cx="1727" cy="2095"/>
            </a:xfrm>
            <a:prstGeom prst="line">
              <a:avLst/>
            </a:prstGeom>
            <a:ln w="28575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7" name="直接连接符 16"/>
            <p:cNvCxnSpPr>
              <a:stCxn id="6" idx="0"/>
              <a:endCxn id="9" idx="4"/>
            </p:cNvCxnSpPr>
            <p:nvPr/>
          </p:nvCxnSpPr>
          <p:spPr>
            <a:xfrm flipV="1">
              <a:off x="5572" y="3983"/>
              <a:ext cx="3416" cy="2095"/>
            </a:xfrm>
            <a:prstGeom prst="line">
              <a:avLst/>
            </a:prstGeom>
            <a:ln w="28575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8" name="直接连接符 17"/>
            <p:cNvCxnSpPr>
              <a:stCxn id="3" idx="0"/>
              <a:endCxn id="10" idx="4"/>
            </p:cNvCxnSpPr>
            <p:nvPr/>
          </p:nvCxnSpPr>
          <p:spPr>
            <a:xfrm flipV="1">
              <a:off x="9013" y="3983"/>
              <a:ext cx="1664" cy="2041"/>
            </a:xfrm>
            <a:prstGeom prst="line">
              <a:avLst/>
            </a:prstGeom>
            <a:ln w="28575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9" name="直接连接符 18"/>
            <p:cNvCxnSpPr>
              <a:stCxn id="3" idx="0"/>
              <a:endCxn id="11" idx="4"/>
            </p:cNvCxnSpPr>
            <p:nvPr/>
          </p:nvCxnSpPr>
          <p:spPr>
            <a:xfrm flipV="1">
              <a:off x="9013" y="3983"/>
              <a:ext cx="3353" cy="2041"/>
            </a:xfrm>
            <a:prstGeom prst="line">
              <a:avLst/>
            </a:prstGeom>
            <a:ln w="28575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0" name="直接连接符 19"/>
            <p:cNvCxnSpPr>
              <a:stCxn id="3" idx="0"/>
            </p:cNvCxnSpPr>
            <p:nvPr/>
          </p:nvCxnSpPr>
          <p:spPr>
            <a:xfrm flipH="1" flipV="1">
              <a:off x="5575" y="3983"/>
              <a:ext cx="3438" cy="2041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1" name="直接连接符 20"/>
            <p:cNvCxnSpPr>
              <a:endCxn id="8" idx="4"/>
            </p:cNvCxnSpPr>
            <p:nvPr/>
          </p:nvCxnSpPr>
          <p:spPr>
            <a:xfrm flipH="1" flipV="1">
              <a:off x="7299" y="3983"/>
              <a:ext cx="1677" cy="2041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2" name="直接连接符 21"/>
            <p:cNvCxnSpPr>
              <a:stCxn id="3" idx="0"/>
              <a:endCxn id="9" idx="4"/>
            </p:cNvCxnSpPr>
            <p:nvPr/>
          </p:nvCxnSpPr>
          <p:spPr>
            <a:xfrm flipH="1" flipV="1">
              <a:off x="8988" y="3983"/>
              <a:ext cx="25" cy="2041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3" name="直接连接符 22"/>
            <p:cNvCxnSpPr>
              <a:stCxn id="6" idx="0"/>
              <a:endCxn id="10" idx="4"/>
            </p:cNvCxnSpPr>
            <p:nvPr/>
          </p:nvCxnSpPr>
          <p:spPr>
            <a:xfrm flipV="1">
              <a:off x="5572" y="3983"/>
              <a:ext cx="5105" cy="2095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5" name="直接连接符 24"/>
            <p:cNvCxnSpPr>
              <a:stCxn id="4" idx="0"/>
              <a:endCxn id="11" idx="4"/>
            </p:cNvCxnSpPr>
            <p:nvPr/>
          </p:nvCxnSpPr>
          <p:spPr>
            <a:xfrm flipH="1" flipV="1">
              <a:off x="12366" y="3983"/>
              <a:ext cx="88" cy="2041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6" name="直接连接符 25"/>
            <p:cNvCxnSpPr>
              <a:stCxn id="4" idx="0"/>
            </p:cNvCxnSpPr>
            <p:nvPr/>
          </p:nvCxnSpPr>
          <p:spPr>
            <a:xfrm flipH="1" flipV="1">
              <a:off x="10677" y="3983"/>
              <a:ext cx="1777" cy="2041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7" name="直接连接符 26"/>
            <p:cNvCxnSpPr>
              <a:stCxn id="4" idx="0"/>
              <a:endCxn id="9" idx="4"/>
            </p:cNvCxnSpPr>
            <p:nvPr/>
          </p:nvCxnSpPr>
          <p:spPr>
            <a:xfrm flipH="1" flipV="1">
              <a:off x="8988" y="3983"/>
              <a:ext cx="3466" cy="2041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grpSp>
        <p:nvGrpSpPr>
          <p:cNvPr id="29" name="组合 28"/>
          <p:cNvGrpSpPr/>
          <p:nvPr/>
        </p:nvGrpSpPr>
        <p:grpSpPr>
          <a:xfrm>
            <a:off x="2856230" y="2457450"/>
            <a:ext cx="5690870" cy="3561715"/>
            <a:chOff x="4498" y="3870"/>
            <a:chExt cx="8962" cy="5609"/>
          </a:xfrm>
        </p:grpSpPr>
        <p:sp>
          <p:nvSpPr>
            <p:cNvPr id="30" name="矩形 29"/>
            <p:cNvSpPr/>
            <p:nvPr/>
          </p:nvSpPr>
          <p:spPr>
            <a:xfrm>
              <a:off x="7939" y="8523"/>
              <a:ext cx="2080" cy="90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b="1">
                  <a:solidFill>
                    <a:schemeClr val="tx1"/>
                  </a:solidFill>
                  <a:latin typeface="Monaco" panose="020B0500000000000000" charset="-120"/>
                  <a:cs typeface="Monaco" panose="020B0500000000000000" charset="-120"/>
                </a:rPr>
                <a:t>kf1,kf3</a:t>
              </a:r>
              <a:endParaRPr lang="en-US" altLang="zh-CN" b="1">
                <a:solidFill>
                  <a:schemeClr val="tx1"/>
                </a:solidFill>
                <a:latin typeface="Monaco" panose="020B0500000000000000" charset="-120"/>
                <a:cs typeface="Monaco" panose="020B0500000000000000" charset="-120"/>
              </a:endParaRPr>
            </a:p>
          </p:txBody>
        </p:sp>
        <p:sp>
          <p:nvSpPr>
            <p:cNvPr id="31" name="矩形 30"/>
            <p:cNvSpPr/>
            <p:nvPr/>
          </p:nvSpPr>
          <p:spPr>
            <a:xfrm>
              <a:off x="11380" y="8523"/>
              <a:ext cx="2080" cy="90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b="1">
                  <a:solidFill>
                    <a:schemeClr val="tx1"/>
                  </a:solidFill>
                  <a:latin typeface="Monaco" panose="020B0500000000000000" charset="-120"/>
                  <a:cs typeface="Monaco" panose="020B0500000000000000" charset="-120"/>
                </a:rPr>
                <a:t>kf2,kf3</a:t>
              </a:r>
              <a:endParaRPr lang="en-US" altLang="zh-CN" b="1">
                <a:solidFill>
                  <a:schemeClr val="tx1"/>
                </a:solidFill>
                <a:latin typeface="Monaco" panose="020B0500000000000000" charset="-120"/>
                <a:cs typeface="Monaco" panose="020B0500000000000000" charset="-120"/>
              </a:endParaRPr>
            </a:p>
          </p:txBody>
        </p:sp>
        <p:sp>
          <p:nvSpPr>
            <p:cNvPr id="32" name="矩形 31"/>
            <p:cNvSpPr/>
            <p:nvPr/>
          </p:nvSpPr>
          <p:spPr>
            <a:xfrm>
              <a:off x="4498" y="8577"/>
              <a:ext cx="2080" cy="90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b="1">
                  <a:solidFill>
                    <a:schemeClr val="tx1"/>
                  </a:solidFill>
                  <a:latin typeface="Monaco" panose="020B0500000000000000" charset="-120"/>
                  <a:cs typeface="Monaco" panose="020B0500000000000000" charset="-120"/>
                </a:rPr>
                <a:t>kf1,kf2</a:t>
              </a:r>
              <a:endParaRPr lang="en-US" altLang="zh-CN" b="1">
                <a:solidFill>
                  <a:schemeClr val="tx1"/>
                </a:solidFill>
                <a:latin typeface="Monaco" panose="020B0500000000000000" charset="-120"/>
                <a:cs typeface="Monaco" panose="020B0500000000000000" charset="-120"/>
              </a:endParaRPr>
            </a:p>
          </p:txBody>
        </p:sp>
        <p:sp>
          <p:nvSpPr>
            <p:cNvPr id="33" name="椭圆 32"/>
            <p:cNvSpPr/>
            <p:nvPr/>
          </p:nvSpPr>
          <p:spPr>
            <a:xfrm>
              <a:off x="5292" y="6307"/>
              <a:ext cx="567" cy="567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200" b="1">
                  <a:solidFill>
                    <a:schemeClr val="tx1"/>
                  </a:solidFill>
                  <a:latin typeface="Monaco" panose="020B0500000000000000" charset="-120"/>
                  <a:cs typeface="Monaco" panose="020B0500000000000000" charset="-120"/>
                </a:rPr>
                <a:t>p1</a:t>
              </a:r>
              <a:endParaRPr lang="en-US" altLang="zh-CN" sz="1200" b="1">
                <a:solidFill>
                  <a:schemeClr val="tx1"/>
                </a:solidFill>
                <a:latin typeface="Monaco" panose="020B0500000000000000" charset="-120"/>
                <a:cs typeface="Monaco" panose="020B0500000000000000" charset="-120"/>
              </a:endParaRPr>
            </a:p>
          </p:txBody>
        </p:sp>
        <p:sp>
          <p:nvSpPr>
            <p:cNvPr id="34" name="椭圆 33"/>
            <p:cNvSpPr/>
            <p:nvPr/>
          </p:nvSpPr>
          <p:spPr>
            <a:xfrm>
              <a:off x="6982" y="6307"/>
              <a:ext cx="566" cy="567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200" b="1">
                  <a:solidFill>
                    <a:schemeClr val="tx1"/>
                  </a:solidFill>
                  <a:latin typeface="Monaco" panose="020B0500000000000000" charset="-120"/>
                  <a:cs typeface="Monaco" panose="020B0500000000000000" charset="-120"/>
                </a:rPr>
                <a:t>p2</a:t>
              </a:r>
              <a:endParaRPr lang="en-US" altLang="zh-CN" sz="1200" b="1">
                <a:solidFill>
                  <a:schemeClr val="tx1"/>
                </a:solidFill>
                <a:latin typeface="Monaco" panose="020B0500000000000000" charset="-120"/>
                <a:cs typeface="Monaco" panose="020B0500000000000000" charset="-120"/>
              </a:endParaRPr>
            </a:p>
          </p:txBody>
        </p:sp>
        <p:sp>
          <p:nvSpPr>
            <p:cNvPr id="35" name="椭圆 34"/>
            <p:cNvSpPr/>
            <p:nvPr/>
          </p:nvSpPr>
          <p:spPr>
            <a:xfrm>
              <a:off x="8671" y="6307"/>
              <a:ext cx="566" cy="567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200" b="1">
                  <a:solidFill>
                    <a:schemeClr val="tx1"/>
                  </a:solidFill>
                  <a:latin typeface="Monaco" panose="020B0500000000000000" charset="-120"/>
                  <a:cs typeface="Monaco" panose="020B0500000000000000" charset="-120"/>
                </a:rPr>
                <a:t>p3</a:t>
              </a:r>
              <a:endParaRPr lang="en-US" altLang="zh-CN" sz="1200" b="1">
                <a:solidFill>
                  <a:schemeClr val="tx1"/>
                </a:solidFill>
                <a:latin typeface="Monaco" panose="020B0500000000000000" charset="-120"/>
                <a:cs typeface="Monaco" panose="020B0500000000000000" charset="-120"/>
              </a:endParaRPr>
            </a:p>
          </p:txBody>
        </p:sp>
        <p:sp>
          <p:nvSpPr>
            <p:cNvPr id="36" name="椭圆 35"/>
            <p:cNvSpPr/>
            <p:nvPr/>
          </p:nvSpPr>
          <p:spPr>
            <a:xfrm>
              <a:off x="10360" y="6307"/>
              <a:ext cx="566" cy="567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200" b="1">
                  <a:solidFill>
                    <a:schemeClr val="tx1"/>
                  </a:solidFill>
                  <a:latin typeface="Monaco" panose="020B0500000000000000" charset="-120"/>
                  <a:cs typeface="Monaco" panose="020B0500000000000000" charset="-120"/>
                </a:rPr>
                <a:t>p4</a:t>
              </a:r>
              <a:endParaRPr lang="en-US" altLang="zh-CN" sz="1200" b="1">
                <a:solidFill>
                  <a:schemeClr val="tx1"/>
                </a:solidFill>
                <a:latin typeface="Monaco" panose="020B0500000000000000" charset="-120"/>
                <a:cs typeface="Monaco" panose="020B0500000000000000" charset="-120"/>
              </a:endParaRPr>
            </a:p>
          </p:txBody>
        </p:sp>
        <p:sp>
          <p:nvSpPr>
            <p:cNvPr id="37" name="椭圆 36"/>
            <p:cNvSpPr/>
            <p:nvPr/>
          </p:nvSpPr>
          <p:spPr>
            <a:xfrm>
              <a:off x="12049" y="6307"/>
              <a:ext cx="566" cy="567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200" b="1">
                  <a:solidFill>
                    <a:schemeClr val="tx1"/>
                  </a:solidFill>
                  <a:latin typeface="Monaco" panose="020B0500000000000000" charset="-120"/>
                  <a:cs typeface="Monaco" panose="020B0500000000000000" charset="-120"/>
                </a:rPr>
                <a:t>p5</a:t>
              </a:r>
              <a:endParaRPr lang="en-US" altLang="zh-CN" sz="1200" b="1">
                <a:solidFill>
                  <a:schemeClr val="tx1"/>
                </a:solidFill>
                <a:latin typeface="Monaco" panose="020B0500000000000000" charset="-120"/>
                <a:cs typeface="Monaco" panose="020B0500000000000000" charset="-120"/>
              </a:endParaRPr>
            </a:p>
          </p:txBody>
        </p:sp>
        <p:cxnSp>
          <p:nvCxnSpPr>
            <p:cNvPr id="38" name="直接连接符 37"/>
            <p:cNvCxnSpPr>
              <a:stCxn id="32" idx="0"/>
              <a:endCxn id="33" idx="4"/>
            </p:cNvCxnSpPr>
            <p:nvPr/>
          </p:nvCxnSpPr>
          <p:spPr>
            <a:xfrm flipV="1">
              <a:off x="5538" y="6874"/>
              <a:ext cx="38" cy="1703"/>
            </a:xfrm>
            <a:prstGeom prst="line">
              <a:avLst/>
            </a:prstGeom>
            <a:ln w="28575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39" name="直接连接符 38"/>
            <p:cNvCxnSpPr>
              <a:stCxn id="32" idx="0"/>
              <a:endCxn id="34" idx="4"/>
            </p:cNvCxnSpPr>
            <p:nvPr/>
          </p:nvCxnSpPr>
          <p:spPr>
            <a:xfrm flipV="1">
              <a:off x="5538" y="6874"/>
              <a:ext cx="1727" cy="1703"/>
            </a:xfrm>
            <a:prstGeom prst="line">
              <a:avLst/>
            </a:prstGeom>
            <a:ln w="28575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0" name="直接连接符 39"/>
            <p:cNvCxnSpPr>
              <a:stCxn id="32" idx="0"/>
              <a:endCxn id="35" idx="4"/>
            </p:cNvCxnSpPr>
            <p:nvPr/>
          </p:nvCxnSpPr>
          <p:spPr>
            <a:xfrm flipV="1">
              <a:off x="5538" y="6874"/>
              <a:ext cx="3416" cy="1703"/>
            </a:xfrm>
            <a:prstGeom prst="line">
              <a:avLst/>
            </a:prstGeom>
            <a:ln w="28575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52" name="直接连接符 51"/>
            <p:cNvCxnSpPr>
              <a:stCxn id="30" idx="0"/>
              <a:endCxn id="35" idx="4"/>
            </p:cNvCxnSpPr>
            <p:nvPr/>
          </p:nvCxnSpPr>
          <p:spPr>
            <a:xfrm flipH="1" flipV="1">
              <a:off x="8954" y="6874"/>
              <a:ext cx="25" cy="1649"/>
            </a:xfrm>
            <a:prstGeom prst="line">
              <a:avLst/>
            </a:prstGeom>
            <a:ln w="28575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53" name="直接连接符 52"/>
            <p:cNvCxnSpPr>
              <a:stCxn id="31" idx="0"/>
              <a:endCxn id="36" idx="4"/>
            </p:cNvCxnSpPr>
            <p:nvPr/>
          </p:nvCxnSpPr>
          <p:spPr>
            <a:xfrm flipH="1" flipV="1">
              <a:off x="10643" y="6874"/>
              <a:ext cx="1777" cy="1649"/>
            </a:xfrm>
            <a:prstGeom prst="line">
              <a:avLst/>
            </a:prstGeom>
            <a:ln w="28575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54" name="直接连接符 53"/>
            <p:cNvCxnSpPr>
              <a:stCxn id="31" idx="0"/>
              <a:endCxn id="37" idx="4"/>
            </p:cNvCxnSpPr>
            <p:nvPr/>
          </p:nvCxnSpPr>
          <p:spPr>
            <a:xfrm flipH="1" flipV="1">
              <a:off x="12332" y="6874"/>
              <a:ext cx="88" cy="1649"/>
            </a:xfrm>
            <a:prstGeom prst="line">
              <a:avLst/>
            </a:prstGeom>
            <a:ln w="28575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2" name="椭圆 1"/>
            <p:cNvSpPr/>
            <p:nvPr/>
          </p:nvSpPr>
          <p:spPr>
            <a:xfrm>
              <a:off x="8104" y="3870"/>
              <a:ext cx="1701" cy="1134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2400" b="1">
                  <a:solidFill>
                    <a:schemeClr val="tx1"/>
                  </a:solidFill>
                  <a:latin typeface="Monaco" panose="020B0500000000000000" charset="-120"/>
                  <a:cs typeface="Monaco" panose="020B0500000000000000" charset="-120"/>
                </a:rPr>
                <a:t>C</a:t>
              </a:r>
              <a:endParaRPr lang="en-US" altLang="zh-CN" sz="2400" b="1">
                <a:solidFill>
                  <a:schemeClr val="tx1"/>
                </a:solidFill>
                <a:latin typeface="Monaco" panose="020B0500000000000000" charset="-120"/>
                <a:cs typeface="Monaco" panose="020B0500000000000000" charset="-120"/>
              </a:endParaRPr>
            </a:p>
          </p:txBody>
        </p:sp>
        <p:cxnSp>
          <p:nvCxnSpPr>
            <p:cNvPr id="5" name="直接连接符 4"/>
            <p:cNvCxnSpPr>
              <a:stCxn id="33" idx="0"/>
              <a:endCxn id="2" idx="4"/>
            </p:cNvCxnSpPr>
            <p:nvPr/>
          </p:nvCxnSpPr>
          <p:spPr>
            <a:xfrm flipV="1">
              <a:off x="5576" y="5004"/>
              <a:ext cx="3378" cy="1303"/>
            </a:xfrm>
            <a:prstGeom prst="line">
              <a:avLst/>
            </a:prstGeom>
            <a:ln w="28575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2" name="直接连接符 11"/>
            <p:cNvCxnSpPr>
              <a:stCxn id="34" idx="0"/>
              <a:endCxn id="2" idx="4"/>
            </p:cNvCxnSpPr>
            <p:nvPr/>
          </p:nvCxnSpPr>
          <p:spPr>
            <a:xfrm flipV="1">
              <a:off x="7265" y="5004"/>
              <a:ext cx="1689" cy="1303"/>
            </a:xfrm>
            <a:prstGeom prst="line">
              <a:avLst/>
            </a:prstGeom>
            <a:ln w="28575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3" name="直接连接符 12"/>
            <p:cNvCxnSpPr>
              <a:stCxn id="35" idx="0"/>
              <a:endCxn id="2" idx="4"/>
            </p:cNvCxnSpPr>
            <p:nvPr/>
          </p:nvCxnSpPr>
          <p:spPr>
            <a:xfrm flipV="1">
              <a:off x="8954" y="5004"/>
              <a:ext cx="0" cy="1303"/>
            </a:xfrm>
            <a:prstGeom prst="line">
              <a:avLst/>
            </a:prstGeom>
            <a:ln w="28575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4" name="直接连接符 13"/>
            <p:cNvCxnSpPr>
              <a:stCxn id="36" idx="0"/>
              <a:endCxn id="2" idx="4"/>
            </p:cNvCxnSpPr>
            <p:nvPr/>
          </p:nvCxnSpPr>
          <p:spPr>
            <a:xfrm flipH="1" flipV="1">
              <a:off x="8954" y="5004"/>
              <a:ext cx="1689" cy="1303"/>
            </a:xfrm>
            <a:prstGeom prst="line">
              <a:avLst/>
            </a:prstGeom>
            <a:ln w="28575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4" name="直接连接符 23"/>
            <p:cNvCxnSpPr>
              <a:stCxn id="37" idx="0"/>
            </p:cNvCxnSpPr>
            <p:nvPr/>
          </p:nvCxnSpPr>
          <p:spPr>
            <a:xfrm flipH="1" flipV="1">
              <a:off x="8920" y="5003"/>
              <a:ext cx="3412" cy="1304"/>
            </a:xfrm>
            <a:prstGeom prst="line">
              <a:avLst/>
            </a:prstGeom>
            <a:ln w="28575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aphicFrame>
        <p:nvGraphicFramePr>
          <p:cNvPr id="5" name="表格 4"/>
          <p:cNvGraphicFramePr/>
          <p:nvPr/>
        </p:nvGraphicFramePr>
        <p:xfrm>
          <a:off x="435610" y="-746760"/>
          <a:ext cx="10080625" cy="932370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32000"/>
                <a:gridCol w="1332000"/>
                <a:gridCol w="1332000"/>
                <a:gridCol w="1332000"/>
                <a:gridCol w="664845"/>
                <a:gridCol w="664387"/>
                <a:gridCol w="664616"/>
                <a:gridCol w="664617"/>
                <a:gridCol w="664616"/>
                <a:gridCol w="1332000"/>
              </a:tblGrid>
              <a:tr h="1332000"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2100" b="1">
                          <a:latin typeface="Monaco" panose="020B0500000000000000" charset="-120"/>
                          <a:cs typeface="Monaco" panose="020B0500000000000000" charset="-120"/>
                          <a:sym typeface="+mn-ea"/>
                        </a:rPr>
                        <a:t>kf1,kf2</a:t>
                      </a:r>
                      <a:endParaRPr lang="en-US" altLang="zh-CN" sz="2100" b="1">
                        <a:latin typeface="Monaco" panose="020B0500000000000000" charset="-120"/>
                        <a:cs typeface="Monaco" panose="020B0500000000000000" charset="-120"/>
                        <a:sym typeface="+mn-ea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2100" b="1">
                          <a:latin typeface="Monaco" panose="020B0500000000000000" charset="-120"/>
                          <a:cs typeface="Monaco" panose="020B0500000000000000" charset="-120"/>
                          <a:sym typeface="+mn-ea"/>
                        </a:rPr>
                        <a:t>kf1,kf3</a:t>
                      </a:r>
                      <a:endParaRPr lang="en-US" altLang="zh-CN" sz="2100" b="1">
                        <a:latin typeface="Monaco" panose="020B0500000000000000" charset="-120"/>
                        <a:cs typeface="Monaco" panose="020B0500000000000000" charset="-120"/>
                        <a:sym typeface="+mn-ea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2100" b="1">
                          <a:latin typeface="Monaco" panose="020B0500000000000000" charset="-120"/>
                          <a:cs typeface="Monaco" panose="020B0500000000000000" charset="-120"/>
                          <a:sym typeface="+mn-ea"/>
                        </a:rPr>
                        <a:t>kf2,kf3</a:t>
                      </a:r>
                      <a:endParaRPr lang="en-US" altLang="zh-CN" sz="2100" b="1">
                        <a:latin typeface="Monaco" panose="020B0500000000000000" charset="-120"/>
                        <a:cs typeface="Monaco" panose="020B0500000000000000" charset="-120"/>
                        <a:sym typeface="+mn-ea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2100" b="1">
                          <a:latin typeface="Monaco" panose="020B0500000000000000" charset="-120"/>
                          <a:cs typeface="Monaco" panose="020B0500000000000000" charset="-120"/>
                        </a:rPr>
                        <a:t>p1</a:t>
                      </a:r>
                      <a:endParaRPr lang="en-US" altLang="zh-CN" sz="2100" b="1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2100" b="1">
                          <a:latin typeface="Monaco" panose="020B0500000000000000" charset="-120"/>
                          <a:cs typeface="Monaco" panose="020B0500000000000000" charset="-120"/>
                        </a:rPr>
                        <a:t>p2</a:t>
                      </a:r>
                      <a:endParaRPr lang="en-US" altLang="zh-CN" sz="2100" b="1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2100" b="1">
                          <a:latin typeface="Monaco" panose="020B0500000000000000" charset="-120"/>
                          <a:cs typeface="Monaco" panose="020B0500000000000000" charset="-120"/>
                        </a:rPr>
                        <a:t>p3</a:t>
                      </a:r>
                      <a:endParaRPr lang="en-US" altLang="zh-CN" sz="2100" b="1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2100" b="1">
                          <a:latin typeface="Monaco" panose="020B0500000000000000" charset="-120"/>
                          <a:cs typeface="Monaco" panose="020B0500000000000000" charset="-120"/>
                        </a:rPr>
                        <a:t>p4</a:t>
                      </a:r>
                      <a:endParaRPr lang="en-US" altLang="zh-CN" sz="2100" b="1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2100" b="1">
                          <a:latin typeface="Monaco" panose="020B0500000000000000" charset="-120"/>
                          <a:cs typeface="Monaco" panose="020B0500000000000000" charset="-120"/>
                        </a:rPr>
                        <a:t>p5</a:t>
                      </a:r>
                      <a:endParaRPr lang="en-US" altLang="zh-CN" sz="2100" b="1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2100" b="1">
                          <a:latin typeface="Monaco" panose="020B0500000000000000" charset="-120"/>
                          <a:cs typeface="Monaco" panose="020B0500000000000000" charset="-120"/>
                        </a:rPr>
                        <a:t>C</a:t>
                      </a:r>
                      <a:endParaRPr lang="en-US" altLang="zh-CN" sz="2100" b="1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</a:tr>
              <a:tr h="1332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2100" b="1">
                          <a:latin typeface="Monaco" panose="020B0500000000000000" charset="-120"/>
                          <a:cs typeface="Monaco" panose="020B0500000000000000" charset="-120"/>
                          <a:sym typeface="+mn-ea"/>
                        </a:rPr>
                        <a:t>kf1,kf2</a:t>
                      </a:r>
                      <a:endParaRPr lang="en-US" altLang="zh-CN" sz="2100" b="1">
                        <a:latin typeface="Monaco" panose="020B0500000000000000" charset="-120"/>
                        <a:cs typeface="Monaco" panose="020B0500000000000000" charset="-120"/>
                        <a:sym typeface="+mn-ea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</a:tr>
              <a:tr h="1332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2100" b="1">
                          <a:latin typeface="Monaco" panose="020B0500000000000000" charset="-120"/>
                          <a:cs typeface="Monaco" panose="020B0500000000000000" charset="-120"/>
                          <a:sym typeface="+mn-ea"/>
                        </a:rPr>
                        <a:t>kf1,kf3</a:t>
                      </a:r>
                      <a:endParaRPr lang="en-US" altLang="zh-CN" sz="2100" b="1">
                        <a:latin typeface="Monaco" panose="020B0500000000000000" charset="-120"/>
                        <a:cs typeface="Monaco" panose="020B0500000000000000" charset="-120"/>
                        <a:sym typeface="+mn-ea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</a:tr>
              <a:tr h="1332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2100" b="1">
                          <a:latin typeface="Monaco" panose="020B0500000000000000" charset="-120"/>
                          <a:cs typeface="Monaco" panose="020B0500000000000000" charset="-120"/>
                          <a:sym typeface="+mn-ea"/>
                        </a:rPr>
                        <a:t>kf2,kf3</a:t>
                      </a:r>
                      <a:endParaRPr lang="en-US" altLang="zh-CN" sz="2100" b="1">
                        <a:latin typeface="Monaco" panose="020B0500000000000000" charset="-120"/>
                        <a:cs typeface="Monaco" panose="020B0500000000000000" charset="-120"/>
                        <a:sym typeface="+mn-ea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</a:tr>
              <a:tr h="666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2100" b="1">
                          <a:latin typeface="Monaco" panose="020B0500000000000000" charset="-120"/>
                          <a:cs typeface="Monaco" panose="020B0500000000000000" charset="-120"/>
                        </a:rPr>
                        <a:t>p1</a:t>
                      </a:r>
                      <a:endParaRPr lang="en-US" altLang="zh-CN" sz="2100" b="1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</a:tr>
              <a:tr h="666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2100" b="1">
                          <a:latin typeface="Monaco" panose="020B0500000000000000" charset="-120"/>
                          <a:cs typeface="Monaco" panose="020B0500000000000000" charset="-120"/>
                        </a:rPr>
                        <a:t>p2</a:t>
                      </a:r>
                      <a:endParaRPr lang="en-US" altLang="zh-CN" sz="2100" b="1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</a:tr>
              <a:tr h="666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2100" b="1">
                          <a:latin typeface="Monaco" panose="020B0500000000000000" charset="-120"/>
                          <a:cs typeface="Monaco" panose="020B0500000000000000" charset="-120"/>
                        </a:rPr>
                        <a:t>p3</a:t>
                      </a:r>
                      <a:endParaRPr lang="en-US" altLang="zh-CN" sz="2100" b="1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</a:tr>
              <a:tr h="666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2100" b="1">
                          <a:latin typeface="Monaco" panose="020B0500000000000000" charset="-120"/>
                          <a:cs typeface="Monaco" panose="020B0500000000000000" charset="-120"/>
                        </a:rPr>
                        <a:t>p4</a:t>
                      </a:r>
                      <a:endParaRPr lang="en-US" altLang="zh-CN" sz="2100" b="1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</a:tr>
              <a:tr h="666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2100" b="1">
                          <a:latin typeface="Monaco" panose="020B0500000000000000" charset="-120"/>
                          <a:cs typeface="Monaco" panose="020B0500000000000000" charset="-120"/>
                        </a:rPr>
                        <a:t>p5</a:t>
                      </a:r>
                      <a:endParaRPr lang="en-US" altLang="zh-CN" sz="2100" b="1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</a:tr>
              <a:tr h="1332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2100" b="1">
                          <a:latin typeface="Monaco" panose="020B0500000000000000" charset="-120"/>
                          <a:cs typeface="Monaco" panose="020B0500000000000000" charset="-120"/>
                        </a:rPr>
                        <a:t>C</a:t>
                      </a:r>
                      <a:endParaRPr lang="en-US" altLang="zh-CN" sz="2100" b="1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5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aphicFrame>
        <p:nvGraphicFramePr>
          <p:cNvPr id="3" name="表格 2"/>
          <p:cNvGraphicFramePr/>
          <p:nvPr/>
        </p:nvGraphicFramePr>
        <p:xfrm>
          <a:off x="1127760" y="-926465"/>
          <a:ext cx="10079990" cy="1008062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20000"/>
                <a:gridCol w="1440180"/>
                <a:gridCol w="1439545"/>
                <a:gridCol w="1440455"/>
                <a:gridCol w="720090"/>
                <a:gridCol w="719730"/>
                <a:gridCol w="720000"/>
                <a:gridCol w="720000"/>
                <a:gridCol w="720000"/>
                <a:gridCol w="1440180"/>
              </a:tblGrid>
              <a:tr h="720090"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2100" b="1">
                          <a:latin typeface="Monaco" panose="020B0500000000000000" charset="-120"/>
                          <a:cs typeface="Monaco" panose="020B0500000000000000" charset="-120"/>
                          <a:sym typeface="+mn-ea"/>
                        </a:rPr>
                        <a:t>kf1</a:t>
                      </a:r>
                      <a:endParaRPr lang="en-US" altLang="zh-CN" sz="2100" b="1">
                        <a:latin typeface="Monaco" panose="020B0500000000000000" charset="-120"/>
                        <a:cs typeface="Monaco" panose="020B0500000000000000" charset="-120"/>
                        <a:sym typeface="+mn-ea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2100" b="1">
                          <a:latin typeface="Monaco" panose="020B0500000000000000" charset="-120"/>
                          <a:cs typeface="Monaco" panose="020B0500000000000000" charset="-120"/>
                          <a:sym typeface="+mn-ea"/>
                        </a:rPr>
                        <a:t>kf2</a:t>
                      </a:r>
                      <a:endParaRPr lang="en-US" altLang="zh-CN" sz="2100" b="1">
                        <a:latin typeface="Monaco" panose="020B0500000000000000" charset="-120"/>
                        <a:cs typeface="Monaco" panose="020B0500000000000000" charset="-120"/>
                        <a:sym typeface="+mn-ea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2100" b="1">
                          <a:latin typeface="Monaco" panose="020B0500000000000000" charset="-120"/>
                          <a:cs typeface="Monaco" panose="020B0500000000000000" charset="-120"/>
                          <a:sym typeface="+mn-ea"/>
                        </a:rPr>
                        <a:t>kf3</a:t>
                      </a:r>
                      <a:endParaRPr lang="en-US" altLang="zh-CN" sz="2100" b="1">
                        <a:latin typeface="Monaco" panose="020B0500000000000000" charset="-120"/>
                        <a:cs typeface="Monaco" panose="020B0500000000000000" charset="-120"/>
                        <a:sym typeface="+mn-ea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2100" b="1">
                          <a:latin typeface="Monaco" panose="020B0500000000000000" charset="-120"/>
                          <a:cs typeface="Monaco" panose="020B0500000000000000" charset="-120"/>
                        </a:rPr>
                        <a:t>p1</a:t>
                      </a:r>
                      <a:endParaRPr lang="en-US" altLang="zh-CN" sz="2100" b="1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2100" b="1">
                          <a:latin typeface="Monaco" panose="020B0500000000000000" charset="-120"/>
                          <a:cs typeface="Monaco" panose="020B0500000000000000" charset="-120"/>
                        </a:rPr>
                        <a:t>p2</a:t>
                      </a:r>
                      <a:endParaRPr lang="en-US" altLang="zh-CN" sz="2100" b="1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2100" b="1">
                          <a:latin typeface="Monaco" panose="020B0500000000000000" charset="-120"/>
                          <a:cs typeface="Monaco" panose="020B0500000000000000" charset="-120"/>
                        </a:rPr>
                        <a:t>p3</a:t>
                      </a:r>
                      <a:endParaRPr lang="en-US" altLang="zh-CN" sz="2100" b="1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2100" b="1">
                          <a:latin typeface="Monaco" panose="020B0500000000000000" charset="-120"/>
                          <a:cs typeface="Monaco" panose="020B0500000000000000" charset="-120"/>
                        </a:rPr>
                        <a:t>p4</a:t>
                      </a:r>
                      <a:endParaRPr lang="en-US" altLang="zh-CN" sz="2100" b="1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2100" b="1">
                          <a:latin typeface="Monaco" panose="020B0500000000000000" charset="-120"/>
                          <a:cs typeface="Monaco" panose="020B0500000000000000" charset="-120"/>
                        </a:rPr>
                        <a:t>p5</a:t>
                      </a:r>
                      <a:endParaRPr lang="en-US" altLang="zh-CN" sz="2100" b="1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2100" b="1">
                          <a:latin typeface="Monaco" panose="020B0500000000000000" charset="-120"/>
                          <a:cs typeface="Monaco" panose="020B0500000000000000" charset="-120"/>
                        </a:rPr>
                        <a:t>C</a:t>
                      </a:r>
                      <a:endParaRPr lang="en-US" altLang="zh-CN" sz="2100" b="1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</a:tr>
              <a:tr h="144009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2100" b="1">
                          <a:latin typeface="Monaco" panose="020B0500000000000000" charset="-120"/>
                          <a:cs typeface="Monaco" panose="020B0500000000000000" charset="-120"/>
                          <a:sym typeface="+mn-ea"/>
                        </a:rPr>
                        <a:t>kf1</a:t>
                      </a:r>
                      <a:endParaRPr lang="en-US" altLang="zh-CN" sz="2100" b="1">
                        <a:latin typeface="Monaco" panose="020B0500000000000000" charset="-120"/>
                        <a:cs typeface="Monaco" panose="020B0500000000000000" charset="-120"/>
                        <a:sym typeface="+mn-ea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</a:tr>
              <a:tr h="1440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2100" b="1">
                          <a:latin typeface="Monaco" panose="020B0500000000000000" charset="-120"/>
                          <a:cs typeface="Monaco" panose="020B0500000000000000" charset="-120"/>
                          <a:sym typeface="+mn-ea"/>
                        </a:rPr>
                        <a:t>kf2</a:t>
                      </a:r>
                      <a:endParaRPr lang="en-US" altLang="zh-CN" sz="2100" b="1">
                        <a:latin typeface="Monaco" panose="020B0500000000000000" charset="-120"/>
                        <a:cs typeface="Monaco" panose="020B0500000000000000" charset="-120"/>
                        <a:sym typeface="+mn-ea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</a:tr>
              <a:tr h="144009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2100" b="1">
                          <a:latin typeface="Monaco" panose="020B0500000000000000" charset="-120"/>
                          <a:cs typeface="Monaco" panose="020B0500000000000000" charset="-120"/>
                          <a:sym typeface="+mn-ea"/>
                        </a:rPr>
                        <a:t>kf3</a:t>
                      </a:r>
                      <a:endParaRPr lang="en-US" altLang="zh-CN" sz="2100" b="1">
                        <a:latin typeface="Monaco" panose="020B0500000000000000" charset="-120"/>
                        <a:cs typeface="Monaco" panose="020B0500000000000000" charset="-120"/>
                        <a:sym typeface="+mn-ea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</a:tr>
              <a:tr h="720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2100" b="1">
                          <a:latin typeface="Monaco" panose="020B0500000000000000" charset="-120"/>
                          <a:cs typeface="Monaco" panose="020B0500000000000000" charset="-120"/>
                        </a:rPr>
                        <a:t>p1</a:t>
                      </a:r>
                      <a:endParaRPr lang="en-US" altLang="zh-CN" sz="2100" b="1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</a:tr>
              <a:tr h="720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2100" b="1">
                          <a:latin typeface="Monaco" panose="020B0500000000000000" charset="-120"/>
                          <a:cs typeface="Monaco" panose="020B0500000000000000" charset="-120"/>
                        </a:rPr>
                        <a:t>p2</a:t>
                      </a:r>
                      <a:endParaRPr lang="en-US" altLang="zh-CN" sz="2100" b="1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</a:tr>
              <a:tr h="72009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2100" b="1">
                          <a:latin typeface="Monaco" panose="020B0500000000000000" charset="-120"/>
                          <a:cs typeface="Monaco" panose="020B0500000000000000" charset="-120"/>
                        </a:rPr>
                        <a:t>p3</a:t>
                      </a:r>
                      <a:endParaRPr lang="en-US" altLang="zh-CN" sz="2100" b="1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</a:tr>
              <a:tr h="720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2100" b="1">
                          <a:latin typeface="Monaco" panose="020B0500000000000000" charset="-120"/>
                          <a:cs typeface="Monaco" panose="020B0500000000000000" charset="-120"/>
                        </a:rPr>
                        <a:t>p4</a:t>
                      </a:r>
                      <a:endParaRPr lang="en-US" altLang="zh-CN" sz="2100" b="1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</a:tr>
              <a:tr h="720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2100" b="1">
                          <a:latin typeface="Monaco" panose="020B0500000000000000" charset="-120"/>
                          <a:cs typeface="Monaco" panose="020B0500000000000000" charset="-120"/>
                        </a:rPr>
                        <a:t>p5</a:t>
                      </a:r>
                      <a:endParaRPr lang="en-US" altLang="zh-CN" sz="2100" b="1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</a:tr>
              <a:tr h="1440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2100" b="1">
                          <a:latin typeface="Monaco" panose="020B0500000000000000" charset="-120"/>
                          <a:cs typeface="Monaco" panose="020B0500000000000000" charset="-120"/>
                        </a:rPr>
                        <a:t>C</a:t>
                      </a:r>
                      <a:endParaRPr lang="en-US" altLang="zh-CN" sz="2100" b="1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28575">
                      <a:solidFill>
                        <a:schemeClr val="bg1"/>
                      </a:solidFill>
                      <a:prstDash val="solid"/>
                    </a:lnL>
                    <a:lnR w="28575">
                      <a:solidFill>
                        <a:schemeClr val="bg1"/>
                      </a:solidFill>
                      <a:prstDash val="solid"/>
                    </a:lnR>
                    <a:lnT w="28575">
                      <a:solidFill>
                        <a:schemeClr val="bg1"/>
                      </a:solidFill>
                      <a:prstDash val="solid"/>
                    </a:lnT>
                    <a:lnB w="285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5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3720" y="441325"/>
            <a:ext cx="7200000" cy="7200000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9985" y="441325"/>
            <a:ext cx="7199999" cy="7200000"/>
          </a:xfrm>
          <a:prstGeom prst="rect">
            <a:avLst/>
          </a:prstGeom>
        </p:spPr>
      </p:pic>
      <p:cxnSp>
        <p:nvCxnSpPr>
          <p:cNvPr id="5" name="直接箭头连接符 4"/>
          <p:cNvCxnSpPr>
            <a:stCxn id="2" idx="3"/>
          </p:cNvCxnSpPr>
          <p:nvPr/>
        </p:nvCxnSpPr>
        <p:spPr>
          <a:xfrm flipV="1">
            <a:off x="5376545" y="4040505"/>
            <a:ext cx="2087245" cy="1270"/>
          </a:xfrm>
          <a:prstGeom prst="straightConnector1">
            <a:avLst/>
          </a:prstGeom>
          <a:ln w="5715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6" name="图片 5"/>
          <p:cNvPicPr/>
          <p:nvPr/>
        </p:nvPicPr>
        <p:blipFill>
          <a:blip r:embed="rId1"/>
          <a:srcRect l="67" t="1098" r="984" b="4171"/>
        </p:blipFill>
        <p:spPr>
          <a:xfrm>
            <a:off x="1056005" y="1701165"/>
            <a:ext cx="9324340" cy="4932680"/>
          </a:xfrm>
          <a:prstGeom prst="rect">
            <a:avLst/>
          </a:prstGeom>
        </p:spPr>
      </p:pic>
      <p:pic>
        <p:nvPicPr>
          <p:cNvPr id="7" name="图片 6"/>
          <p:cNvPicPr/>
          <p:nvPr/>
        </p:nvPicPr>
        <p:blipFill>
          <a:blip r:embed="rId1"/>
          <a:srcRect l="7709" t="17012" r="70519" b="47720"/>
        </p:blipFill>
        <p:spPr>
          <a:xfrm>
            <a:off x="3180080" y="-62865"/>
            <a:ext cx="2051685" cy="1836420"/>
          </a:xfrm>
          <a:prstGeom prst="rect">
            <a:avLst/>
          </a:prstGeom>
        </p:spPr>
      </p:pic>
      <p:pic>
        <p:nvPicPr>
          <p:cNvPr id="8" name="图片 7"/>
          <p:cNvPicPr/>
          <p:nvPr/>
        </p:nvPicPr>
        <p:blipFill>
          <a:blip r:embed="rId1"/>
          <a:srcRect l="29865" t="17012" r="48363" b="47720"/>
        </p:blipFill>
        <p:spPr>
          <a:xfrm>
            <a:off x="7679690" y="0"/>
            <a:ext cx="2051685" cy="1836420"/>
          </a:xfrm>
          <a:prstGeom prst="rect">
            <a:avLst/>
          </a:prstGeom>
        </p:spPr>
      </p:pic>
      <p:pic>
        <p:nvPicPr>
          <p:cNvPr id="9" name="图片 8"/>
          <p:cNvPicPr/>
          <p:nvPr/>
        </p:nvPicPr>
        <p:blipFill>
          <a:blip r:embed="rId1"/>
          <a:srcRect l="52022" t="17012" r="26199" b="47720"/>
        </p:blipFill>
        <p:spPr>
          <a:xfrm>
            <a:off x="5556250" y="-62865"/>
            <a:ext cx="2052320" cy="1836420"/>
          </a:xfrm>
          <a:prstGeom prst="rect">
            <a:avLst/>
          </a:prstGeom>
        </p:spPr>
      </p:pic>
      <p:pic>
        <p:nvPicPr>
          <p:cNvPr id="10" name="图片 9"/>
          <p:cNvPicPr/>
          <p:nvPr/>
        </p:nvPicPr>
        <p:blipFill>
          <a:blip r:embed="rId1"/>
          <a:srcRect l="74178" t="17012" r="4043" b="47720"/>
        </p:blipFill>
        <p:spPr>
          <a:xfrm>
            <a:off x="9911715" y="189230"/>
            <a:ext cx="2052320" cy="183642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16" name="组合 15"/>
          <p:cNvGrpSpPr/>
          <p:nvPr/>
        </p:nvGrpSpPr>
        <p:grpSpPr>
          <a:xfrm>
            <a:off x="3443605" y="45085"/>
            <a:ext cx="6522720" cy="7209790"/>
            <a:chOff x="5423" y="71"/>
            <a:chExt cx="10272" cy="11354"/>
          </a:xfrm>
        </p:grpSpPr>
        <p:pic>
          <p:nvPicPr>
            <p:cNvPr id="7" name="图片 6" descr="FEJ0_Swin2SR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5574" y="71"/>
              <a:ext cx="5061" cy="4535"/>
            </a:xfrm>
            <a:prstGeom prst="rect">
              <a:avLst/>
            </a:prstGeom>
          </p:spPr>
        </p:pic>
        <p:pic>
          <p:nvPicPr>
            <p:cNvPr id="8" name="图片 7" descr="FEJ1_Swin2SR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574" y="5913"/>
              <a:ext cx="5061" cy="4535"/>
            </a:xfrm>
            <a:prstGeom prst="rect">
              <a:avLst/>
            </a:prstGeom>
          </p:spPr>
        </p:pic>
        <p:pic>
          <p:nvPicPr>
            <p:cNvPr id="9" name="图片 8" descr="FEJ2_Swin2SR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635" y="71"/>
              <a:ext cx="5060" cy="4535"/>
            </a:xfrm>
            <a:prstGeom prst="rect">
              <a:avLst/>
            </a:prstGeom>
          </p:spPr>
        </p:pic>
        <p:pic>
          <p:nvPicPr>
            <p:cNvPr id="10" name="图片 9" descr="FEJ3_Swin2SR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636" y="5913"/>
              <a:ext cx="5059" cy="4535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文本框 11"/>
                <p:cNvSpPr txBox="1"/>
                <p:nvPr/>
              </p:nvSpPr>
              <p:spPr>
                <a:xfrm>
                  <a:off x="5423" y="5060"/>
                  <a:ext cx="5363" cy="568"/>
                </a:xfrm>
                <a:prstGeom prst="rect">
                  <a:avLst/>
                </a:prstGeom>
                <a:noFill/>
              </p:spPr>
              <p:txBody>
                <a:bodyPr wrap="none" rtlCol="0" anchor="t">
                  <a:spAutoFit/>
                </a:bodyPr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bPr>
                          <m:e>
                            <m:r>
                              <a:rPr lang="en-US" altLang="zh-CN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𝑬</m:t>
                            </m:r>
                          </m:e>
                          <m:sub>
                            <m:r>
                              <a:rPr lang="en-US" altLang="zh-CN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𝟏</m:t>
                            </m:r>
                          </m:sub>
                        </m:sSub>
                        <m:r>
                          <a:rPr lang="en-US" altLang="zh-CN" b="1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altLang="zh-CN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bPr>
                          <m:e>
                            <m:r>
                              <a:rPr lang="en-US" altLang="zh-CN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𝑬</m:t>
                            </m:r>
                          </m:e>
                          <m:sub>
                            <m:r>
                              <a:rPr lang="en-US" altLang="zh-CN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𝟐</m:t>
                            </m:r>
                          </m:sub>
                        </m:sSub>
                        <m:r>
                          <a:rPr lang="en-US" altLang="zh-CN" b="1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=</m:t>
                        </m:r>
                        <m:sSup>
                          <m:sSupPr>
                            <m:ctrlPr>
                              <a:rPr lang="en-US" altLang="zh-CN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𝒙𝒚</m:t>
                            </m:r>
                            <m:r>
                              <a:rPr lang="en-US" altLang="zh-CN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−</m:t>
                            </m:r>
                            <m:r>
                              <a:rPr lang="en-US" altLang="zh-CN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𝟏</m:t>
                            </m:r>
                            <m:r>
                              <a:rPr lang="en-US" altLang="zh-CN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)</m:t>
                            </m:r>
                          </m:e>
                          <m:sup>
                            <m:r>
                              <a:rPr lang="en-US" altLang="zh-CN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𝟐</m:t>
                            </m:r>
                          </m:sup>
                        </m:sSup>
                        <m:r>
                          <a:rPr lang="en-US" altLang="zh-CN" b="1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altLang="zh-CN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𝒙𝒚</m:t>
                            </m:r>
                            <m:r>
                              <a:rPr lang="en-US" altLang="zh-CN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−</m:t>
                            </m:r>
                            <m:r>
                              <a:rPr lang="en-US" altLang="zh-CN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𝟏</m:t>
                            </m:r>
                            <m:r>
                              <a:rPr lang="en-US" altLang="zh-CN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)</m:t>
                            </m:r>
                          </m:e>
                          <m:sup>
                            <m:r>
                              <a:rPr lang="en-US" altLang="zh-CN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𝟐</m:t>
                            </m:r>
                          </m:sup>
                        </m:sSup>
                      </m:oMath>
                    </m:oMathPara>
                  </a14:m>
                  <a:endParaRPr lang="zh-CN" altLang="en-US" b="1"/>
                </a:p>
              </p:txBody>
            </p:sp>
          </mc:Choice>
          <mc:Fallback>
            <p:sp>
              <p:nvSpPr>
                <p:cNvPr id="12" name="文本框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23" y="5060"/>
                  <a:ext cx="5363" cy="568"/>
                </a:xfrm>
                <a:prstGeom prst="rect">
                  <a:avLst/>
                </a:prstGeom>
                <a:blipFill rotWithShape="1">
                  <a:blip r:embed="rId5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文本框 12"/>
                <p:cNvSpPr txBox="1"/>
                <p:nvPr/>
              </p:nvSpPr>
              <p:spPr>
                <a:xfrm>
                  <a:off x="11628" y="5048"/>
                  <a:ext cx="3075" cy="580"/>
                </a:xfrm>
                <a:prstGeom prst="rect">
                  <a:avLst/>
                </a:prstGeom>
                <a:noFill/>
              </p:spPr>
              <p:txBody>
                <a:bodyPr wrap="none" rtlCol="0" anchor="t">
                  <a:spAutoFit/>
                </a:bodyPr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bPr>
                          <m:e>
                            <m:r>
                              <a:rPr lang="en-US" altLang="zh-CN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𝑬</m:t>
                            </m:r>
                          </m:e>
                          <m:sub>
                            <m:r>
                              <a:rPr lang="en-US" altLang="zh-CN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𝟏</m:t>
                            </m:r>
                          </m:sub>
                        </m:sSub>
                        <m:r>
                          <a:rPr lang="en-US" altLang="zh-CN" b="1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b="1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𝒙</m:t>
                        </m:r>
                        <m:r>
                          <a:rPr lang="en-US" altLang="zh-CN" b="1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=</m:t>
                        </m:r>
                        <m:r>
                          <a:rPr lang="en-US" altLang="zh-CN" b="1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𝟎</m:t>
                        </m:r>
                        <m:r>
                          <a:rPr lang="en-US" altLang="zh-CN" b="1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.</m:t>
                        </m:r>
                        <m:r>
                          <a:rPr lang="en-US" altLang="zh-CN" b="1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𝟓</m:t>
                        </m:r>
                        <m:r>
                          <a:rPr lang="en-US" altLang="zh-CN" b="1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zh-CN" altLang="en-US" b="1"/>
                </a:p>
              </p:txBody>
            </p:sp>
          </mc:Choice>
          <mc:Fallback>
            <p:sp>
              <p:nvSpPr>
                <p:cNvPr id="13" name="文本框 1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28" y="5048"/>
                  <a:ext cx="3075" cy="580"/>
                </a:xfrm>
                <a:prstGeom prst="rect">
                  <a:avLst/>
                </a:prstGeom>
                <a:blipFill rotWithShape="1">
                  <a:blip r:embed="rId6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" name="文本框 13"/>
                <p:cNvSpPr txBox="1"/>
                <p:nvPr/>
              </p:nvSpPr>
              <p:spPr>
                <a:xfrm>
                  <a:off x="7050" y="10845"/>
                  <a:ext cx="2108" cy="580"/>
                </a:xfrm>
                <a:prstGeom prst="rect">
                  <a:avLst/>
                </a:prstGeom>
                <a:noFill/>
              </p:spPr>
              <p:txBody>
                <a:bodyPr wrap="none" rtlCol="0" anchor="t">
                  <a:spAutoFit/>
                </a:bodyPr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bPr>
                          <m:e>
                            <m:r>
                              <a:rPr lang="en-US" altLang="zh-CN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𝑬</m:t>
                            </m:r>
                          </m:e>
                          <m:sub>
                            <m:r>
                              <a:rPr lang="en-US" altLang="zh-CN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𝟐</m:t>
                            </m:r>
                          </m:sub>
                        </m:sSub>
                        <m:r>
                          <a:rPr lang="en-US" altLang="zh-CN" b="1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b="1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𝒙</m:t>
                        </m:r>
                        <m:r>
                          <a:rPr lang="en-US" altLang="zh-CN" b="1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=</m:t>
                        </m:r>
                        <m:r>
                          <a:rPr lang="en-US" altLang="zh-CN" b="1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𝟏</m:t>
                        </m:r>
                        <m:r>
                          <a:rPr lang="en-US" altLang="zh-CN" b="1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.</m:t>
                        </m:r>
                        <m:r>
                          <a:rPr lang="en-US" altLang="zh-CN" b="1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𝟐</m:t>
                        </m:r>
                        <m:r>
                          <a:rPr lang="en-US" altLang="zh-CN" b="1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zh-CN" altLang="en-US" b="1"/>
                </a:p>
              </p:txBody>
            </p:sp>
          </mc:Choice>
          <mc:Fallback>
            <p:sp>
              <p:nvSpPr>
                <p:cNvPr id="14" name="文本框 1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50" y="10845"/>
                  <a:ext cx="2108" cy="580"/>
                </a:xfrm>
                <a:prstGeom prst="rect">
                  <a:avLst/>
                </a:prstGeom>
                <a:blipFill rotWithShape="1">
                  <a:blip r:embed="rId7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" name="文本框 14"/>
                <p:cNvSpPr txBox="1"/>
                <p:nvPr/>
              </p:nvSpPr>
              <p:spPr>
                <a:xfrm>
                  <a:off x="10986" y="10845"/>
                  <a:ext cx="4358" cy="580"/>
                </a:xfrm>
                <a:prstGeom prst="rect">
                  <a:avLst/>
                </a:prstGeom>
                <a:noFill/>
              </p:spPr>
              <p:txBody>
                <a:bodyPr wrap="none" rtlCol="0" anchor="t">
                  <a:spAutoFit/>
                </a:bodyPr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bPr>
                          <m:e>
                            <m:r>
                              <a:rPr lang="en-US" altLang="zh-CN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𝑬</m:t>
                            </m:r>
                          </m:e>
                          <m:sub>
                            <m:r>
                              <a:rPr lang="en-US" altLang="zh-CN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𝟏</m:t>
                            </m:r>
                          </m:sub>
                        </m:sSub>
                        <m:r>
                          <a:rPr lang="en-US" altLang="zh-CN" b="1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b="1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𝒙</m:t>
                        </m:r>
                        <m:r>
                          <a:rPr lang="en-US" altLang="zh-CN" b="1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=</m:t>
                        </m:r>
                        <m:r>
                          <a:rPr lang="en-US" altLang="zh-CN" b="1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𝟎</m:t>
                        </m:r>
                        <m:r>
                          <a:rPr lang="en-US" altLang="zh-CN" b="1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.</m:t>
                        </m:r>
                        <m:r>
                          <a:rPr lang="en-US" altLang="zh-CN" b="1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𝟓</m:t>
                        </m:r>
                        <m:r>
                          <a:rPr lang="en-US" altLang="zh-CN" b="1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)+</m:t>
                        </m:r>
                        <m:sSub>
                          <m:sSubPr>
                            <m:ctrlPr>
                              <a:rPr lang="en-US" altLang="zh-CN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bPr>
                          <m:e>
                            <m:r>
                              <a:rPr lang="en-US" altLang="zh-CN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𝑬</m:t>
                            </m:r>
                          </m:e>
                          <m:sub>
                            <m:r>
                              <a:rPr lang="en-US" altLang="zh-CN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𝟐</m:t>
                            </m:r>
                          </m:sub>
                        </m:sSub>
                        <m:r>
                          <a:rPr lang="en-US" altLang="zh-CN" b="1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b="1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𝒙</m:t>
                        </m:r>
                        <m:r>
                          <a:rPr lang="en-US" altLang="zh-CN" b="1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=</m:t>
                        </m:r>
                        <m:r>
                          <a:rPr lang="en-US" altLang="zh-CN" b="1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𝟏</m:t>
                        </m:r>
                        <m:r>
                          <a:rPr lang="en-US" altLang="zh-CN" b="1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.</m:t>
                        </m:r>
                        <m:r>
                          <a:rPr lang="en-US" altLang="zh-CN" b="1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𝟐</m:t>
                        </m:r>
                        <m:r>
                          <a:rPr lang="en-US" altLang="zh-CN" b="1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b="1"/>
                </a:p>
              </p:txBody>
            </p:sp>
          </mc:Choice>
          <mc:Fallback>
            <p:sp>
              <p:nvSpPr>
                <p:cNvPr id="15" name="文本框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86" y="10845"/>
                  <a:ext cx="4358" cy="580"/>
                </a:xfrm>
                <a:prstGeom prst="rect">
                  <a:avLst/>
                </a:prstGeom>
                <a:blipFill rotWithShape="1">
                  <a:blip r:embed="rId8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34" name="组合 33"/>
          <p:cNvGrpSpPr/>
          <p:nvPr/>
        </p:nvGrpSpPr>
        <p:grpSpPr>
          <a:xfrm>
            <a:off x="3349625" y="1449070"/>
            <a:ext cx="3930015" cy="3527425"/>
            <a:chOff x="5275" y="2282"/>
            <a:chExt cx="6189" cy="5555"/>
          </a:xfrm>
        </p:grpSpPr>
        <p:cxnSp>
          <p:nvCxnSpPr>
            <p:cNvPr id="18" name="直接连接符 17"/>
            <p:cNvCxnSpPr/>
            <p:nvPr/>
          </p:nvCxnSpPr>
          <p:spPr>
            <a:xfrm>
              <a:off x="6652" y="3756"/>
              <a:ext cx="3685" cy="368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9" name="平行四边形 8"/>
            <p:cNvSpPr/>
            <p:nvPr/>
          </p:nvSpPr>
          <p:spPr>
            <a:xfrm rot="8100000">
              <a:off x="6365" y="4809"/>
              <a:ext cx="4754" cy="2347"/>
            </a:xfrm>
            <a:prstGeom prst="parallelogram">
              <a:avLst>
                <a:gd name="adj" fmla="val 21599"/>
              </a:avLst>
            </a:prstGeom>
            <a:solidFill>
              <a:srgbClr val="EEECEE"/>
            </a:solidFill>
            <a:ln>
              <a:solidFill>
                <a:srgbClr val="EEECEE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cxnSp>
          <p:nvCxnSpPr>
            <p:cNvPr id="19" name="直接连接符 18"/>
            <p:cNvCxnSpPr/>
            <p:nvPr/>
          </p:nvCxnSpPr>
          <p:spPr>
            <a:xfrm flipH="1">
              <a:off x="8296" y="4833"/>
              <a:ext cx="1474" cy="1417"/>
            </a:xfrm>
            <a:prstGeom prst="line">
              <a:avLst/>
            </a:prstGeom>
            <a:ln w="19050">
              <a:solidFill>
                <a:schemeClr val="tx1"/>
              </a:solidFill>
              <a:headEnd type="arrow" w="med" len="med"/>
              <a:tailEnd type="non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0" name="直接箭头连接符 19"/>
            <p:cNvCxnSpPr/>
            <p:nvPr/>
          </p:nvCxnSpPr>
          <p:spPr>
            <a:xfrm flipV="1">
              <a:off x="8735" y="3795"/>
              <a:ext cx="12" cy="204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1" name="直接连接符 20"/>
            <p:cNvCxnSpPr/>
            <p:nvPr/>
          </p:nvCxnSpPr>
          <p:spPr>
            <a:xfrm>
              <a:off x="8748" y="3804"/>
              <a:ext cx="1022" cy="1029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2" name="直接连接符 21"/>
            <p:cNvCxnSpPr/>
            <p:nvPr/>
          </p:nvCxnSpPr>
          <p:spPr>
            <a:xfrm flipH="1">
              <a:off x="7672" y="3795"/>
              <a:ext cx="1072" cy="981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3" name="直接连接符 22"/>
            <p:cNvCxnSpPr/>
            <p:nvPr/>
          </p:nvCxnSpPr>
          <p:spPr>
            <a:xfrm flipH="1" flipV="1">
              <a:off x="7672" y="4776"/>
              <a:ext cx="1052" cy="1056"/>
            </a:xfrm>
            <a:prstGeom prst="line">
              <a:avLst/>
            </a:prstGeom>
            <a:ln w="19050">
              <a:solidFill>
                <a:schemeClr val="tx1"/>
              </a:solidFill>
              <a:headEnd type="none"/>
              <a:tailEnd type="arrow" w="med" len="med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26" name="任意多边形 25"/>
            <p:cNvSpPr/>
            <p:nvPr/>
          </p:nvSpPr>
          <p:spPr>
            <a:xfrm>
              <a:off x="7236" y="2758"/>
              <a:ext cx="792" cy="1322"/>
            </a:xfrm>
            <a:custGeom>
              <a:avLst/>
              <a:gdLst>
                <a:gd name="connisteX0" fmla="*/ 190500 w 503024"/>
                <a:gd name="connsiteY0" fmla="*/ 0 h 922020"/>
                <a:gd name="connisteX1" fmla="*/ 38100 w 503024"/>
                <a:gd name="connsiteY1" fmla="*/ 464820 h 922020"/>
                <a:gd name="connisteX2" fmla="*/ 502920 w 503024"/>
                <a:gd name="connsiteY2" fmla="*/ 594360 h 922020"/>
                <a:gd name="connisteX3" fmla="*/ 0 w 503024"/>
                <a:gd name="connsiteY3" fmla="*/ 922020 h 922020"/>
                <a:gd name="connisteX4" fmla="*/ -15240 w 503024"/>
                <a:gd name="connsiteY4" fmla="*/ 922020 h 922020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  <a:cxn ang="0">
                  <a:pos x="connisteX4" y="connsiteY4"/>
                </a:cxn>
              </a:cxnLst>
              <a:rect l="l" t="t" r="r" b="b"/>
              <a:pathLst>
                <a:path w="503025" h="922020">
                  <a:moveTo>
                    <a:pt x="190500" y="0"/>
                  </a:moveTo>
                  <a:cubicBezTo>
                    <a:pt x="150495" y="90170"/>
                    <a:pt x="-24130" y="346075"/>
                    <a:pt x="38100" y="464820"/>
                  </a:cubicBezTo>
                  <a:cubicBezTo>
                    <a:pt x="100330" y="583565"/>
                    <a:pt x="510540" y="502920"/>
                    <a:pt x="502920" y="594360"/>
                  </a:cubicBezTo>
                  <a:cubicBezTo>
                    <a:pt x="495300" y="685800"/>
                    <a:pt x="103505" y="856615"/>
                    <a:pt x="0" y="922020"/>
                  </a:cubicBezTo>
                </a:path>
              </a:pathLst>
            </a:custGeom>
            <a:noFill/>
            <a:ln>
              <a:solidFill>
                <a:schemeClr val="tx1"/>
              </a:solidFill>
              <a:headEnd type="none"/>
              <a:tailEnd type="arrow" w="med" len="med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7" name="任意多边形 26"/>
            <p:cNvSpPr/>
            <p:nvPr/>
          </p:nvSpPr>
          <p:spPr>
            <a:xfrm>
              <a:off x="5928" y="6833"/>
              <a:ext cx="1644" cy="1004"/>
            </a:xfrm>
            <a:custGeom>
              <a:avLst/>
              <a:gdLst>
                <a:gd name="connisteX0" fmla="*/ 0 w 1043940"/>
                <a:gd name="connsiteY0" fmla="*/ 423600 h 637840"/>
                <a:gd name="connisteX1" fmla="*/ 556260 w 1043940"/>
                <a:gd name="connsiteY1" fmla="*/ 621720 h 637840"/>
                <a:gd name="connisteX2" fmla="*/ 525780 w 1043940"/>
                <a:gd name="connsiteY2" fmla="*/ 34980 h 637840"/>
                <a:gd name="connisteX3" fmla="*/ 1043940 w 1043940"/>
                <a:gd name="connsiteY3" fmla="*/ 111180 h 637840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</a:cxnLst>
              <a:rect l="l" t="t" r="r" b="b"/>
              <a:pathLst>
                <a:path w="1043940" h="637841">
                  <a:moveTo>
                    <a:pt x="0" y="423600"/>
                  </a:moveTo>
                  <a:cubicBezTo>
                    <a:pt x="111760" y="475035"/>
                    <a:pt x="450850" y="699190"/>
                    <a:pt x="556260" y="621720"/>
                  </a:cubicBezTo>
                  <a:cubicBezTo>
                    <a:pt x="661670" y="544250"/>
                    <a:pt x="427990" y="137215"/>
                    <a:pt x="525780" y="34980"/>
                  </a:cubicBezTo>
                  <a:cubicBezTo>
                    <a:pt x="623570" y="-67255"/>
                    <a:pt x="939800" y="84510"/>
                    <a:pt x="1043940" y="111180"/>
                  </a:cubicBezTo>
                </a:path>
              </a:pathLst>
            </a:custGeom>
            <a:noFill/>
            <a:ln>
              <a:solidFill>
                <a:schemeClr val="tx1"/>
              </a:solidFill>
              <a:headEnd type="none"/>
              <a:tailEnd type="arrow" w="med" len="med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8516" y="5627"/>
              <a:ext cx="450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2000">
                  <a:latin typeface="Times New Roman" panose="02020603050405020304" charset="0"/>
                  <a:cs typeface="Times New Roman" panose="02020603050405020304" charset="0"/>
                </a:rPr>
                <a:t>o</a:t>
              </a:r>
              <a:endParaRPr lang="en-US" altLang="zh-CN" sz="20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9" name="文本框 28"/>
                <p:cNvSpPr txBox="1"/>
                <p:nvPr/>
              </p:nvSpPr>
              <p:spPr>
                <a:xfrm>
                  <a:off x="9770" y="4946"/>
                  <a:ext cx="1694" cy="531"/>
                </a:xfrm>
                <a:prstGeom prst="rect">
                  <a:avLst/>
                </a:prstGeom>
                <a:noFill/>
              </p:spPr>
              <p:txBody>
                <a:bodyPr wrap="none" rtlCol="0" anchor="t">
                  <a:spAutoFit/>
                </a:bodyPr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6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𝑚</m:t>
                        </m:r>
                        <m:r>
                          <a:rPr lang="en-US" altLang="zh-CN" sz="16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CN" sz="16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bPr>
                          <m:e>
                            <m:r>
                              <a:rPr lang="en-US" altLang="zh-CN" sz="16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altLang="zh-CN" sz="16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ℳ</m:t>
                            </m:r>
                          </m:sub>
                        </m:sSub>
                        <m:r>
                          <a:rPr lang="en-US" altLang="zh-CN" sz="16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𝑣</m:t>
                        </m:r>
                      </m:oMath>
                    </m:oMathPara>
                  </a14:m>
                  <a:endParaRPr lang="en-US" altLang="zh-CN" sz="1600" i="1"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29" name="文本框 2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70" y="4946"/>
                  <a:ext cx="1694" cy="531"/>
                </a:xfrm>
                <a:prstGeom prst="rect">
                  <a:avLst/>
                </a:prstGeom>
                <a:blipFill rotWithShape="1">
                  <a:blip r:embed="rId1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0" name="文本框 29"/>
                <p:cNvSpPr txBox="1"/>
                <p:nvPr/>
              </p:nvSpPr>
              <p:spPr>
                <a:xfrm>
                  <a:off x="5275" y="4776"/>
                  <a:ext cx="2297" cy="531"/>
                </a:xfrm>
                <a:prstGeom prst="rect">
                  <a:avLst/>
                </a:prstGeom>
                <a:noFill/>
              </p:spPr>
              <p:txBody>
                <a:bodyPr wrap="none" rtlCol="0" anchor="t">
                  <a:spAutoFit/>
                </a:bodyPr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6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𝑛</m:t>
                        </m:r>
                        <m:r>
                          <a:rPr lang="en-US" altLang="zh-CN" sz="16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=(</m:t>
                        </m:r>
                        <m:r>
                          <a:rPr lang="en-US" altLang="zh-CN" sz="16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𝐼−</m:t>
                        </m:r>
                        <m:sSub>
                          <m:sSubPr>
                            <m:ctrlPr>
                              <a:rPr lang="en-US" altLang="zh-CN" sz="16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bPr>
                          <m:e>
                            <m:r>
                              <a:rPr lang="en-US" altLang="zh-CN" sz="16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altLang="zh-CN" sz="16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ℳ</m:t>
                            </m:r>
                          </m:sub>
                        </m:sSub>
                        <m:r>
                          <a:rPr lang="en-US" altLang="zh-CN" sz="16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  <m:r>
                          <a:rPr lang="en-US" altLang="zh-CN" sz="16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𝑣</m:t>
                        </m:r>
                      </m:oMath>
                    </m:oMathPara>
                  </a14:m>
                  <a:endParaRPr lang="en-US" altLang="zh-CN" sz="1600" i="1"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30" name="文本框 2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5" y="4776"/>
                  <a:ext cx="2297" cy="531"/>
                </a:xfrm>
                <a:prstGeom prst="rect">
                  <a:avLst/>
                </a:prstGeom>
                <a:blipFill rotWithShape="1">
                  <a:blip r:embed="rId2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1" name="文本框 30"/>
                <p:cNvSpPr txBox="1"/>
                <p:nvPr/>
              </p:nvSpPr>
              <p:spPr>
                <a:xfrm>
                  <a:off x="8693" y="3472"/>
                  <a:ext cx="468" cy="531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spAutoFit/>
                </a:bodyPr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6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𝑣</m:t>
                        </m:r>
                      </m:oMath>
                    </m:oMathPara>
                  </a14:m>
                  <a:endParaRPr lang="en-US" altLang="zh-CN" sz="1600" i="1"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31" name="文本框 3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93" y="3472"/>
                  <a:ext cx="468" cy="531"/>
                </a:xfrm>
                <a:prstGeom prst="rect">
                  <a:avLst/>
                </a:prstGeom>
                <a:blipFill rotWithShape="1">
                  <a:blip r:embed="rId3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2" name="文本框 31"/>
                <p:cNvSpPr txBox="1"/>
                <p:nvPr/>
              </p:nvSpPr>
              <p:spPr>
                <a:xfrm>
                  <a:off x="6992" y="2282"/>
                  <a:ext cx="1179" cy="596"/>
                </a:xfrm>
                <a:prstGeom prst="rect">
                  <a:avLst/>
                </a:prstGeom>
                <a:noFill/>
              </p:spPr>
              <p:txBody>
                <a:bodyPr wrap="none" rtlCol="0" anchor="t">
                  <a:spAutoFit/>
                </a:bodyPr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ℳ</m:t>
                            </m:r>
                          </m:e>
                          <m:sup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⊥</m:t>
                            </m:r>
                          </m:sup>
                        </m:sSup>
                      </m:oMath>
                    </m:oMathPara>
                  </a14:m>
                  <a:endParaRPr lang="zh-CN" altLang="en-US"/>
                </a:p>
              </p:txBody>
            </p:sp>
          </mc:Choice>
          <mc:Fallback>
            <p:sp>
              <p:nvSpPr>
                <p:cNvPr id="32" name="文本框 3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92" y="2282"/>
                  <a:ext cx="1179" cy="596"/>
                </a:xfrm>
                <a:prstGeom prst="rect">
                  <a:avLst/>
                </a:prstGeom>
                <a:blipFill rotWithShape="1">
                  <a:blip r:embed="rId4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3" name="文本框 32"/>
                <p:cNvSpPr txBox="1"/>
                <p:nvPr/>
              </p:nvSpPr>
              <p:spPr>
                <a:xfrm>
                  <a:off x="5575" y="6931"/>
                  <a:ext cx="642" cy="580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spAutoFit/>
                </a:bodyPr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ℳ</m:t>
                        </m:r>
                      </m:oMath>
                    </m:oMathPara>
                  </a14:m>
                  <a:endParaRPr lang="en-US" altLang="zh-CN" i="1"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33" name="文本框 3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75" y="6931"/>
                  <a:ext cx="642" cy="580"/>
                </a:xfrm>
                <a:prstGeom prst="rect">
                  <a:avLst/>
                </a:prstGeom>
                <a:blipFill rotWithShape="1">
                  <a:blip r:embed="rId5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表格 5"/>
              <p:cNvGraphicFramePr/>
              <p:nvPr/>
            </p:nvGraphicFramePr>
            <p:xfrm>
              <a:off x="4079875" y="1953260"/>
              <a:ext cx="2879725" cy="2879725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720000"/>
                    <a:gridCol w="720090"/>
                    <a:gridCol w="719910"/>
                    <a:gridCol w="719455"/>
                  </a:tblGrid>
                  <a:tr h="720000">
                    <a:tc>
                      <a:txBody>
                        <a:bodyPr/>
                        <a:p>
                          <a:pPr algn="ctr">
                            <a:buNone/>
                          </a:pPr>
                          <a:endParaRPr lang="en-US" altLang="zh-CN"/>
                        </a:p>
                      </a:txBody>
                      <a:tcPr anchor="ctr" anchorCtr="0">
                        <a:lnL w="19050">
                          <a:solidFill>
                            <a:schemeClr val="bg1"/>
                          </a:solidFill>
                          <a:prstDash val="solid"/>
                        </a:lnL>
                        <a:lnR w="19050">
                          <a:solidFill>
                            <a:schemeClr val="bg1"/>
                          </a:solidFill>
                          <a:prstDash val="solid"/>
                        </a:lnR>
                        <a:lnT w="19050">
                          <a:solidFill>
                            <a:schemeClr val="bg1"/>
                          </a:solidFill>
                          <a:prstDash val="solid"/>
                        </a:lnT>
                        <a:lnB w="19050">
                          <a:solidFill>
                            <a:schemeClr val="bg1"/>
                          </a:solidFill>
                          <a:prstDash val="solid"/>
                        </a:lnB>
                      </a:tcPr>
                    </a:tc>
                    <a:tc>
                      <a:txBody>
                        <a:bodyPr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2400" b="1">
                                    <a:solidFill>
                                      <a:schemeClr val="bg1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𝐂</m:t>
                                </m:r>
                              </m:oMath>
                            </m:oMathPara>
                          </a14:m>
                          <a:endParaRPr lang="en-US" altLang="zh-CN" sz="2400" b="1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 anchorCtr="0">
                        <a:lnL w="19050">
                          <a:solidFill>
                            <a:schemeClr val="bg1"/>
                          </a:solidFill>
                          <a:prstDash val="solid"/>
                        </a:lnL>
                        <a:lnR w="19050">
                          <a:solidFill>
                            <a:schemeClr val="bg1"/>
                          </a:solidFill>
                          <a:prstDash val="solid"/>
                        </a:lnR>
                        <a:lnT w="19050">
                          <a:solidFill>
                            <a:schemeClr val="bg1"/>
                          </a:solidFill>
                          <a:prstDash val="solid"/>
                        </a:lnT>
                        <a:lnB w="19050">
                          <a:solidFill>
                            <a:schemeClr val="bg1"/>
                          </a:solidFill>
                          <a:prstDash val="solid"/>
                        </a:lnB>
                        <a:solidFill>
                          <a:srgbClr val="7030A0"/>
                        </a:solidFill>
                      </a:tcPr>
                    </a:tc>
                    <a:tc>
                      <a:txBody>
                        <a:bodyPr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2400" b="1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2400" b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𝐤</m:t>
                                    </m:r>
                                    <m:r>
                                      <a:rPr lang="en-US" altLang="zh-CN" sz="2400" b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𝐟</m:t>
                                    </m:r>
                                  </m:e>
                                  <m:sub>
                                    <m:r>
                                      <a:rPr lang="en-US" altLang="zh-CN" sz="2400" b="1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𝒕𝒉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altLang="zh-CN" sz="2400" b="1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 anchorCtr="0">
                        <a:lnL w="19050">
                          <a:solidFill>
                            <a:schemeClr val="bg1"/>
                          </a:solidFill>
                          <a:prstDash val="solid"/>
                        </a:lnL>
                        <a:lnR w="19050">
                          <a:solidFill>
                            <a:schemeClr val="bg1"/>
                          </a:solidFill>
                          <a:prstDash val="solid"/>
                        </a:lnR>
                        <a:lnT w="19050">
                          <a:solidFill>
                            <a:schemeClr val="bg1"/>
                          </a:solidFill>
                          <a:prstDash val="solid"/>
                        </a:lnT>
                        <a:lnB w="19050">
                          <a:solidFill>
                            <a:schemeClr val="bg1"/>
                          </a:solidFill>
                          <a:prstDash val="solid"/>
                        </a:lnB>
                        <a:solidFill>
                          <a:srgbClr val="7030A0"/>
                        </a:solidFill>
                      </a:tcPr>
                    </a:tc>
                    <a:tc>
                      <a:txBody>
                        <a:bodyPr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2400" b="1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2400" b="1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US" altLang="zh-CN" sz="2400" b="1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𝒑𝒊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altLang="zh-CN" sz="2400" b="1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 anchorCtr="0">
                        <a:lnL w="19050">
                          <a:solidFill>
                            <a:schemeClr val="bg1"/>
                          </a:solidFill>
                          <a:prstDash val="solid"/>
                        </a:lnL>
                        <a:lnR w="19050">
                          <a:solidFill>
                            <a:schemeClr val="bg1"/>
                          </a:solidFill>
                          <a:prstDash val="solid"/>
                        </a:lnR>
                        <a:lnT w="19050">
                          <a:solidFill>
                            <a:schemeClr val="bg1"/>
                          </a:solidFill>
                          <a:prstDash val="solid"/>
                        </a:lnT>
                        <a:lnB w="19050">
                          <a:solidFill>
                            <a:schemeClr val="bg1"/>
                          </a:solidFill>
                          <a:prstDash val="solid"/>
                        </a:lnB>
                        <a:solidFill>
                          <a:srgbClr val="7030A0"/>
                        </a:solidFill>
                      </a:tcPr>
                    </a:tc>
                  </a:tr>
                  <a:tr h="720000">
                    <a:tc>
                      <a:txBody>
                        <a:bodyPr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2400" b="1">
                                    <a:solidFill>
                                      <a:schemeClr val="bg1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𝐂</m:t>
                                </m:r>
                              </m:oMath>
                            </m:oMathPara>
                          </a14:m>
                          <a:endParaRPr lang="en-US" altLang="zh-CN" sz="2400" b="1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 anchorCtr="0">
                        <a:lnL w="19050">
                          <a:solidFill>
                            <a:schemeClr val="bg1"/>
                          </a:solidFill>
                          <a:prstDash val="solid"/>
                        </a:lnL>
                        <a:lnR w="19050">
                          <a:solidFill>
                            <a:schemeClr val="bg1"/>
                          </a:solidFill>
                          <a:prstDash val="solid"/>
                        </a:lnR>
                        <a:lnT w="19050">
                          <a:solidFill>
                            <a:schemeClr val="bg1"/>
                          </a:solidFill>
                          <a:prstDash val="solid"/>
                        </a:lnT>
                        <a:lnB w="19050">
                          <a:solidFill>
                            <a:schemeClr val="bg1"/>
                          </a:solidFill>
                          <a:prstDash val="solid"/>
                        </a:lnB>
                        <a:solidFill>
                          <a:srgbClr val="7030A0"/>
                        </a:solidFill>
                      </a:tcPr>
                    </a:tc>
                    <a:tc>
                      <a:txBody>
                        <a:bodyPr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2000" b="1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2000" b="1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𝑯</m:t>
                                    </m:r>
                                  </m:e>
                                  <m:sub>
                                    <m:r>
                                      <a:rPr lang="en-US" altLang="zh-CN" sz="2000" b="1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𝒄𝒄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altLang="zh-CN" sz="2000" b="1" i="1">
                            <a:solidFill>
                              <a:schemeClr val="bg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endParaRPr>
                        </a:p>
                      </a:txBody>
                      <a:tcPr anchor="ctr" anchorCtr="0">
                        <a:lnL w="19050">
                          <a:solidFill>
                            <a:schemeClr val="bg1"/>
                          </a:solidFill>
                          <a:prstDash val="solid"/>
                        </a:lnL>
                        <a:lnR w="19050">
                          <a:solidFill>
                            <a:schemeClr val="bg1"/>
                          </a:solidFill>
                          <a:prstDash val="solid"/>
                        </a:lnR>
                        <a:lnT w="19050">
                          <a:solidFill>
                            <a:schemeClr val="bg1"/>
                          </a:solidFill>
                          <a:prstDash val="solid"/>
                        </a:lnT>
                        <a:lnB w="19050">
                          <a:solidFill>
                            <a:schemeClr val="bg1"/>
                          </a:solidFill>
                          <a:prstDash val="solid"/>
                        </a:lnB>
                        <a:solidFill>
                          <a:schemeClr val="bg1">
                            <a:lumMod val="50000"/>
                          </a:schemeClr>
                        </a:solidFill>
                      </a:tcPr>
                    </a:tc>
                    <a:tc>
                      <a:txBody>
                        <a:bodyPr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2000" b="1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2000" b="1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𝑯</m:t>
                                    </m:r>
                                  </m:e>
                                  <m:sub>
                                    <m:r>
                                      <a:rPr lang="en-US" altLang="zh-CN" sz="2000" b="1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𝒄𝒇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altLang="zh-CN" sz="2000" b="1" i="1">
                            <a:solidFill>
                              <a:schemeClr val="bg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endParaRPr>
                        </a:p>
                      </a:txBody>
                      <a:tcPr anchor="ctr" anchorCtr="0">
                        <a:lnL w="19050">
                          <a:solidFill>
                            <a:schemeClr val="bg1"/>
                          </a:solidFill>
                          <a:prstDash val="solid"/>
                        </a:lnL>
                        <a:lnR w="19050">
                          <a:solidFill>
                            <a:schemeClr val="bg1"/>
                          </a:solidFill>
                          <a:prstDash val="solid"/>
                        </a:lnR>
                        <a:lnT w="19050">
                          <a:solidFill>
                            <a:schemeClr val="bg1"/>
                          </a:solidFill>
                          <a:prstDash val="solid"/>
                        </a:lnT>
                        <a:lnB w="19050">
                          <a:solidFill>
                            <a:schemeClr val="bg1"/>
                          </a:solidFill>
                          <a:prstDash val="solid"/>
                        </a:lnB>
                        <a:solidFill>
                          <a:schemeClr val="bg1">
                            <a:lumMod val="50000"/>
                          </a:schemeClr>
                        </a:solidFill>
                      </a:tcPr>
                    </a:tc>
                    <a:tc>
                      <a:txBody>
                        <a:bodyPr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2000" b="1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2000" b="1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𝑯</m:t>
                                    </m:r>
                                  </m:e>
                                  <m:sub>
                                    <m:r>
                                      <a:rPr lang="en-US" altLang="zh-CN" sz="2000" b="1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𝒄𝒅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altLang="zh-CN" sz="2000" b="1" i="1">
                            <a:solidFill>
                              <a:schemeClr val="bg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endParaRPr>
                        </a:p>
                      </a:txBody>
                      <a:tcPr anchor="ctr" anchorCtr="0">
                        <a:lnL w="19050">
                          <a:solidFill>
                            <a:schemeClr val="bg1"/>
                          </a:solidFill>
                          <a:prstDash val="solid"/>
                        </a:lnL>
                        <a:lnR w="19050">
                          <a:solidFill>
                            <a:schemeClr val="bg1"/>
                          </a:solidFill>
                          <a:prstDash val="solid"/>
                        </a:lnR>
                        <a:lnT w="19050">
                          <a:solidFill>
                            <a:schemeClr val="bg1"/>
                          </a:solidFill>
                          <a:prstDash val="solid"/>
                        </a:lnT>
                        <a:lnB w="19050">
                          <a:solidFill>
                            <a:schemeClr val="bg1"/>
                          </a:solidFill>
                          <a:prstDash val="solid"/>
                        </a:lnB>
                        <a:solidFill>
                          <a:schemeClr val="bg1">
                            <a:lumMod val="50000"/>
                          </a:schemeClr>
                        </a:solidFill>
                      </a:tcPr>
                    </a:tc>
                  </a:tr>
                  <a:tr h="720000">
                    <a:tc>
                      <a:txBody>
                        <a:bodyPr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2400" b="1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2400" b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𝐤𝐟</m:t>
                                    </m:r>
                                  </m:e>
                                  <m:sub>
                                    <m:r>
                                      <a:rPr lang="en-US" altLang="zh-CN" sz="2400" b="1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𝒕𝒉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altLang="zh-CN" sz="2400" b="1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 anchorCtr="0">
                        <a:lnL w="19050">
                          <a:solidFill>
                            <a:schemeClr val="bg1"/>
                          </a:solidFill>
                          <a:prstDash val="solid"/>
                        </a:lnL>
                        <a:lnR w="19050">
                          <a:solidFill>
                            <a:schemeClr val="bg1"/>
                          </a:solidFill>
                          <a:prstDash val="solid"/>
                        </a:lnR>
                        <a:lnT w="19050">
                          <a:solidFill>
                            <a:schemeClr val="bg1"/>
                          </a:solidFill>
                          <a:prstDash val="solid"/>
                        </a:lnT>
                        <a:lnB w="19050">
                          <a:solidFill>
                            <a:schemeClr val="bg1"/>
                          </a:solidFill>
                          <a:prstDash val="solid"/>
                        </a:lnB>
                        <a:solidFill>
                          <a:srgbClr val="7030A0"/>
                        </a:solidFill>
                      </a:tcPr>
                    </a:tc>
                    <a:tc>
                      <a:txBody>
                        <a:bodyPr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b="1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1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𝑯</m:t>
                                    </m:r>
                                  </m:e>
                                  <m:sub>
                                    <m:r>
                                      <a:rPr lang="en-US" altLang="zh-CN" b="1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𝒇𝒄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altLang="zh-CN" b="1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 anchorCtr="0">
                        <a:lnL w="19050">
                          <a:solidFill>
                            <a:schemeClr val="bg1"/>
                          </a:solidFill>
                          <a:prstDash val="solid"/>
                        </a:lnL>
                        <a:lnR w="19050">
                          <a:solidFill>
                            <a:schemeClr val="bg1"/>
                          </a:solidFill>
                          <a:prstDash val="solid"/>
                        </a:lnR>
                        <a:lnT w="19050">
                          <a:solidFill>
                            <a:schemeClr val="bg1"/>
                          </a:solidFill>
                          <a:prstDash val="solid"/>
                        </a:lnT>
                        <a:lnB w="19050">
                          <a:solidFill>
                            <a:schemeClr val="bg1"/>
                          </a:solidFill>
                          <a:prstDash val="solid"/>
                        </a:lnB>
                        <a:solidFill>
                          <a:schemeClr val="bg1">
                            <a:lumMod val="50000"/>
                          </a:schemeClr>
                        </a:solidFill>
                      </a:tcPr>
                    </a:tc>
                    <a:tc>
                      <a:txBody>
                        <a:bodyPr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b="1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𝑯</m:t>
                                    </m:r>
                                  </m:e>
                                  <m:sub>
                                    <m:r>
                                      <a:rPr lang="en-US" altLang="zh-CN" sz="1800" b="1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𝒇𝒇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altLang="zh-CN" b="1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 anchorCtr="0">
                        <a:lnL w="19050">
                          <a:solidFill>
                            <a:schemeClr val="bg1"/>
                          </a:solidFill>
                          <a:prstDash val="solid"/>
                        </a:lnL>
                        <a:lnR w="19050">
                          <a:solidFill>
                            <a:schemeClr val="bg1"/>
                          </a:solidFill>
                          <a:prstDash val="solid"/>
                        </a:lnR>
                        <a:lnT w="19050">
                          <a:solidFill>
                            <a:schemeClr val="bg1"/>
                          </a:solidFill>
                          <a:prstDash val="solid"/>
                        </a:lnT>
                        <a:lnB w="19050">
                          <a:solidFill>
                            <a:schemeClr val="bg1"/>
                          </a:solidFill>
                          <a:prstDash val="solid"/>
                        </a:lnB>
                        <a:solidFill>
                          <a:schemeClr val="bg1">
                            <a:lumMod val="50000"/>
                          </a:schemeClr>
                        </a:solidFill>
                      </a:tcPr>
                    </a:tc>
                    <a:tc>
                      <a:txBody>
                        <a:bodyPr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b="1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𝑯</m:t>
                                    </m:r>
                                  </m:e>
                                  <m:sub>
                                    <m:r>
                                      <a:rPr lang="en-US" altLang="zh-CN" sz="1800" b="1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𝒇𝒅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altLang="zh-CN" b="1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 anchorCtr="0">
                        <a:lnL w="19050">
                          <a:solidFill>
                            <a:schemeClr val="bg1"/>
                          </a:solidFill>
                          <a:prstDash val="solid"/>
                        </a:lnL>
                        <a:lnR w="19050">
                          <a:solidFill>
                            <a:schemeClr val="bg1"/>
                          </a:solidFill>
                          <a:prstDash val="solid"/>
                        </a:lnR>
                        <a:lnT w="19050">
                          <a:solidFill>
                            <a:schemeClr val="bg1"/>
                          </a:solidFill>
                          <a:prstDash val="solid"/>
                        </a:lnT>
                        <a:lnB w="19050">
                          <a:solidFill>
                            <a:schemeClr val="bg1"/>
                          </a:solidFill>
                          <a:prstDash val="solid"/>
                        </a:lnB>
                        <a:solidFill>
                          <a:schemeClr val="bg1">
                            <a:lumMod val="50000"/>
                          </a:schemeClr>
                        </a:solidFill>
                      </a:tcPr>
                    </a:tc>
                  </a:tr>
                  <a:tr h="720000">
                    <a:tc>
                      <a:txBody>
                        <a:bodyPr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2400" b="1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2400" b="1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US" altLang="zh-CN" sz="2400" b="1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𝒑𝒊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altLang="zh-CN" sz="2400" b="1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 anchorCtr="0">
                        <a:lnL w="19050">
                          <a:solidFill>
                            <a:schemeClr val="bg1"/>
                          </a:solidFill>
                          <a:prstDash val="solid"/>
                        </a:lnL>
                        <a:lnR w="19050">
                          <a:solidFill>
                            <a:schemeClr val="bg1"/>
                          </a:solidFill>
                          <a:prstDash val="solid"/>
                        </a:lnR>
                        <a:lnT w="19050">
                          <a:solidFill>
                            <a:schemeClr val="bg1"/>
                          </a:solidFill>
                          <a:prstDash val="solid"/>
                        </a:lnT>
                        <a:lnB w="19050">
                          <a:solidFill>
                            <a:schemeClr val="bg1"/>
                          </a:solidFill>
                          <a:prstDash val="solid"/>
                        </a:lnB>
                        <a:solidFill>
                          <a:srgbClr val="7030A0"/>
                        </a:solidFill>
                      </a:tcPr>
                    </a:tc>
                    <a:tc>
                      <a:txBody>
                        <a:bodyPr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2000" b="1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2000" b="1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𝑯</m:t>
                                    </m:r>
                                  </m:e>
                                  <m:sub>
                                    <m:r>
                                      <a:rPr lang="en-US" altLang="zh-CN" sz="2000" b="1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𝒅𝒄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altLang="zh-CN" sz="2000" b="1" i="1">
                            <a:solidFill>
                              <a:schemeClr val="bg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endParaRPr>
                        </a:p>
                      </a:txBody>
                      <a:tcPr anchor="ctr" anchorCtr="0">
                        <a:lnL w="19050">
                          <a:solidFill>
                            <a:schemeClr val="bg1"/>
                          </a:solidFill>
                          <a:prstDash val="solid"/>
                        </a:lnL>
                        <a:lnR w="19050">
                          <a:solidFill>
                            <a:schemeClr val="bg1"/>
                          </a:solidFill>
                          <a:prstDash val="solid"/>
                        </a:lnR>
                        <a:lnT w="19050">
                          <a:solidFill>
                            <a:schemeClr val="bg1"/>
                          </a:solidFill>
                          <a:prstDash val="solid"/>
                        </a:lnT>
                        <a:lnB w="19050">
                          <a:solidFill>
                            <a:schemeClr val="bg1"/>
                          </a:solidFill>
                          <a:prstDash val="solid"/>
                        </a:lnB>
                        <a:solidFill>
                          <a:schemeClr val="bg1">
                            <a:lumMod val="50000"/>
                          </a:schemeClr>
                        </a:solidFill>
                      </a:tcPr>
                    </a:tc>
                    <a:tc>
                      <a:txBody>
                        <a:bodyPr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b="1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𝑯</m:t>
                                    </m:r>
                                  </m:e>
                                  <m:sub>
                                    <m:r>
                                      <a:rPr lang="en-US" altLang="zh-CN" sz="1800" b="1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𝒅𝒇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altLang="zh-CN" b="1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 anchorCtr="0">
                        <a:lnL w="19050">
                          <a:solidFill>
                            <a:schemeClr val="bg1"/>
                          </a:solidFill>
                          <a:prstDash val="solid"/>
                        </a:lnL>
                        <a:lnR w="19050">
                          <a:solidFill>
                            <a:schemeClr val="bg1"/>
                          </a:solidFill>
                          <a:prstDash val="solid"/>
                        </a:lnR>
                        <a:lnT w="19050">
                          <a:solidFill>
                            <a:schemeClr val="bg1"/>
                          </a:solidFill>
                          <a:prstDash val="solid"/>
                        </a:lnT>
                        <a:lnB w="19050">
                          <a:solidFill>
                            <a:schemeClr val="bg1"/>
                          </a:solidFill>
                          <a:prstDash val="solid"/>
                        </a:lnB>
                        <a:solidFill>
                          <a:schemeClr val="bg1">
                            <a:lumMod val="50000"/>
                          </a:schemeClr>
                        </a:solidFill>
                      </a:tcPr>
                    </a:tc>
                    <a:tc>
                      <a:txBody>
                        <a:bodyPr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800" b="1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800" b="1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𝑯</m:t>
                                    </m:r>
                                  </m:e>
                                  <m:sub>
                                    <m:r>
                                      <a:rPr lang="en-US" altLang="zh-CN" sz="1800" b="1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𝒅</m:t>
                                    </m:r>
                                    <m:r>
                                      <a:rPr lang="en-US" altLang="zh-CN" sz="1800" b="1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𝒅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altLang="zh-CN" b="1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 anchorCtr="0">
                        <a:lnL w="19050">
                          <a:solidFill>
                            <a:schemeClr val="bg1"/>
                          </a:solidFill>
                          <a:prstDash val="solid"/>
                        </a:lnL>
                        <a:lnR w="19050">
                          <a:solidFill>
                            <a:schemeClr val="bg1"/>
                          </a:solidFill>
                          <a:prstDash val="solid"/>
                        </a:lnR>
                        <a:lnT w="19050">
                          <a:solidFill>
                            <a:schemeClr val="bg1"/>
                          </a:solidFill>
                          <a:prstDash val="solid"/>
                        </a:lnT>
                        <a:lnB w="19050">
                          <a:solidFill>
                            <a:schemeClr val="bg1"/>
                          </a:solidFill>
                          <a:prstDash val="solid"/>
                        </a:lnB>
                        <a:solidFill>
                          <a:schemeClr val="bg1">
                            <a:lumMod val="50000"/>
                          </a:schemeClr>
                        </a:solidFill>
                      </a:tcPr>
                    </a:tc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表格 5"/>
              <p:cNvGraphicFramePr/>
              <p:nvPr/>
            </p:nvGraphicFramePr>
            <p:xfrm>
              <a:off x="4079875" y="1953260"/>
              <a:ext cx="2879725" cy="2879725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720000"/>
                    <a:gridCol w="720090"/>
                    <a:gridCol w="719910"/>
                    <a:gridCol w="719455"/>
                  </a:tblGrid>
                  <a:tr h="720090">
                    <a:tc>
                      <a:txBody>
                        <a:bodyPr/>
                        <a:p>
                          <a:pPr algn="ctr">
                            <a:buNone/>
                          </a:pPr>
                          <a:endParaRPr lang="en-US" altLang="zh-CN"/>
                        </a:p>
                      </a:txBody>
                      <a:tcPr anchor="ctr" anchorCtr="0">
                        <a:lnL w="19050">
                          <a:solidFill>
                            <a:schemeClr val="bg1"/>
                          </a:solidFill>
                          <a:prstDash val="solid"/>
                        </a:lnL>
                        <a:lnR w="19050">
                          <a:solidFill>
                            <a:schemeClr val="bg1"/>
                          </a:solidFill>
                          <a:prstDash val="solid"/>
                        </a:lnR>
                        <a:lnT w="19050">
                          <a:solidFill>
                            <a:schemeClr val="bg1"/>
                          </a:solidFill>
                          <a:prstDash val="solid"/>
                        </a:lnT>
                        <a:lnB w="19050">
                          <a:solidFill>
                            <a:schemeClr val="bg1"/>
                          </a:solidFill>
                          <a:prstDash val="soli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 anchorCtr="0">
                        <a:lnL w="19050">
                          <a:solidFill>
                            <a:schemeClr val="bg1"/>
                          </a:solidFill>
                          <a:prstDash val="solid"/>
                        </a:lnL>
                        <a:lnR w="19050">
                          <a:solidFill>
                            <a:schemeClr val="bg1"/>
                          </a:solidFill>
                          <a:prstDash val="solid"/>
                        </a:lnR>
                        <a:lnT w="19050">
                          <a:solidFill>
                            <a:schemeClr val="bg1"/>
                          </a:solidFill>
                          <a:prstDash val="solid"/>
                        </a:lnT>
                        <a:lnB w="19050">
                          <a:solidFill>
                            <a:schemeClr val="bg1"/>
                          </a:solidFill>
                          <a:prstDash val="solid"/>
                        </a:lnB>
                        <a:blipFill>
                          <a:blip r:embed="rId1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 anchorCtr="0">
                        <a:lnL w="19050">
                          <a:solidFill>
                            <a:schemeClr val="bg1"/>
                          </a:solidFill>
                          <a:prstDash val="solid"/>
                        </a:lnL>
                        <a:lnR w="19050">
                          <a:solidFill>
                            <a:schemeClr val="bg1"/>
                          </a:solidFill>
                          <a:prstDash val="solid"/>
                        </a:lnR>
                        <a:lnT w="19050">
                          <a:solidFill>
                            <a:schemeClr val="bg1"/>
                          </a:solidFill>
                          <a:prstDash val="solid"/>
                        </a:lnT>
                        <a:lnB w="19050">
                          <a:solidFill>
                            <a:schemeClr val="bg1"/>
                          </a:solidFill>
                          <a:prstDash val="solid"/>
                        </a:lnB>
                        <a:blipFill>
                          <a:blip r:embed="rId1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 anchorCtr="0">
                        <a:lnL w="19050">
                          <a:solidFill>
                            <a:schemeClr val="bg1"/>
                          </a:solidFill>
                          <a:prstDash val="solid"/>
                        </a:lnL>
                        <a:lnR w="19050">
                          <a:solidFill>
                            <a:schemeClr val="bg1"/>
                          </a:solidFill>
                          <a:prstDash val="solid"/>
                        </a:lnR>
                        <a:lnT w="19050">
                          <a:solidFill>
                            <a:schemeClr val="bg1"/>
                          </a:solidFill>
                          <a:prstDash val="solid"/>
                        </a:lnT>
                        <a:lnB w="19050">
                          <a:solidFill>
                            <a:schemeClr val="bg1"/>
                          </a:solidFill>
                          <a:prstDash val="solid"/>
                        </a:lnB>
                        <a:blipFill>
                          <a:blip r:embed="rId1"/>
                        </a:blipFill>
                      </a:tcPr>
                    </a:tc>
                  </a:tr>
                  <a:tr h="72009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 anchorCtr="0">
                        <a:lnL w="19050">
                          <a:solidFill>
                            <a:schemeClr val="bg1"/>
                          </a:solidFill>
                          <a:prstDash val="solid"/>
                        </a:lnL>
                        <a:lnR w="19050">
                          <a:solidFill>
                            <a:schemeClr val="bg1"/>
                          </a:solidFill>
                          <a:prstDash val="solid"/>
                        </a:lnR>
                        <a:lnT w="19050">
                          <a:solidFill>
                            <a:schemeClr val="bg1"/>
                          </a:solidFill>
                          <a:prstDash val="solid"/>
                        </a:lnT>
                        <a:lnB w="19050">
                          <a:solidFill>
                            <a:schemeClr val="bg1"/>
                          </a:solidFill>
                          <a:prstDash val="solid"/>
                        </a:lnB>
                        <a:blipFill>
                          <a:blip r:embed="rId1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 anchorCtr="0">
                        <a:lnL w="19050">
                          <a:solidFill>
                            <a:schemeClr val="bg1"/>
                          </a:solidFill>
                          <a:prstDash val="solid"/>
                        </a:lnL>
                        <a:lnR w="19050">
                          <a:solidFill>
                            <a:schemeClr val="bg1"/>
                          </a:solidFill>
                          <a:prstDash val="solid"/>
                        </a:lnR>
                        <a:lnT w="19050">
                          <a:solidFill>
                            <a:schemeClr val="bg1"/>
                          </a:solidFill>
                          <a:prstDash val="solid"/>
                        </a:lnT>
                        <a:lnB w="19050">
                          <a:solidFill>
                            <a:schemeClr val="bg1"/>
                          </a:solidFill>
                          <a:prstDash val="solid"/>
                        </a:lnB>
                        <a:blipFill>
                          <a:blip r:embed="rId1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 anchorCtr="0">
                        <a:lnL w="19050">
                          <a:solidFill>
                            <a:schemeClr val="bg1"/>
                          </a:solidFill>
                          <a:prstDash val="solid"/>
                        </a:lnL>
                        <a:lnR w="19050">
                          <a:solidFill>
                            <a:schemeClr val="bg1"/>
                          </a:solidFill>
                          <a:prstDash val="solid"/>
                        </a:lnR>
                        <a:lnT w="19050">
                          <a:solidFill>
                            <a:schemeClr val="bg1"/>
                          </a:solidFill>
                          <a:prstDash val="solid"/>
                        </a:lnT>
                        <a:lnB w="19050">
                          <a:solidFill>
                            <a:schemeClr val="bg1"/>
                          </a:solidFill>
                          <a:prstDash val="solid"/>
                        </a:lnB>
                        <a:blipFill>
                          <a:blip r:embed="rId1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 anchorCtr="0">
                        <a:lnL w="19050">
                          <a:solidFill>
                            <a:schemeClr val="bg1"/>
                          </a:solidFill>
                          <a:prstDash val="solid"/>
                        </a:lnL>
                        <a:lnR w="19050">
                          <a:solidFill>
                            <a:schemeClr val="bg1"/>
                          </a:solidFill>
                          <a:prstDash val="solid"/>
                        </a:lnR>
                        <a:lnT w="19050">
                          <a:solidFill>
                            <a:schemeClr val="bg1"/>
                          </a:solidFill>
                          <a:prstDash val="solid"/>
                        </a:lnT>
                        <a:lnB w="19050">
                          <a:solidFill>
                            <a:schemeClr val="bg1"/>
                          </a:solidFill>
                          <a:prstDash val="solid"/>
                        </a:lnB>
                        <a:blipFill>
                          <a:blip r:embed="rId1"/>
                        </a:blipFill>
                      </a:tcPr>
                    </a:tc>
                  </a:tr>
                  <a:tr h="72009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 anchorCtr="0">
                        <a:lnL w="19050">
                          <a:solidFill>
                            <a:schemeClr val="bg1"/>
                          </a:solidFill>
                          <a:prstDash val="solid"/>
                        </a:lnL>
                        <a:lnR w="19050">
                          <a:solidFill>
                            <a:schemeClr val="bg1"/>
                          </a:solidFill>
                          <a:prstDash val="solid"/>
                        </a:lnR>
                        <a:lnT w="19050">
                          <a:solidFill>
                            <a:schemeClr val="bg1"/>
                          </a:solidFill>
                          <a:prstDash val="solid"/>
                        </a:lnT>
                        <a:lnB w="19050">
                          <a:solidFill>
                            <a:schemeClr val="bg1"/>
                          </a:solidFill>
                          <a:prstDash val="solid"/>
                        </a:lnB>
                        <a:blipFill>
                          <a:blip r:embed="rId1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 anchorCtr="0">
                        <a:lnL w="19050">
                          <a:solidFill>
                            <a:schemeClr val="bg1"/>
                          </a:solidFill>
                          <a:prstDash val="solid"/>
                        </a:lnL>
                        <a:lnR w="19050">
                          <a:solidFill>
                            <a:schemeClr val="bg1"/>
                          </a:solidFill>
                          <a:prstDash val="solid"/>
                        </a:lnR>
                        <a:lnT w="19050">
                          <a:solidFill>
                            <a:schemeClr val="bg1"/>
                          </a:solidFill>
                          <a:prstDash val="solid"/>
                        </a:lnT>
                        <a:lnB w="19050">
                          <a:solidFill>
                            <a:schemeClr val="bg1"/>
                          </a:solidFill>
                          <a:prstDash val="solid"/>
                        </a:lnB>
                        <a:blipFill>
                          <a:blip r:embed="rId1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 anchorCtr="0">
                        <a:lnL w="19050">
                          <a:solidFill>
                            <a:schemeClr val="bg1"/>
                          </a:solidFill>
                          <a:prstDash val="solid"/>
                        </a:lnL>
                        <a:lnR w="19050">
                          <a:solidFill>
                            <a:schemeClr val="bg1"/>
                          </a:solidFill>
                          <a:prstDash val="solid"/>
                        </a:lnR>
                        <a:lnT w="19050">
                          <a:solidFill>
                            <a:schemeClr val="bg1"/>
                          </a:solidFill>
                          <a:prstDash val="solid"/>
                        </a:lnT>
                        <a:lnB w="19050">
                          <a:solidFill>
                            <a:schemeClr val="bg1"/>
                          </a:solidFill>
                          <a:prstDash val="solid"/>
                        </a:lnB>
                        <a:blipFill>
                          <a:blip r:embed="rId1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 anchorCtr="0">
                        <a:lnL w="19050">
                          <a:solidFill>
                            <a:schemeClr val="bg1"/>
                          </a:solidFill>
                          <a:prstDash val="solid"/>
                        </a:lnL>
                        <a:lnR w="19050">
                          <a:solidFill>
                            <a:schemeClr val="bg1"/>
                          </a:solidFill>
                          <a:prstDash val="solid"/>
                        </a:lnR>
                        <a:lnT w="19050">
                          <a:solidFill>
                            <a:schemeClr val="bg1"/>
                          </a:solidFill>
                          <a:prstDash val="solid"/>
                        </a:lnT>
                        <a:lnB w="19050">
                          <a:solidFill>
                            <a:schemeClr val="bg1"/>
                          </a:solidFill>
                          <a:prstDash val="solid"/>
                        </a:lnB>
                        <a:blipFill>
                          <a:blip r:embed="rId1"/>
                        </a:blipFill>
                      </a:tcPr>
                    </a:tc>
                  </a:tr>
                  <a:tr h="71945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 anchorCtr="0">
                        <a:lnL w="19050">
                          <a:solidFill>
                            <a:schemeClr val="bg1"/>
                          </a:solidFill>
                          <a:prstDash val="solid"/>
                        </a:lnL>
                        <a:lnR w="19050">
                          <a:solidFill>
                            <a:schemeClr val="bg1"/>
                          </a:solidFill>
                          <a:prstDash val="solid"/>
                        </a:lnR>
                        <a:lnT w="19050">
                          <a:solidFill>
                            <a:schemeClr val="bg1"/>
                          </a:solidFill>
                          <a:prstDash val="solid"/>
                        </a:lnT>
                        <a:lnB w="19050">
                          <a:solidFill>
                            <a:schemeClr val="bg1"/>
                          </a:solidFill>
                          <a:prstDash val="solid"/>
                        </a:lnB>
                        <a:blipFill>
                          <a:blip r:embed="rId1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 anchorCtr="0">
                        <a:lnL w="19050">
                          <a:solidFill>
                            <a:schemeClr val="bg1"/>
                          </a:solidFill>
                          <a:prstDash val="solid"/>
                        </a:lnL>
                        <a:lnR w="19050">
                          <a:solidFill>
                            <a:schemeClr val="bg1"/>
                          </a:solidFill>
                          <a:prstDash val="solid"/>
                        </a:lnR>
                        <a:lnT w="19050">
                          <a:solidFill>
                            <a:schemeClr val="bg1"/>
                          </a:solidFill>
                          <a:prstDash val="solid"/>
                        </a:lnT>
                        <a:lnB w="19050">
                          <a:solidFill>
                            <a:schemeClr val="bg1"/>
                          </a:solidFill>
                          <a:prstDash val="solid"/>
                        </a:lnB>
                        <a:blipFill>
                          <a:blip r:embed="rId1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 anchorCtr="0">
                        <a:lnL w="19050">
                          <a:solidFill>
                            <a:schemeClr val="bg1"/>
                          </a:solidFill>
                          <a:prstDash val="solid"/>
                        </a:lnL>
                        <a:lnR w="19050">
                          <a:solidFill>
                            <a:schemeClr val="bg1"/>
                          </a:solidFill>
                          <a:prstDash val="solid"/>
                        </a:lnR>
                        <a:lnT w="19050">
                          <a:solidFill>
                            <a:schemeClr val="bg1"/>
                          </a:solidFill>
                          <a:prstDash val="solid"/>
                        </a:lnT>
                        <a:lnB w="19050">
                          <a:solidFill>
                            <a:schemeClr val="bg1"/>
                          </a:solidFill>
                          <a:prstDash val="solid"/>
                        </a:lnB>
                        <a:blipFill>
                          <a:blip r:embed="rId1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 anchorCtr="0">
                        <a:lnL w="19050">
                          <a:solidFill>
                            <a:schemeClr val="bg1"/>
                          </a:solidFill>
                          <a:prstDash val="solid"/>
                        </a:lnL>
                        <a:lnR w="19050">
                          <a:solidFill>
                            <a:schemeClr val="bg1"/>
                          </a:solidFill>
                          <a:prstDash val="solid"/>
                        </a:lnR>
                        <a:lnT w="19050">
                          <a:solidFill>
                            <a:schemeClr val="bg1"/>
                          </a:solidFill>
                          <a:prstDash val="solid"/>
                        </a:lnT>
                        <a:lnB w="19050">
                          <a:solidFill>
                            <a:schemeClr val="bg1"/>
                          </a:solidFill>
                          <a:prstDash val="solid"/>
                        </a:lnB>
                        <a:blipFill>
                          <a:blip r:embed="rId1"/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文本框 6"/>
              <p:cNvSpPr txBox="1"/>
              <p:nvPr/>
            </p:nvSpPr>
            <p:spPr>
              <a:xfrm>
                <a:off x="4079875" y="1449070"/>
                <a:ext cx="1945640" cy="3683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/>
                  <a:t>针对某个残差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zh-CN" altLang="en-US"/>
                  <a:t>：</a:t>
                </a:r>
                <a:endParaRPr lang="zh-CN" altLang="en-US"/>
              </a:p>
            </p:txBody>
          </p:sp>
        </mc:Choice>
        <mc:Fallback>
          <p:sp>
            <p:nvSpPr>
              <p:cNvPr id="7" name="文本框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9875" y="1449070"/>
                <a:ext cx="1945640" cy="368300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5" name="图片 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3790" y="1376680"/>
            <a:ext cx="2905125" cy="3400425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aphicFrame>
        <p:nvGraphicFramePr>
          <p:cNvPr id="13" name="表格 12"/>
          <p:cNvGraphicFramePr/>
          <p:nvPr/>
        </p:nvGraphicFramePr>
        <p:xfrm>
          <a:off x="-24180165" y="-2117090"/>
          <a:ext cx="10079990" cy="10078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40000"/>
                <a:gridCol w="1440180"/>
                <a:gridCol w="1439545"/>
                <a:gridCol w="1440180"/>
                <a:gridCol w="1440180"/>
                <a:gridCol w="720090"/>
                <a:gridCol w="719455"/>
                <a:gridCol w="720090"/>
                <a:gridCol w="720090"/>
                <a:gridCol w="720090"/>
              </a:tblGrid>
              <a:tr h="1440000"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200" b="1">
                          <a:latin typeface="Monaco" panose="020B0500000000000000" charset="-120"/>
                          <a:cs typeface="Monaco" panose="020B0500000000000000" charset="-120"/>
                          <a:sym typeface="+mn-ea"/>
                        </a:rPr>
                        <a:t>C</a:t>
                      </a:r>
                      <a:endParaRPr lang="en-US" altLang="zh-CN" sz="3200" b="1">
                        <a:latin typeface="Monaco" panose="020B0500000000000000" charset="-120"/>
                        <a:cs typeface="Monaco" panose="020B0500000000000000" charset="-120"/>
                        <a:sym typeface="+mn-ea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200" b="1">
                          <a:latin typeface="Monaco" panose="020B0500000000000000" charset="-120"/>
                          <a:cs typeface="Monaco" panose="020B0500000000000000" charset="-120"/>
                          <a:sym typeface="+mn-ea"/>
                        </a:rPr>
                        <a:t>kf1</a:t>
                      </a:r>
                      <a:endParaRPr lang="en-US" altLang="zh-CN" sz="3200" b="1">
                        <a:latin typeface="Monaco" panose="020B0500000000000000" charset="-120"/>
                        <a:cs typeface="Monaco" panose="020B0500000000000000" charset="-120"/>
                        <a:sym typeface="+mn-ea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200" b="1">
                          <a:latin typeface="Monaco" panose="020B0500000000000000" charset="-120"/>
                          <a:cs typeface="Monaco" panose="020B0500000000000000" charset="-120"/>
                          <a:sym typeface="+mn-ea"/>
                        </a:rPr>
                        <a:t>kf2</a:t>
                      </a:r>
                      <a:endParaRPr lang="en-US" altLang="zh-CN" sz="3200" b="1">
                        <a:latin typeface="Monaco" panose="020B0500000000000000" charset="-120"/>
                        <a:cs typeface="Monaco" panose="020B0500000000000000" charset="-120"/>
                        <a:sym typeface="+mn-ea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200" b="1">
                          <a:latin typeface="Monaco" panose="020B0500000000000000" charset="-120"/>
                          <a:cs typeface="Monaco" panose="020B0500000000000000" charset="-120"/>
                          <a:sym typeface="+mn-ea"/>
                        </a:rPr>
                        <a:t>kf3</a:t>
                      </a:r>
                      <a:endParaRPr lang="en-US" altLang="zh-CN" sz="3200" b="1">
                        <a:latin typeface="Monaco" panose="020B0500000000000000" charset="-120"/>
                        <a:cs typeface="Monaco" panose="020B0500000000000000" charset="-120"/>
                        <a:sym typeface="+mn-ea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200" b="1">
                          <a:latin typeface="Monaco" panose="020B0500000000000000" charset="-120"/>
                          <a:cs typeface="Monaco" panose="020B0500000000000000" charset="-120"/>
                        </a:rPr>
                        <a:t>p1</a:t>
                      </a:r>
                      <a:endParaRPr lang="en-US" altLang="zh-CN" sz="3200" b="1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200" b="1">
                          <a:latin typeface="Monaco" panose="020B0500000000000000" charset="-120"/>
                          <a:cs typeface="Monaco" panose="020B0500000000000000" charset="-120"/>
                        </a:rPr>
                        <a:t>p2</a:t>
                      </a:r>
                      <a:endParaRPr lang="en-US" altLang="zh-CN" sz="3200" b="1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200" b="1">
                          <a:latin typeface="Monaco" panose="020B0500000000000000" charset="-120"/>
                          <a:cs typeface="Monaco" panose="020B0500000000000000" charset="-120"/>
                        </a:rPr>
                        <a:t>p3</a:t>
                      </a:r>
                      <a:endParaRPr lang="en-US" altLang="zh-CN" sz="3200" b="1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200" b="1">
                          <a:latin typeface="Monaco" panose="020B0500000000000000" charset="-120"/>
                          <a:cs typeface="Monaco" panose="020B0500000000000000" charset="-120"/>
                        </a:rPr>
                        <a:t>p4</a:t>
                      </a:r>
                      <a:endParaRPr lang="en-US" altLang="zh-CN" sz="3200" b="1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200" b="1">
                          <a:latin typeface="Monaco" panose="020B0500000000000000" charset="-120"/>
                          <a:cs typeface="Monaco" panose="020B0500000000000000" charset="-120"/>
                        </a:rPr>
                        <a:t>p5</a:t>
                      </a:r>
                      <a:endParaRPr lang="en-US" altLang="zh-CN" sz="3200" b="1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</a:tr>
              <a:tr h="143954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200" b="1">
                          <a:latin typeface="Monaco" panose="020B0500000000000000" charset="-120"/>
                          <a:cs typeface="Monaco" panose="020B0500000000000000" charset="-120"/>
                          <a:sym typeface="+mn-ea"/>
                        </a:rPr>
                        <a:t>C</a:t>
                      </a:r>
                      <a:endParaRPr lang="en-US" altLang="zh-CN" sz="3200" b="1">
                        <a:latin typeface="Monaco" panose="020B0500000000000000" charset="-120"/>
                        <a:cs typeface="Monaco" panose="020B0500000000000000" charset="-120"/>
                        <a:sym typeface="+mn-ea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  <a:tr h="144018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200" b="1">
                          <a:latin typeface="Monaco" panose="020B0500000000000000" charset="-120"/>
                          <a:cs typeface="Monaco" panose="020B0500000000000000" charset="-120"/>
                          <a:sym typeface="+mn-ea"/>
                        </a:rPr>
                        <a:t>kf1</a:t>
                      </a:r>
                      <a:endParaRPr lang="en-US" altLang="zh-CN" sz="3200" b="1">
                        <a:latin typeface="Monaco" panose="020B0500000000000000" charset="-120"/>
                        <a:cs typeface="Monaco" panose="020B0500000000000000" charset="-120"/>
                        <a:sym typeface="+mn-ea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  <a:tr h="143954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200" b="1">
                          <a:latin typeface="Monaco" panose="020B0500000000000000" charset="-120"/>
                          <a:cs typeface="Monaco" panose="020B0500000000000000" charset="-120"/>
                          <a:sym typeface="+mn-ea"/>
                        </a:rPr>
                        <a:t>kf2</a:t>
                      </a:r>
                      <a:endParaRPr lang="en-US" altLang="zh-CN" sz="3200" b="1">
                        <a:latin typeface="Monaco" panose="020B0500000000000000" charset="-120"/>
                        <a:cs typeface="Monaco" panose="020B0500000000000000" charset="-120"/>
                        <a:sym typeface="+mn-ea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143954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200" b="1">
                          <a:latin typeface="Monaco" panose="020B0500000000000000" charset="-120"/>
                          <a:cs typeface="Monaco" panose="020B0500000000000000" charset="-120"/>
                          <a:sym typeface="+mn-ea"/>
                        </a:rPr>
                        <a:t>kf3</a:t>
                      </a:r>
                      <a:endParaRPr lang="en-US" altLang="zh-CN" sz="3200" b="1">
                        <a:latin typeface="Monaco" panose="020B0500000000000000" charset="-120"/>
                        <a:cs typeface="Monaco" panose="020B0500000000000000" charset="-120"/>
                        <a:sym typeface="+mn-ea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72009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200" b="1">
                          <a:latin typeface="Monaco" panose="020B0500000000000000" charset="-120"/>
                          <a:cs typeface="Monaco" panose="020B0500000000000000" charset="-120"/>
                        </a:rPr>
                        <a:t>p1</a:t>
                      </a:r>
                      <a:endParaRPr lang="en-US" altLang="zh-CN" sz="3200" b="1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  <a:tr h="72009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200" b="1">
                          <a:latin typeface="Monaco" panose="020B0500000000000000" charset="-120"/>
                          <a:cs typeface="Monaco" panose="020B0500000000000000" charset="-120"/>
                        </a:rPr>
                        <a:t>p2</a:t>
                      </a:r>
                      <a:endParaRPr lang="en-US" altLang="zh-CN" sz="3200" b="1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  <a:tr h="71945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200" b="1">
                          <a:latin typeface="Monaco" panose="020B0500000000000000" charset="-120"/>
                          <a:cs typeface="Monaco" panose="020B0500000000000000" charset="-120"/>
                        </a:rPr>
                        <a:t>p3</a:t>
                      </a:r>
                      <a:endParaRPr lang="en-US" altLang="zh-CN" sz="3200" b="1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  <a:tr h="72009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200" b="1">
                          <a:latin typeface="Monaco" panose="020B0500000000000000" charset="-120"/>
                          <a:cs typeface="Monaco" panose="020B0500000000000000" charset="-120"/>
                        </a:rPr>
                        <a:t>p4</a:t>
                      </a:r>
                      <a:endParaRPr lang="en-US" altLang="zh-CN" sz="3200" b="1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  <a:tr h="72009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200" b="1">
                          <a:latin typeface="Monaco" panose="020B0500000000000000" charset="-120"/>
                          <a:cs typeface="Monaco" panose="020B0500000000000000" charset="-120"/>
                        </a:rPr>
                        <a:t>p5</a:t>
                      </a:r>
                      <a:endParaRPr lang="en-US" altLang="zh-CN" sz="3200" b="1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</a:tbl>
          </a:graphicData>
        </a:graphic>
      </p:graphicFrame>
      <p:graphicFrame>
        <p:nvGraphicFramePr>
          <p:cNvPr id="14" name="表格 13"/>
          <p:cNvGraphicFramePr/>
          <p:nvPr/>
        </p:nvGraphicFramePr>
        <p:xfrm>
          <a:off x="-8706485" y="-2118360"/>
          <a:ext cx="10079990" cy="1008062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40000"/>
                <a:gridCol w="1440180"/>
                <a:gridCol w="1439820"/>
                <a:gridCol w="1440000"/>
                <a:gridCol w="1440180"/>
                <a:gridCol w="719820"/>
                <a:gridCol w="720000"/>
                <a:gridCol w="720000"/>
                <a:gridCol w="720000"/>
                <a:gridCol w="720000"/>
              </a:tblGrid>
              <a:tr h="1440000"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200" b="1">
                          <a:latin typeface="Monaco" panose="020B0500000000000000" charset="-120"/>
                          <a:cs typeface="Monaco" panose="020B0500000000000000" charset="-120"/>
                          <a:sym typeface="+mn-ea"/>
                        </a:rPr>
                        <a:t>C</a:t>
                      </a:r>
                      <a:endParaRPr lang="en-US" altLang="zh-CN" sz="3200" b="1">
                        <a:latin typeface="Monaco" panose="020B0500000000000000" charset="-120"/>
                        <a:cs typeface="Monaco" panose="020B0500000000000000" charset="-120"/>
                        <a:sym typeface="+mn-ea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200" b="1">
                          <a:latin typeface="Monaco" panose="020B0500000000000000" charset="-120"/>
                          <a:cs typeface="Monaco" panose="020B0500000000000000" charset="-120"/>
                          <a:sym typeface="+mn-ea"/>
                        </a:rPr>
                        <a:t>kf1</a:t>
                      </a:r>
                      <a:endParaRPr lang="en-US" altLang="zh-CN" sz="3200" b="1">
                        <a:latin typeface="Monaco" panose="020B0500000000000000" charset="-120"/>
                        <a:cs typeface="Monaco" panose="020B0500000000000000" charset="-120"/>
                        <a:sym typeface="+mn-ea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200" b="1">
                          <a:latin typeface="Monaco" panose="020B0500000000000000" charset="-120"/>
                          <a:cs typeface="Monaco" panose="020B0500000000000000" charset="-120"/>
                          <a:sym typeface="+mn-ea"/>
                        </a:rPr>
                        <a:t>kf2</a:t>
                      </a:r>
                      <a:endParaRPr lang="en-US" altLang="zh-CN" sz="3200" b="1">
                        <a:latin typeface="Monaco" panose="020B0500000000000000" charset="-120"/>
                        <a:cs typeface="Monaco" panose="020B0500000000000000" charset="-120"/>
                        <a:sym typeface="+mn-ea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200" b="1">
                          <a:latin typeface="Monaco" panose="020B0500000000000000" charset="-120"/>
                          <a:cs typeface="Monaco" panose="020B0500000000000000" charset="-120"/>
                          <a:sym typeface="+mn-ea"/>
                        </a:rPr>
                        <a:t>kf3</a:t>
                      </a:r>
                      <a:endParaRPr lang="en-US" altLang="zh-CN" sz="3200" b="1">
                        <a:latin typeface="Monaco" panose="020B0500000000000000" charset="-120"/>
                        <a:cs typeface="Monaco" panose="020B0500000000000000" charset="-120"/>
                        <a:sym typeface="+mn-ea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200" b="1">
                          <a:latin typeface="Monaco" panose="020B0500000000000000" charset="-120"/>
                          <a:cs typeface="Monaco" panose="020B0500000000000000" charset="-120"/>
                        </a:rPr>
                        <a:t>p1</a:t>
                      </a:r>
                      <a:endParaRPr lang="en-US" altLang="zh-CN" sz="3200" b="1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200" b="1">
                          <a:latin typeface="Monaco" panose="020B0500000000000000" charset="-120"/>
                          <a:cs typeface="Monaco" panose="020B0500000000000000" charset="-120"/>
                        </a:rPr>
                        <a:t>p2</a:t>
                      </a:r>
                      <a:endParaRPr lang="en-US" altLang="zh-CN" sz="3200" b="1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200" b="1">
                          <a:latin typeface="Monaco" panose="020B0500000000000000" charset="-120"/>
                          <a:cs typeface="Monaco" panose="020B0500000000000000" charset="-120"/>
                        </a:rPr>
                        <a:t>p3</a:t>
                      </a:r>
                      <a:endParaRPr lang="en-US" altLang="zh-CN" sz="3200" b="1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200" b="1">
                          <a:latin typeface="Monaco" panose="020B0500000000000000" charset="-120"/>
                          <a:cs typeface="Monaco" panose="020B0500000000000000" charset="-120"/>
                        </a:rPr>
                        <a:t>p4</a:t>
                      </a:r>
                      <a:endParaRPr lang="en-US" altLang="zh-CN" sz="3200" b="1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200" b="1">
                          <a:latin typeface="Monaco" panose="020B0500000000000000" charset="-120"/>
                          <a:cs typeface="Monaco" panose="020B0500000000000000" charset="-120"/>
                        </a:rPr>
                        <a:t>p5</a:t>
                      </a:r>
                      <a:endParaRPr lang="en-US" altLang="zh-CN" sz="3200" b="1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</a:tr>
              <a:tr h="144009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200" b="1">
                          <a:latin typeface="Monaco" panose="020B0500000000000000" charset="-120"/>
                          <a:cs typeface="Monaco" panose="020B0500000000000000" charset="-120"/>
                          <a:sym typeface="+mn-ea"/>
                        </a:rPr>
                        <a:t>C</a:t>
                      </a:r>
                      <a:endParaRPr lang="en-US" altLang="zh-CN" sz="3200" b="1">
                        <a:latin typeface="Monaco" panose="020B0500000000000000" charset="-120"/>
                        <a:cs typeface="Monaco" panose="020B0500000000000000" charset="-120"/>
                        <a:sym typeface="+mn-ea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  <a:tr h="144009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200" b="1">
                          <a:latin typeface="Monaco" panose="020B0500000000000000" charset="-120"/>
                          <a:cs typeface="Monaco" panose="020B0500000000000000" charset="-120"/>
                          <a:sym typeface="+mn-ea"/>
                        </a:rPr>
                        <a:t>kf1</a:t>
                      </a:r>
                      <a:endParaRPr lang="en-US" altLang="zh-CN" sz="3200" b="1">
                        <a:latin typeface="Monaco" panose="020B0500000000000000" charset="-120"/>
                        <a:cs typeface="Monaco" panose="020B0500000000000000" charset="-120"/>
                        <a:sym typeface="+mn-ea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  <a:tr h="1440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200" b="1">
                          <a:latin typeface="Monaco" panose="020B0500000000000000" charset="-120"/>
                          <a:cs typeface="Monaco" panose="020B0500000000000000" charset="-120"/>
                          <a:sym typeface="+mn-ea"/>
                        </a:rPr>
                        <a:t>kf2</a:t>
                      </a:r>
                      <a:endParaRPr lang="en-US" altLang="zh-CN" sz="3200" b="1">
                        <a:latin typeface="Monaco" panose="020B0500000000000000" charset="-120"/>
                        <a:cs typeface="Monaco" panose="020B0500000000000000" charset="-120"/>
                        <a:sym typeface="+mn-ea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144009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200" b="1">
                          <a:latin typeface="Monaco" panose="020B0500000000000000" charset="-120"/>
                          <a:cs typeface="Monaco" panose="020B0500000000000000" charset="-120"/>
                          <a:sym typeface="+mn-ea"/>
                        </a:rPr>
                        <a:t>kf3</a:t>
                      </a:r>
                      <a:endParaRPr lang="en-US" altLang="zh-CN" sz="3200" b="1">
                        <a:latin typeface="Monaco" panose="020B0500000000000000" charset="-120"/>
                        <a:cs typeface="Monaco" panose="020B0500000000000000" charset="-120"/>
                        <a:sym typeface="+mn-ea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720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200" b="1">
                          <a:latin typeface="Monaco" panose="020B0500000000000000" charset="-120"/>
                          <a:cs typeface="Monaco" panose="020B0500000000000000" charset="-120"/>
                        </a:rPr>
                        <a:t>p1</a:t>
                      </a:r>
                      <a:endParaRPr lang="en-US" altLang="zh-CN" sz="3200" b="1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  <a:tr h="720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200" b="1">
                          <a:latin typeface="Monaco" panose="020B0500000000000000" charset="-120"/>
                          <a:cs typeface="Monaco" panose="020B0500000000000000" charset="-120"/>
                        </a:rPr>
                        <a:t>p2</a:t>
                      </a:r>
                      <a:endParaRPr lang="en-US" altLang="zh-CN" sz="3200" b="1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  <a:tr h="72009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200" b="1">
                          <a:latin typeface="Monaco" panose="020B0500000000000000" charset="-120"/>
                          <a:cs typeface="Monaco" panose="020B0500000000000000" charset="-120"/>
                        </a:rPr>
                        <a:t>p3</a:t>
                      </a:r>
                      <a:endParaRPr lang="en-US" altLang="zh-CN" sz="3200" b="1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  <a:tr h="720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200" b="1">
                          <a:latin typeface="Monaco" panose="020B0500000000000000" charset="-120"/>
                          <a:cs typeface="Monaco" panose="020B0500000000000000" charset="-120"/>
                        </a:rPr>
                        <a:t>p4</a:t>
                      </a:r>
                      <a:endParaRPr lang="en-US" altLang="zh-CN" sz="3200" b="1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  <a:tr h="720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200" b="1">
                          <a:latin typeface="Monaco" panose="020B0500000000000000" charset="-120"/>
                          <a:cs typeface="Monaco" panose="020B0500000000000000" charset="-120"/>
                        </a:rPr>
                        <a:t>p5</a:t>
                      </a:r>
                      <a:endParaRPr lang="en-US" altLang="zh-CN" sz="3200" b="1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</a:tbl>
          </a:graphicData>
        </a:graphic>
      </p:graphicFrame>
      <p:graphicFrame>
        <p:nvGraphicFramePr>
          <p:cNvPr id="29" name="表格 28"/>
          <p:cNvGraphicFramePr/>
          <p:nvPr/>
        </p:nvGraphicFramePr>
        <p:xfrm>
          <a:off x="-12768580" y="-676910"/>
          <a:ext cx="720090" cy="935863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20090"/>
              </a:tblGrid>
              <a:tr h="1439545"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50000"/>
                      </a:schemeClr>
                    </a:solidFill>
                  </a:tcPr>
                </a:tc>
              </a:tr>
              <a:tr h="1440180"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</a:tr>
              <a:tr h="1439545"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</a:tr>
              <a:tr h="1439545"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</a:tr>
              <a:tr h="720090"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  <a:tr h="720090"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</a:tr>
              <a:tr h="719455"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70C0"/>
                    </a:solidFill>
                  </a:tcPr>
                </a:tc>
              </a:tr>
              <a:tr h="720090"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  <a:tr h="720090"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</a:tbl>
          </a:graphicData>
        </a:graphic>
      </p:graphicFrame>
      <p:graphicFrame>
        <p:nvGraphicFramePr>
          <p:cNvPr id="30" name="表格 29"/>
          <p:cNvGraphicFramePr/>
          <p:nvPr/>
        </p:nvGraphicFramePr>
        <p:xfrm>
          <a:off x="2704465" y="-676910"/>
          <a:ext cx="720090" cy="935863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20090"/>
              </a:tblGrid>
              <a:tr h="1439545"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1440180"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1439545"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1439545"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720090"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  <a:tr h="720090"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C000"/>
                    </a:solidFill>
                  </a:tcPr>
                </a:tc>
              </a:tr>
              <a:tr h="719455"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C000"/>
                    </a:solidFill>
                  </a:tcPr>
                </a:tc>
              </a:tr>
              <a:tr h="720090"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  <a:tr h="720090"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</a:tbl>
          </a:graphicData>
        </a:graphic>
      </p:graphicFrame>
      <p:graphicFrame>
        <p:nvGraphicFramePr>
          <p:cNvPr id="31" name="表格 30"/>
          <p:cNvGraphicFramePr/>
          <p:nvPr/>
        </p:nvGraphicFramePr>
        <p:xfrm>
          <a:off x="-6186805" y="11960860"/>
          <a:ext cx="6480175" cy="647890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40000"/>
                <a:gridCol w="1440180"/>
                <a:gridCol w="1440180"/>
                <a:gridCol w="1440180"/>
              </a:tblGrid>
              <a:tr h="1440000"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2100" b="1">
                          <a:latin typeface="Monaco" panose="020B0500000000000000" charset="-120"/>
                          <a:cs typeface="Monaco" panose="020B0500000000000000" charset="-120"/>
                          <a:sym typeface="+mn-ea"/>
                        </a:rPr>
                        <a:t>C</a:t>
                      </a:r>
                      <a:endParaRPr lang="en-US" altLang="zh-CN" sz="2100" b="1">
                        <a:latin typeface="Monaco" panose="020B0500000000000000" charset="-120"/>
                        <a:cs typeface="Monaco" panose="020B0500000000000000" charset="-120"/>
                        <a:sym typeface="+mn-ea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2100" b="1">
                          <a:latin typeface="Monaco" panose="020B0500000000000000" charset="-120"/>
                          <a:cs typeface="Monaco" panose="020B0500000000000000" charset="-120"/>
                          <a:sym typeface="+mn-ea"/>
                        </a:rPr>
                        <a:t>kf2</a:t>
                      </a:r>
                      <a:endParaRPr lang="en-US" altLang="zh-CN" sz="2100" b="1">
                        <a:latin typeface="Monaco" panose="020B0500000000000000" charset="-120"/>
                        <a:cs typeface="Monaco" panose="020B0500000000000000" charset="-120"/>
                        <a:sym typeface="+mn-ea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2100" b="1">
                          <a:latin typeface="Monaco" panose="020B0500000000000000" charset="-120"/>
                          <a:cs typeface="Monaco" panose="020B0500000000000000" charset="-120"/>
                          <a:sym typeface="+mn-ea"/>
                        </a:rPr>
                        <a:t>kf3</a:t>
                      </a:r>
                      <a:endParaRPr lang="en-US" altLang="zh-CN" sz="2100" b="1">
                        <a:latin typeface="Monaco" panose="020B0500000000000000" charset="-120"/>
                        <a:cs typeface="Monaco" panose="020B0500000000000000" charset="-120"/>
                        <a:sym typeface="+mn-ea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</a:tr>
              <a:tr h="143954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2100" b="1">
                          <a:latin typeface="Monaco" panose="020B0500000000000000" charset="-120"/>
                          <a:cs typeface="Monaco" panose="020B0500000000000000" charset="-120"/>
                          <a:sym typeface="+mn-ea"/>
                        </a:rPr>
                        <a:t>C</a:t>
                      </a:r>
                      <a:endParaRPr lang="en-US" altLang="zh-CN" sz="2100" b="1">
                        <a:latin typeface="Monaco" panose="020B0500000000000000" charset="-120"/>
                        <a:cs typeface="Monaco" panose="020B0500000000000000" charset="-120"/>
                        <a:sym typeface="+mn-ea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</a:tr>
              <a:tr h="143954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2100" b="1">
                          <a:latin typeface="Monaco" panose="020B0500000000000000" charset="-120"/>
                          <a:cs typeface="Monaco" panose="020B0500000000000000" charset="-120"/>
                          <a:sym typeface="+mn-ea"/>
                        </a:rPr>
                        <a:t>kf2</a:t>
                      </a:r>
                      <a:endParaRPr lang="en-US" altLang="zh-CN" sz="2100" b="1">
                        <a:latin typeface="Monaco" panose="020B0500000000000000" charset="-120"/>
                        <a:cs typeface="Monaco" panose="020B0500000000000000" charset="-120"/>
                        <a:sym typeface="+mn-ea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</a:tr>
              <a:tr h="143954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2100" b="1">
                          <a:latin typeface="Monaco" panose="020B0500000000000000" charset="-120"/>
                          <a:cs typeface="Monaco" panose="020B0500000000000000" charset="-120"/>
                          <a:sym typeface="+mn-ea"/>
                        </a:rPr>
                        <a:t>kf3</a:t>
                      </a:r>
                      <a:endParaRPr lang="en-US" altLang="zh-CN" sz="2100" b="1">
                        <a:latin typeface="Monaco" panose="020B0500000000000000" charset="-120"/>
                        <a:cs typeface="Monaco" panose="020B0500000000000000" charset="-120"/>
                        <a:sym typeface="+mn-ea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</a:tr>
            </a:tbl>
          </a:graphicData>
        </a:graphic>
      </p:graphicFrame>
      <p:sp>
        <p:nvSpPr>
          <p:cNvPr id="32" name="加号 31"/>
          <p:cNvSpPr/>
          <p:nvPr/>
        </p:nvSpPr>
        <p:spPr>
          <a:xfrm>
            <a:off x="-12177395" y="1772510"/>
            <a:ext cx="3599815" cy="3600000"/>
          </a:xfrm>
          <a:prstGeom prst="mathPlus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3" name="文本框 32"/>
          <p:cNvSpPr txBox="1"/>
          <p:nvPr/>
        </p:nvSpPr>
        <p:spPr>
          <a:xfrm>
            <a:off x="-24373522" y="-3266440"/>
            <a:ext cx="1118679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5400" b="1"/>
              <a:t>待边缘化点残差构成的</a:t>
            </a:r>
            <a:r>
              <a:rPr lang="en-US" altLang="zh-CN" sz="5400" b="1">
                <a:latin typeface="Times New Roman" panose="02020603050405020304" charset="0"/>
                <a:cs typeface="Times New Roman" panose="02020603050405020304" charset="0"/>
              </a:rPr>
              <a:t>Hessian</a:t>
            </a:r>
            <a:r>
              <a:rPr lang="zh-CN" altLang="en-US" sz="5400" b="1">
                <a:latin typeface="Times New Roman" panose="02020603050405020304" charset="0"/>
                <a:cs typeface="Times New Roman" panose="02020603050405020304" charset="0"/>
              </a:rPr>
              <a:t>和</a:t>
            </a:r>
            <a:r>
              <a:rPr lang="en-US" altLang="zh-CN" sz="5400" b="1">
                <a:latin typeface="Times New Roman" panose="02020603050405020304" charset="0"/>
                <a:cs typeface="Times New Roman" panose="02020603050405020304" charset="0"/>
              </a:rPr>
              <a:t>b</a:t>
            </a:r>
            <a:endParaRPr lang="en-US" altLang="zh-CN" sz="5400" b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4" name="文本框 33"/>
          <p:cNvSpPr txBox="1"/>
          <p:nvPr/>
        </p:nvSpPr>
        <p:spPr>
          <a:xfrm>
            <a:off x="-8899842" y="-3307080"/>
            <a:ext cx="1118679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sz="5400" b="1"/>
              <a:t>先验</a:t>
            </a:r>
            <a:r>
              <a:rPr lang="en-US" altLang="zh-CN" sz="5400" b="1">
                <a:latin typeface="Times New Roman" panose="02020603050405020304" charset="0"/>
                <a:cs typeface="Times New Roman" panose="02020603050405020304" charset="0"/>
              </a:rPr>
              <a:t>Hessian</a:t>
            </a:r>
            <a:r>
              <a:rPr lang="zh-CN" altLang="en-US" sz="5400" b="1">
                <a:latin typeface="Times New Roman" panose="02020603050405020304" charset="0"/>
                <a:cs typeface="Times New Roman" panose="02020603050405020304" charset="0"/>
              </a:rPr>
              <a:t>和</a:t>
            </a:r>
            <a:r>
              <a:rPr lang="en-US" altLang="zh-CN" sz="5400" b="1">
                <a:latin typeface="Times New Roman" panose="02020603050405020304" charset="0"/>
                <a:cs typeface="Times New Roman" panose="02020603050405020304" charset="0"/>
              </a:rPr>
              <a:t>b</a:t>
            </a:r>
            <a:endParaRPr lang="en-US" altLang="zh-CN" sz="5400" b="1">
              <a:latin typeface="Times New Roman" panose="02020603050405020304" charset="0"/>
              <a:cs typeface="Times New Roman" panose="02020603050405020304" charset="0"/>
            </a:endParaRPr>
          </a:p>
        </p:txBody>
      </p:sp>
      <p:graphicFrame>
        <p:nvGraphicFramePr>
          <p:cNvPr id="35" name="表格 34"/>
          <p:cNvGraphicFramePr/>
          <p:nvPr/>
        </p:nvGraphicFramePr>
        <p:xfrm>
          <a:off x="-22380257" y="11240770"/>
          <a:ext cx="6480175" cy="647890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40000"/>
                <a:gridCol w="1440180"/>
                <a:gridCol w="1439545"/>
                <a:gridCol w="1440180"/>
                <a:gridCol w="1440180"/>
              </a:tblGrid>
              <a:tr h="1440000"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200" b="1">
                          <a:latin typeface="Monaco" panose="020B0500000000000000" charset="-120"/>
                          <a:cs typeface="Monaco" panose="020B0500000000000000" charset="-120"/>
                          <a:sym typeface="+mn-ea"/>
                        </a:rPr>
                        <a:t>C</a:t>
                      </a:r>
                      <a:endParaRPr lang="en-US" altLang="zh-CN" sz="3200" b="1">
                        <a:latin typeface="Monaco" panose="020B0500000000000000" charset="-120"/>
                        <a:cs typeface="Monaco" panose="020B0500000000000000" charset="-120"/>
                        <a:sym typeface="+mn-ea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200" b="1">
                          <a:latin typeface="Monaco" panose="020B0500000000000000" charset="-120"/>
                          <a:cs typeface="Monaco" panose="020B0500000000000000" charset="-120"/>
                          <a:sym typeface="+mn-ea"/>
                        </a:rPr>
                        <a:t>kf1</a:t>
                      </a:r>
                      <a:endParaRPr lang="en-US" altLang="zh-CN" sz="3200" b="1">
                        <a:latin typeface="Monaco" panose="020B0500000000000000" charset="-120"/>
                        <a:cs typeface="Monaco" panose="020B0500000000000000" charset="-120"/>
                        <a:sym typeface="+mn-ea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200" b="1">
                          <a:latin typeface="Monaco" panose="020B0500000000000000" charset="-120"/>
                          <a:cs typeface="Monaco" panose="020B0500000000000000" charset="-120"/>
                          <a:sym typeface="+mn-ea"/>
                        </a:rPr>
                        <a:t>kf2</a:t>
                      </a:r>
                      <a:endParaRPr lang="en-US" altLang="zh-CN" sz="3200" b="1">
                        <a:latin typeface="Monaco" panose="020B0500000000000000" charset="-120"/>
                        <a:cs typeface="Monaco" panose="020B0500000000000000" charset="-120"/>
                        <a:sym typeface="+mn-ea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200" b="1">
                          <a:latin typeface="Monaco" panose="020B0500000000000000" charset="-120"/>
                          <a:cs typeface="Monaco" panose="020B0500000000000000" charset="-120"/>
                          <a:sym typeface="+mn-ea"/>
                        </a:rPr>
                        <a:t>kf3</a:t>
                      </a:r>
                      <a:endParaRPr lang="en-US" altLang="zh-CN" sz="3200" b="1">
                        <a:latin typeface="Monaco" panose="020B0500000000000000" charset="-120"/>
                        <a:cs typeface="Monaco" panose="020B0500000000000000" charset="-120"/>
                        <a:sym typeface="+mn-ea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</a:tr>
              <a:tr h="143954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200" b="1">
                          <a:latin typeface="Monaco" panose="020B0500000000000000" charset="-120"/>
                          <a:cs typeface="Monaco" panose="020B0500000000000000" charset="-120"/>
                          <a:sym typeface="+mn-ea"/>
                        </a:rPr>
                        <a:t>C</a:t>
                      </a:r>
                      <a:endParaRPr lang="en-US" altLang="zh-CN" sz="3200" b="1">
                        <a:latin typeface="Monaco" panose="020B0500000000000000" charset="-120"/>
                        <a:cs typeface="Monaco" panose="020B0500000000000000" charset="-120"/>
                        <a:sym typeface="+mn-ea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</a:tr>
              <a:tr h="144018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200" b="1">
                          <a:latin typeface="Monaco" panose="020B0500000000000000" charset="-120"/>
                          <a:cs typeface="Monaco" panose="020B0500000000000000" charset="-120"/>
                          <a:sym typeface="+mn-ea"/>
                        </a:rPr>
                        <a:t>kf1</a:t>
                      </a:r>
                      <a:endParaRPr lang="en-US" altLang="zh-CN" sz="3200" b="1">
                        <a:latin typeface="Monaco" panose="020B0500000000000000" charset="-120"/>
                        <a:cs typeface="Monaco" panose="020B0500000000000000" charset="-120"/>
                        <a:sym typeface="+mn-ea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</a:tr>
              <a:tr h="143954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200" b="1">
                          <a:latin typeface="Monaco" panose="020B0500000000000000" charset="-120"/>
                          <a:cs typeface="Monaco" panose="020B0500000000000000" charset="-120"/>
                          <a:sym typeface="+mn-ea"/>
                        </a:rPr>
                        <a:t>kf2</a:t>
                      </a:r>
                      <a:endParaRPr lang="en-US" altLang="zh-CN" sz="3200" b="1">
                        <a:latin typeface="Monaco" panose="020B0500000000000000" charset="-120"/>
                        <a:cs typeface="Monaco" panose="020B0500000000000000" charset="-120"/>
                        <a:sym typeface="+mn-ea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</a:tr>
              <a:tr h="143954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200" b="1">
                          <a:latin typeface="Monaco" panose="020B0500000000000000" charset="-120"/>
                          <a:cs typeface="Monaco" panose="020B0500000000000000" charset="-120"/>
                          <a:sym typeface="+mn-ea"/>
                        </a:rPr>
                        <a:t>kf3</a:t>
                      </a:r>
                      <a:endParaRPr lang="en-US" altLang="zh-CN" sz="3200" b="1">
                        <a:latin typeface="Monaco" panose="020B0500000000000000" charset="-120"/>
                        <a:cs typeface="Monaco" panose="020B0500000000000000" charset="-120"/>
                        <a:sym typeface="+mn-ea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</a:tr>
            </a:tbl>
          </a:graphicData>
        </a:graphic>
      </p:graphicFrame>
      <p:cxnSp>
        <p:nvCxnSpPr>
          <p:cNvPr id="36" name="肘形连接符 35"/>
          <p:cNvCxnSpPr/>
          <p:nvPr/>
        </p:nvCxnSpPr>
        <p:spPr>
          <a:xfrm flipH="1">
            <a:off x="-22379940" y="4002405"/>
            <a:ext cx="25804495" cy="10478135"/>
          </a:xfrm>
          <a:prstGeom prst="bentConnector5">
            <a:avLst>
              <a:gd name="adj1" fmla="val -4279"/>
              <a:gd name="adj2" fmla="val 63759"/>
              <a:gd name="adj3" fmla="val 111548"/>
            </a:avLst>
          </a:prstGeom>
          <a:ln w="762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7" name="文本框 36"/>
          <p:cNvSpPr txBox="1"/>
          <p:nvPr/>
        </p:nvSpPr>
        <p:spPr>
          <a:xfrm>
            <a:off x="-11978005" y="9621520"/>
            <a:ext cx="320103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5400" b="1"/>
              <a:t>边缘化点</a:t>
            </a:r>
            <a:endParaRPr lang="zh-CN" altLang="en-US" sz="5400" b="1"/>
          </a:p>
        </p:txBody>
      </p:sp>
      <p:cxnSp>
        <p:nvCxnSpPr>
          <p:cNvPr id="39" name="直接箭头连接符 38"/>
          <p:cNvCxnSpPr>
            <a:endCxn id="31" idx="1"/>
          </p:cNvCxnSpPr>
          <p:nvPr/>
        </p:nvCxnSpPr>
        <p:spPr>
          <a:xfrm flipV="1">
            <a:off x="-14316075" y="14840585"/>
            <a:ext cx="8129270" cy="635"/>
          </a:xfrm>
          <a:prstGeom prst="straightConnector1">
            <a:avLst/>
          </a:prstGeom>
          <a:ln w="762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0" name="文本框 39"/>
          <p:cNvSpPr txBox="1"/>
          <p:nvPr/>
        </p:nvSpPr>
        <p:spPr>
          <a:xfrm>
            <a:off x="-11978005" y="13437235"/>
            <a:ext cx="320103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5400" b="1"/>
              <a:t>边缘化帧</a:t>
            </a:r>
            <a:endParaRPr lang="zh-CN" altLang="en-US" sz="5400" b="1"/>
          </a:p>
        </p:txBody>
      </p:sp>
      <p:graphicFrame>
        <p:nvGraphicFramePr>
          <p:cNvPr id="45" name="表格 44"/>
          <p:cNvGraphicFramePr/>
          <p:nvPr/>
        </p:nvGraphicFramePr>
        <p:xfrm>
          <a:off x="-14359255" y="12680950"/>
          <a:ext cx="720090" cy="935863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20090"/>
              </a:tblGrid>
              <a:tr h="1439545"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50000"/>
                      </a:schemeClr>
                    </a:solidFill>
                  </a:tcPr>
                </a:tc>
              </a:tr>
              <a:tr h="1440180"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</a:tr>
              <a:tr h="1439545"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</a:tr>
              <a:tr h="1439545"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6" name="表格 45"/>
          <p:cNvGraphicFramePr/>
          <p:nvPr/>
        </p:nvGraphicFramePr>
        <p:xfrm>
          <a:off x="365125" y="13400405"/>
          <a:ext cx="720090" cy="431927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20090"/>
              </a:tblGrid>
              <a:tr h="1439545"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50000"/>
                      </a:schemeClr>
                    </a:solidFill>
                  </a:tcPr>
                </a:tc>
              </a:tr>
              <a:tr h="1440180"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</a:tr>
              <a:tr h="1439545"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2100">
                        <a:latin typeface="Monaco" panose="020B0500000000000000" charset="-120"/>
                        <a:cs typeface="Monaco" panose="020B0500000000000000" charset="-120"/>
                      </a:endParaRPr>
                    </a:p>
                  </a:txBody>
                  <a:tcPr anchor="ctr" anchorCtr="0">
                    <a:lnL w="38100">
                      <a:solidFill>
                        <a:schemeClr val="tx1"/>
                      </a:solidFill>
                      <a:prstDash val="solid"/>
                    </a:lnL>
                    <a:lnR w="38100">
                      <a:solidFill>
                        <a:schemeClr val="tx1"/>
                      </a:solidFill>
                      <a:prstDash val="solid"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</a:tr>
            </a:tbl>
          </a:graphicData>
        </a:graphic>
      </p:graphicFrame>
      <p:pic>
        <p:nvPicPr>
          <p:cNvPr id="47" name="图片 4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84085" y="5337175"/>
            <a:ext cx="12306935" cy="89433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1941</Words>
  <Application>WPS 演示</Application>
  <PresentationFormat>宽屏</PresentationFormat>
  <Paragraphs>814</Paragraphs>
  <Slides>26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26</vt:i4>
      </vt:variant>
    </vt:vector>
  </HeadingPairs>
  <TitlesOfParts>
    <vt:vector size="41" baseType="lpstr">
      <vt:lpstr>Arial</vt:lpstr>
      <vt:lpstr>宋体</vt:lpstr>
      <vt:lpstr>Wingdings</vt:lpstr>
      <vt:lpstr>Cambria Math</vt:lpstr>
      <vt:lpstr>Calibri</vt:lpstr>
      <vt:lpstr>微软雅黑</vt:lpstr>
      <vt:lpstr>Arial Unicode MS</vt:lpstr>
      <vt:lpstr>Calibri Light</vt:lpstr>
      <vt:lpstr>Monaco</vt:lpstr>
      <vt:lpstr>MS Mincho</vt:lpstr>
      <vt:lpstr>Monaco</vt:lpstr>
      <vt:lpstr>MS Gothic</vt:lpstr>
      <vt:lpstr>Times New Roman</vt:lpstr>
      <vt:lpstr>Abyssinica SIL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lucky-lu</cp:lastModifiedBy>
  <cp:revision>1714</cp:revision>
  <dcterms:created xsi:type="dcterms:W3CDTF">2025-02-25T13:39:25Z</dcterms:created>
  <dcterms:modified xsi:type="dcterms:W3CDTF">2025-02-25T13:39:25Z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2052-12.1.0.17900</vt:lpwstr>
  </property>
  <property fmtid="{D5CDD505-2E9C-101B-9397-08002B2CF9AE}" pid="3" name="ICV">
    <vt:lpwstr>76CF4E3188277A8A9BD2856750BBA0A2_41</vt:lpwstr>
  </property>
</Properties>
</file>