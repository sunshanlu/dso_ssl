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3"/>
    <p:sldId id="257" r:id="rId4"/>
    <p:sldId id="258" r:id="rId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7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671"/>
    <a:srgbClr val="F9F871"/>
    <a:srgbClr val="D65DB1"/>
    <a:srgbClr val="4D7F76"/>
    <a:srgbClr val="D5CABD"/>
    <a:srgbClr val="4E8397"/>
    <a:srgbClr val="7F1853"/>
    <a:srgbClr val="845EC2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74"/>
        <p:guide pos="377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/>
          <p:cNvGraphicFramePr/>
          <p:nvPr/>
        </p:nvGraphicFramePr>
        <p:xfrm>
          <a:off x="933768" y="2166938"/>
          <a:ext cx="2520315" cy="2568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/>
                <a:gridCol w="360000"/>
                <a:gridCol w="360045"/>
                <a:gridCol w="360045"/>
                <a:gridCol w="360045"/>
                <a:gridCol w="359910"/>
                <a:gridCol w="359955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03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表格 8"/>
          <p:cNvGraphicFramePr/>
          <p:nvPr/>
        </p:nvGraphicFramePr>
        <p:xfrm>
          <a:off x="8528050" y="1982470"/>
          <a:ext cx="2880000" cy="293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/>
                <a:gridCol w="360000"/>
                <a:gridCol w="360000"/>
                <a:gridCol w="360000"/>
                <a:gridCol w="360045"/>
                <a:gridCol w="359955"/>
                <a:gridCol w="360000"/>
                <a:gridCol w="360000"/>
              </a:tblGrid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圆角矩形 9"/>
              <p:cNvSpPr/>
              <p:nvPr/>
            </p:nvSpPr>
            <p:spPr>
              <a:xfrm>
                <a:off x="4184650" y="3275648"/>
                <a:ext cx="1562100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圆角矩形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4650" y="3275648"/>
                <a:ext cx="1562100" cy="714375"/>
              </a:xfrm>
              <a:prstGeom prst="roundRect">
                <a:avLst/>
              </a:prstGeom>
              <a:blipFill rotWithShape="1">
                <a:blip r:embed="rId1"/>
                <a:stretch>
                  <a:fillRect l="-610" t="-1378" r="-610" b="-1289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圆角矩形 10"/>
              <p:cNvSpPr/>
              <p:nvPr/>
            </p:nvSpPr>
            <p:spPr>
              <a:xfrm>
                <a:off x="6218555" y="3275648"/>
                <a:ext cx="1837690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𝑑𝑖𝑠</m:t>
                          </m:r>
                        </m:sup>
                      </m:sSubSup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𝑜𝑟𝑔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圆角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555" y="3275648"/>
                <a:ext cx="1837690" cy="714375"/>
              </a:xfrm>
              <a:prstGeom prst="roundRect">
                <a:avLst/>
              </a:prstGeom>
              <a:blipFill rotWithShape="1">
                <a:blip r:embed="rId2"/>
                <a:stretch>
                  <a:fillRect l="-518" t="-1378" r="-518" b="-1289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接箭头连接符 18"/>
          <p:cNvCxnSpPr>
            <a:stCxn id="7" idx="3"/>
            <a:endCxn id="10" idx="1"/>
          </p:cNvCxnSpPr>
          <p:nvPr/>
        </p:nvCxnSpPr>
        <p:spPr>
          <a:xfrm>
            <a:off x="3454400" y="3450908"/>
            <a:ext cx="730250" cy="18161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10" idx="0"/>
            <a:endCxn id="2" idx="2"/>
          </p:cNvCxnSpPr>
          <p:nvPr/>
        </p:nvCxnSpPr>
        <p:spPr>
          <a:xfrm flipV="1">
            <a:off x="4965700" y="2881630"/>
            <a:ext cx="1025525" cy="3943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11" idx="3"/>
            <a:endCxn id="9" idx="1"/>
          </p:cNvCxnSpPr>
          <p:nvPr/>
        </p:nvCxnSpPr>
        <p:spPr>
          <a:xfrm flipV="1">
            <a:off x="8056245" y="3451225"/>
            <a:ext cx="471805" cy="18161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1147763" y="1798955"/>
            <a:ext cx="2092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无畸变像素坐标系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8921433" y="1614170"/>
            <a:ext cx="2092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畸变像素坐标系</a:t>
            </a:r>
            <a:endParaRPr lang="zh-CN" altLang="en-US"/>
          </a:p>
        </p:txBody>
      </p:sp>
      <p:cxnSp>
        <p:nvCxnSpPr>
          <p:cNvPr id="24" name="曲线连接符 23"/>
          <p:cNvCxnSpPr>
            <a:stCxn id="10" idx="2"/>
            <a:endCxn id="11" idx="2"/>
          </p:cNvCxnSpPr>
          <p:nvPr/>
        </p:nvCxnSpPr>
        <p:spPr>
          <a:xfrm rot="5400000" flipV="1">
            <a:off x="6051550" y="2904490"/>
            <a:ext cx="3175" cy="2171700"/>
          </a:xfrm>
          <a:prstGeom prst="curvedConnector3">
            <a:avLst>
              <a:gd name="adj1" fmla="val 25010000"/>
            </a:avLst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5389245" y="4238625"/>
                <a:ext cx="1413510" cy="3194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𝒑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zh-CN" altLang="en-US" sz="1400" b="1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和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𝒑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  <m:sup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𝒅𝒊𝒔</m:t>
                        </m:r>
                      </m:sup>
                    </m:sSubSup>
                  </m:oMath>
                </a14:m>
                <a:r>
                  <a:rPr lang="zh-CN" altLang="en-US" sz="1400" b="1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的映射</a:t>
                </a:r>
                <a:endParaRPr lang="zh-CN" altLang="en-US" sz="1400" b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245" y="4238625"/>
                <a:ext cx="1413510" cy="31940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圆角矩形 1"/>
              <p:cNvSpPr/>
              <p:nvPr/>
            </p:nvSpPr>
            <p:spPr>
              <a:xfrm>
                <a:off x="4923155" y="2167255"/>
                <a:ext cx="2135505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𝑑𝑖𝑠</m:t>
                          </m:r>
                        </m:sup>
                      </m:sSubSup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𝑑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𝑘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" name="圆角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155" y="2167255"/>
                <a:ext cx="2135505" cy="714375"/>
              </a:xfrm>
              <a:prstGeom prst="roundRect">
                <a:avLst/>
              </a:prstGeom>
              <a:blipFill rotWithShape="1">
                <a:blip r:embed="rId4"/>
                <a:stretch>
                  <a:fillRect l="-446" t="-1333" r="-446" b="-1333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箭头连接符 3"/>
          <p:cNvCxnSpPr>
            <a:stCxn id="2" idx="2"/>
            <a:endCxn id="11" idx="0"/>
          </p:cNvCxnSpPr>
          <p:nvPr/>
        </p:nvCxnSpPr>
        <p:spPr>
          <a:xfrm>
            <a:off x="5991225" y="2881630"/>
            <a:ext cx="1146175" cy="3943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文本框 16"/>
          <p:cNvSpPr txBox="1"/>
          <p:nvPr/>
        </p:nvSpPr>
        <p:spPr>
          <a:xfrm>
            <a:off x="1570355" y="2438400"/>
            <a:ext cx="11372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/>
              <a:t>图像分块</a:t>
            </a:r>
            <a:endParaRPr lang="zh-CN" altLang="en-US" sz="1600" b="1"/>
          </a:p>
        </p:txBody>
      </p:sp>
      <p:grpSp>
        <p:nvGrpSpPr>
          <p:cNvPr id="25" name="组合 24"/>
          <p:cNvGrpSpPr/>
          <p:nvPr/>
        </p:nvGrpSpPr>
        <p:grpSpPr>
          <a:xfrm>
            <a:off x="692150" y="2762885"/>
            <a:ext cx="2893060" cy="2063750"/>
            <a:chOff x="1090" y="4351"/>
            <a:chExt cx="4556" cy="3250"/>
          </a:xfrm>
        </p:grpSpPr>
        <p:grpSp>
          <p:nvGrpSpPr>
            <p:cNvPr id="18" name="组合 17"/>
            <p:cNvGrpSpPr/>
            <p:nvPr/>
          </p:nvGrpSpPr>
          <p:grpSpPr>
            <a:xfrm>
              <a:off x="1090" y="4351"/>
              <a:ext cx="4556" cy="3250"/>
              <a:chOff x="1690" y="2617"/>
              <a:chExt cx="6540" cy="5298"/>
            </a:xfrm>
          </p:grpSpPr>
          <p:sp>
            <p:nvSpPr>
              <p:cNvPr id="4" name="矩形 3"/>
              <p:cNvSpPr/>
              <p:nvPr/>
            </p:nvSpPr>
            <p:spPr>
              <a:xfrm>
                <a:off x="1690" y="2617"/>
                <a:ext cx="6540" cy="5298"/>
              </a:xfrm>
              <a:prstGeom prst="rect">
                <a:avLst/>
              </a:prstGeom>
              <a:gradFill>
                <a:gsLst>
                  <a:gs pos="0">
                    <a:srgbClr val="7030A0"/>
                  </a:gs>
                  <a:gs pos="50000">
                    <a:srgbClr val="4E8397"/>
                  </a:gs>
                  <a:gs pos="100000">
                    <a:srgbClr val="D5CABD"/>
                  </a:gs>
                </a:gsLst>
                <a:lin ang="8700000" scaled="0"/>
              </a:gradFill>
              <a:ln w="19050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1690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2824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690" y="375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7096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矩形 13"/>
              <p:cNvSpPr/>
              <p:nvPr/>
            </p:nvSpPr>
            <p:spPr>
              <a:xfrm>
                <a:off x="1690" y="678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7096" y="678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9" name="文本框 18"/>
            <p:cNvSpPr txBox="1"/>
            <p:nvPr/>
          </p:nvSpPr>
          <p:spPr>
            <a:xfrm>
              <a:off x="3166" y="4351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 rot="5400000">
              <a:off x="4700" y="5627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 rot="2100000">
              <a:off x="1945" y="5326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3366" y="6905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 rot="5400000">
              <a:off x="841" y="5959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6" name="文本框 25"/>
          <p:cNvSpPr txBox="1"/>
          <p:nvPr/>
        </p:nvSpPr>
        <p:spPr>
          <a:xfrm>
            <a:off x="4617085" y="2683510"/>
            <a:ext cx="11372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/>
              <a:t>梯度统计</a:t>
            </a:r>
            <a:endParaRPr lang="zh-CN" altLang="en-US" sz="1600" b="1"/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6420" y="3091815"/>
            <a:ext cx="1619250" cy="14058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32" name="直接箭头连接符 31"/>
          <p:cNvCxnSpPr/>
          <p:nvPr/>
        </p:nvCxnSpPr>
        <p:spPr>
          <a:xfrm flipV="1">
            <a:off x="3594100" y="4502150"/>
            <a:ext cx="2393950" cy="32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 flipV="1">
            <a:off x="3093085" y="3101340"/>
            <a:ext cx="1280795" cy="130302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本框 34"/>
              <p:cNvSpPr txBox="1"/>
              <p:nvPr/>
            </p:nvSpPr>
            <p:spPr>
              <a:xfrm>
                <a:off x="6058535" y="3457575"/>
                <a:ext cx="2199640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600" b="1">
                    <a:latin typeface="Cambria Math" panose="02040503050406030204" charset="0"/>
                    <a:cs typeface="Cambria Math" panose="02040503050406030204" charset="0"/>
                  </a:rPr>
                  <a:t>块</a:t>
                </a:r>
                <a:r>
                  <a:rPr lang="en-US" altLang="zh-CN" sz="1600" b="1">
                    <a:latin typeface="Cambria Math" panose="02040503050406030204" charset="0"/>
                    <a:cs typeface="Cambria Math" panose="02040503050406030204" charset="0"/>
                  </a:rPr>
                  <a:t>0.5</a:t>
                </a:r>
                <a:r>
                  <a:rPr lang="zh-CN" altLang="en-US" sz="1600" b="1">
                    <a:latin typeface="Cambria Math" panose="02040503050406030204" charset="0"/>
                    <a:cs typeface="Cambria Math" panose="02040503050406030204" charset="0"/>
                  </a:rPr>
                  <a:t>分位数梯度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𝒈</m:t>
                        </m:r>
                      </m:e>
                      <m:sub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𝟓</m:t>
                        </m:r>
                      </m:sub>
                    </m:sSub>
                  </m:oMath>
                </a14:m>
                <a:endParaRPr lang="en-US" altLang="zh-CN" sz="1600" b="1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5" name="文本框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8535" y="3457575"/>
                <a:ext cx="2199640" cy="33718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接箭头连接符 36"/>
          <p:cNvCxnSpPr>
            <a:stCxn id="31" idx="3"/>
            <a:endCxn id="38" idx="1"/>
          </p:cNvCxnSpPr>
          <p:nvPr/>
        </p:nvCxnSpPr>
        <p:spPr>
          <a:xfrm>
            <a:off x="5995670" y="3794760"/>
            <a:ext cx="2262505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矩形 37"/>
              <p:cNvSpPr/>
              <p:nvPr/>
            </p:nvSpPr>
            <p:spPr>
              <a:xfrm>
                <a:off x="8258175" y="3465195"/>
                <a:ext cx="1858645" cy="65913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𝒈</m:t>
                          </m:r>
                        </m:e>
                        <m:sub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.</m:t>
                          </m:r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𝟓</m:t>
                          </m:r>
                        </m:sub>
                      </m:sSub>
                      <m:r>
                        <a:rPr lang="en-US" altLang="zh-CN" b="1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𝒈</m:t>
                          </m:r>
                        </m:e>
                        <m:sub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𝒃𝒊𝒂𝒔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n>
                    <a:solidFill>
                      <a:sysClr val="windowText" lastClr="000000"/>
                    </a:solidFill>
                  </a:ln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8" name="矩形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8175" y="3465195"/>
                <a:ext cx="1858645" cy="659130"/>
              </a:xfrm>
              <a:prstGeom prst="rect">
                <a:avLst/>
              </a:prstGeom>
              <a:blipFill rotWithShape="1">
                <a:blip r:embed="rId3"/>
                <a:stretch>
                  <a:fillRect l="-512" t="-1445" r="-512" b="-1445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9" name="表格 8"/>
          <p:cNvGraphicFramePr/>
          <p:nvPr/>
        </p:nvGraphicFramePr>
        <p:xfrm>
          <a:off x="2216150" y="1626870"/>
          <a:ext cx="4972050" cy="33045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</a:tblGrid>
              <a:tr h="36703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 3"/>
              <p:cNvSpPr/>
              <p:nvPr/>
            </p:nvSpPr>
            <p:spPr>
              <a:xfrm>
                <a:off x="2216150" y="1626870"/>
                <a:ext cx="1100455" cy="736600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1100455" cy="736600"/>
              </a:xfrm>
              <a:prstGeom prst="rect">
                <a:avLst/>
              </a:prstGeom>
              <a:blipFill rotWithShape="1">
                <a:blip r:embed="rId1"/>
                <a:stretch>
                  <a:fillRect l="-1327" t="-1983" r="-1269" b="-1897"/>
                </a:stretch>
              </a:blipFill>
              <a:ln w="28575">
                <a:solidFill>
                  <a:srgbClr val="C00000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/>
              <p:cNvSpPr/>
              <p:nvPr/>
            </p:nvSpPr>
            <p:spPr>
              <a:xfrm>
                <a:off x="2216150" y="1626870"/>
                <a:ext cx="2216785" cy="1472565"/>
              </a:xfrm>
              <a:prstGeom prst="rect">
                <a:avLst/>
              </a:prstGeom>
              <a:noFill/>
              <a:ln w="28575">
                <a:solidFill>
                  <a:srgbClr val="D65DB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2216785" cy="1472565"/>
              </a:xfrm>
              <a:prstGeom prst="rect">
                <a:avLst/>
              </a:prstGeom>
              <a:blipFill rotWithShape="1">
                <a:blip r:embed="rId2"/>
                <a:stretch>
                  <a:fillRect l="-659" t="-992" r="-630" b="-949"/>
                </a:stretch>
              </a:blipFill>
              <a:ln w="28575">
                <a:solidFill>
                  <a:srgbClr val="D65DB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/>
              <p:cNvSpPr/>
              <p:nvPr/>
            </p:nvSpPr>
            <p:spPr>
              <a:xfrm>
                <a:off x="2216150" y="1626870"/>
                <a:ext cx="4432300" cy="2936240"/>
              </a:xfrm>
              <a:prstGeom prst="rect">
                <a:avLst/>
              </a:prstGeom>
              <a:noFill/>
              <a:ln w="28575">
                <a:solidFill>
                  <a:srgbClr val="FF967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4432300" cy="2936240"/>
              </a:xfrm>
              <a:prstGeom prst="rect">
                <a:avLst/>
              </a:prstGeom>
              <a:blipFill rotWithShape="1">
                <a:blip r:embed="rId3"/>
                <a:stretch>
                  <a:fillRect l="-330" t="-497" r="-315" b="-476"/>
                </a:stretch>
              </a:blipFill>
              <a:ln w="28575">
                <a:solidFill>
                  <a:srgbClr val="FF967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</Words>
  <Application>WPS 演示</Application>
  <PresentationFormat>宽屏</PresentationFormat>
  <Paragraphs>36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2" baseType="lpstr">
      <vt:lpstr>Arial</vt:lpstr>
      <vt:lpstr>宋体</vt:lpstr>
      <vt:lpstr>Wingdings</vt:lpstr>
      <vt:lpstr>Cambria Math</vt:lpstr>
      <vt:lpstr>Calibri</vt:lpstr>
      <vt:lpstr>微软雅黑</vt:lpstr>
      <vt:lpstr>Arial Unicode MS</vt:lpstr>
      <vt:lpstr>Calibri Light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lucky-lu</cp:lastModifiedBy>
  <cp:revision>137</cp:revision>
  <dcterms:created xsi:type="dcterms:W3CDTF">2025-01-14T12:21:07Z</dcterms:created>
  <dcterms:modified xsi:type="dcterms:W3CDTF">2025-01-14T12:21:07Z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76CF4E3188277A8A9BD2856750BBA0A2_41</vt:lpwstr>
  </property>
</Properties>
</file>